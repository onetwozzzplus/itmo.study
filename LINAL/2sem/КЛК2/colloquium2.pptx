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4"/>
  </p:notesMasterIdLst>
  <p:sldIdLst>
    <p:sldId id="370" r:id="rId2"/>
    <p:sldId id="288" r:id="rId3"/>
    <p:sldId id="372" r:id="rId4"/>
    <p:sldId id="373" r:id="rId5"/>
    <p:sldId id="374" r:id="rId6"/>
    <p:sldId id="375" r:id="rId7"/>
    <p:sldId id="376" r:id="rId8"/>
    <p:sldId id="377" r:id="rId9"/>
    <p:sldId id="378" r:id="rId10"/>
    <p:sldId id="379" r:id="rId11"/>
    <p:sldId id="380" r:id="rId12"/>
    <p:sldId id="381" r:id="rId13"/>
    <p:sldId id="382" r:id="rId14"/>
    <p:sldId id="383" r:id="rId15"/>
    <p:sldId id="386" r:id="rId16"/>
    <p:sldId id="384" r:id="rId17"/>
    <p:sldId id="385" r:id="rId18"/>
    <p:sldId id="387" r:id="rId19"/>
    <p:sldId id="388" r:id="rId20"/>
    <p:sldId id="389" r:id="rId21"/>
    <p:sldId id="390" r:id="rId22"/>
    <p:sldId id="391" r:id="rId23"/>
    <p:sldId id="392" r:id="rId24"/>
    <p:sldId id="393" r:id="rId25"/>
    <p:sldId id="394" r:id="rId26"/>
    <p:sldId id="395" r:id="rId27"/>
    <p:sldId id="396" r:id="rId28"/>
    <p:sldId id="397" r:id="rId29"/>
    <p:sldId id="398" r:id="rId30"/>
    <p:sldId id="399" r:id="rId31"/>
    <p:sldId id="371" r:id="rId32"/>
    <p:sldId id="348" r:id="rId3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2" id="{46648782-208C-4E43-81D5-4FCFBB8A826F}">
          <p14:sldIdLst>
            <p14:sldId id="370"/>
          </p14:sldIdLst>
        </p14:section>
        <p14:section name="1. Ядро и образ линейного отображения. Примеры." id="{C640DAE5-BE41-4D52-A789-16594E4D66F4}">
          <p14:sldIdLst>
            <p14:sldId id="288"/>
            <p14:sldId id="372"/>
          </p14:sldIdLst>
        </p14:section>
        <p14:section name="2. Теорема о ядре и образе (о ранге и дефекте)." id="{3493B61B-1776-4C4A-82A5-E1E3C72522E7}">
          <p14:sldIdLst>
            <p14:sldId id="373"/>
          </p14:sldIdLst>
        </p14:section>
        <p14:section name="3. Алгебра эндоморфизмов." id="{3477BDCF-946F-4FF0-A217-198ACC9C43CB}">
          <p14:sldIdLst>
            <p14:sldId id="374"/>
            <p14:sldId id="375"/>
          </p14:sldIdLst>
        </p14:section>
        <p14:section name="4. Определитель оператора. Инвариантность определителя. Обратимость оператора." id="{32DE328E-31AE-4E26-947C-4881CC154E8D}">
          <p14:sldIdLst>
            <p14:sldId id="376"/>
          </p14:sldIdLst>
        </p14:section>
        <p14:section name="5. Инвариантное подпространство. Матрица оператора в базисе, согласованном с инвариантными подпространствами." id="{CB45D256-B859-4F49-9B50-9975F3D811C7}">
          <p14:sldIdLst>
            <p14:sldId id="377"/>
          </p14:sldIdLst>
        </p14:section>
        <p14:section name="6. Собственные векторы, значения. Собственное подпространство." id="{45B398B3-6E0B-4F57-A757-C529898A77D5}">
          <p14:sldIdLst>
            <p14:sldId id="378"/>
          </p14:sldIdLst>
        </p14:section>
        <p14:section name="7. Характеристический полином. Спектр оператора." id="{7B2E3F5A-C990-43A8-91BD-78B4B264DCE5}">
          <p14:sldIdLst>
            <p14:sldId id="379"/>
          </p14:sldIdLst>
        </p14:section>
        <p14:section name="8. Линейная независимость собственных подпространств. Оператор с простым спектром." id="{490BE4B4-1FA9-442F-BFF3-9902A307FD0C}">
          <p14:sldIdLst>
            <p14:sldId id="380"/>
          </p14:sldIdLst>
        </p14:section>
        <p14:section name="9. Собственный базис и диагонализуемость. Критерий." id="{0FE5AB65-F104-4745-8F35-5FC3B353CF80}">
          <p14:sldIdLst>
            <p14:sldId id="381"/>
          </p14:sldIdLst>
        </p14:section>
        <p14:section name="10. Корневые векторы и корневые подпространства. Определения, примеры." id="{B02A0AF2-EDAE-4446-AF5E-8F2D223CDDA6}">
          <p14:sldIdLst>
            <p14:sldId id="382"/>
          </p14:sldIdLst>
        </p14:section>
        <p14:section name="11. Теорема о свойствах корневых подпространств. Следствия." id="{6B45988F-9A75-4F2E-B271-B45FAFC448BF}">
          <p14:sldIdLst>
            <p14:sldId id="383"/>
            <p14:sldId id="386"/>
          </p14:sldIdLst>
        </p14:section>
        <p14:section name="12. Структура нильпотентного оператора. Теорема о структуре нильпотентного оператора." id="{E82B2CAE-08E0-4086-985E-BFEA4B1AF848}">
          <p14:sldIdLst>
            <p14:sldId id="384"/>
            <p14:sldId id="385"/>
          </p14:sldIdLst>
        </p14:section>
        <p14:section name="13. Жорданов базис. Структура базиса. Диаграмма Юнга." id="{CD7EB6C2-E67C-4926-B3CB-BD7796726AF0}">
          <p14:sldIdLst>
            <p14:sldId id="387"/>
          </p14:sldIdLst>
        </p14:section>
        <p14:section name="14. Жорданова клетка. Жорданов блок." id="{0091761E-A80E-4A07-84A8-5C8AC65A12B5}">
          <p14:sldIdLst>
            <p14:sldId id="388"/>
          </p14:sldIdLst>
        </p14:section>
        <p14:section name="15. Жорданова нормальная форма. Структура ЖНФ." id="{0F390AE1-35F6-4071-8D7D-65AB97AD668A}">
          <p14:sldIdLst>
            <p14:sldId id="389"/>
            <p14:sldId id="390"/>
          </p14:sldIdLst>
        </p14:section>
        <p14:section name="16. Алгоритм построения жорданова базиса." id="{AD52BD4B-CD07-4FDD-930B-587BFC0148DB}">
          <p14:sldIdLst>
            <p14:sldId id="391"/>
          </p14:sldIdLst>
        </p14:section>
        <p14:section name="17. Операторные и матричные полиномы. Связь с инвариантностью подпространств." id="{F6A6554F-12CA-4994-987F-7BA6E251D589}">
          <p14:sldIdLst>
            <p14:sldId id="392"/>
          </p14:sldIdLst>
        </p14:section>
        <p14:section name="18. Аннулирующий полином. Теорема Гамильтона-Кэли." id="{080E5534-A295-41CE-873A-16C6DB9C3489}">
          <p14:sldIdLst>
            <p14:sldId id="393"/>
          </p14:sldIdLst>
        </p14:section>
        <p14:section name="19. Функциональное исчисление диагонализируемых операторов." id="{4DEBE625-2A81-4757-B4C6-F6F71384BD5E}">
          <p14:sldIdLst>
            <p14:sldId id="394"/>
            <p14:sldId id="395"/>
          </p14:sldIdLst>
        </p14:section>
        <p14:section name="20. Функциональное исчисление ЖНФ." id="{5A758657-66FD-4321-AAF6-EA2B1D1A5472}">
          <p14:sldIdLst>
            <p14:sldId id="396"/>
            <p14:sldId id="397"/>
            <p14:sldId id="398"/>
            <p14:sldId id="399"/>
          </p14:sldIdLst>
        </p14:section>
        <p14:section name="Раздел 3" id="{EB2BBF06-88A2-484C-89B2-100DD7646653}">
          <p14:sldIdLst>
            <p14:sldId id="371"/>
          </p14:sldIdLst>
        </p14:section>
        <p14:section name="Заключение" id="{F4C5AA9B-ADCD-4085-9250-C5C13B05B0AD}">
          <p14:sldIdLst>
            <p14:sldId id="34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Сакулин Иван Михайлович" initials="ИС" lastIdx="1" clrIdx="0">
    <p:extLst>
      <p:ext uri="{19B8F6BF-5375-455C-9EA6-DF929625EA0E}">
        <p15:presenceInfo xmlns:p15="http://schemas.microsoft.com/office/powerpoint/2012/main" userId="S::467335@niuitmo.ru::2ada3b6c-9e85-46e2-97b7-45503d450a00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920" autoAdjust="0"/>
    <p:restoredTop sz="94660"/>
  </p:normalViewPr>
  <p:slideViewPr>
    <p:cSldViewPr snapToGrid="0">
      <p:cViewPr>
        <p:scale>
          <a:sx n="50" d="100"/>
          <a:sy n="50" d="100"/>
        </p:scale>
        <p:origin x="29" y="7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commentAuthors" Target="commentAuthor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60B1CE-915D-4149-B695-7B879756429B}" type="datetimeFigureOut">
              <a:rPr lang="ru-RU" smtClean="0"/>
              <a:t>15.06.2025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537531-5FC0-4CCC-88D2-19A12055DA5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180360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4C8079E-93DE-0857-86AC-50E52B37B4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2312377"/>
            <a:ext cx="10515600" cy="1494692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13800">
                <a:solidFill>
                  <a:srgbClr val="FF0000"/>
                </a:solidFill>
              </a:defRPr>
            </a:lvl1pPr>
          </a:lstStyle>
          <a:p>
            <a:r>
              <a:rPr lang="ru-RU" dirty="0"/>
              <a:t>Раздел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306BFB70-59B6-B46C-893C-7FDE431F53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2C947-0B0D-400B-B67A-9D87DBCB2F86}" type="datetimeFigureOut">
              <a:rPr lang="ru-RU" smtClean="0"/>
              <a:t>15.06.2025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50ED35FA-D424-7356-B686-2CBC83B7F6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EAAD3294-ED42-2AC0-AE3B-6F73E0DF3F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D7776-1739-4A13-9290-B05AE8185B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500935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Дата 2">
            <a:extLst>
              <a:ext uri="{FF2B5EF4-FFF2-40B4-BE49-F238E27FC236}">
                <a16:creationId xmlns:a16="http://schemas.microsoft.com/office/drawing/2014/main" id="{E63BAE85-386A-72A1-CFF0-60F2437842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2C947-0B0D-400B-B67A-9D87DBCB2F86}" type="datetimeFigureOut">
              <a:rPr lang="ru-RU" smtClean="0"/>
              <a:t>15.06.2025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03C41EFB-6D05-D9D1-E90C-FB13BC194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EC0B6CCE-6B0F-C248-2C90-45317C1CB5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D7776-1739-4A13-9290-B05AE8185B62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1F856680-7865-C22D-A182-81D8668195B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99678"/>
            <a:ext cx="10515600" cy="45597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800" b="1" u="none">
                <a:solidFill>
                  <a:srgbClr val="FF0000"/>
                </a:solidFill>
                <a:latin typeface="Montserrat" panose="00000500000000000000" pitchFamily="2" charset="-52"/>
              </a:defRPr>
            </a:lvl1pPr>
          </a:lstStyle>
          <a:p>
            <a:r>
              <a:rPr lang="en-US" dirty="0"/>
              <a:t>1. </a:t>
            </a:r>
            <a:r>
              <a:rPr lang="ru-RU" dirty="0"/>
              <a:t>Вопрос</a:t>
            </a: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BBCB8928-A971-9146-97EC-32B875868ED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993775"/>
            <a:ext cx="10515600" cy="519601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just">
              <a:buNone/>
              <a:defRPr sz="1800" b="0"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7501219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Дата 3">
            <a:extLst>
              <a:ext uri="{FF2B5EF4-FFF2-40B4-BE49-F238E27FC236}">
                <a16:creationId xmlns:a16="http://schemas.microsoft.com/office/drawing/2014/main" id="{01F5E966-471F-C86C-96E7-FFEFDB1800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F2C947-0B0D-400B-B67A-9D87DBCB2F86}" type="datetimeFigureOut">
              <a:rPr lang="ru-RU" smtClean="0"/>
              <a:t>15.06.2025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F0B7B99-2F5D-4908-B16D-0D02CC552B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CF00948-8112-9A12-F87F-CE974F9F0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ED7776-1739-4A13-9290-B05AE8185B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073701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4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aX3w4zt07L4?si=wc8h-VtWem2v2j2A&amp;t=2632" TargetMode="External"/><Relationship Id="rId7" Type="http://schemas.openxmlformats.org/officeDocument/2006/relationships/image" Target="../media/image17.png"/><Relationship Id="rId2" Type="http://schemas.openxmlformats.org/officeDocument/2006/relationships/hyperlink" Target="https://docs.yandex.ru/docs/view?url=ya-disk-public%3A%2F%2FC0CD%2FhUKlGwKpngVLY0YGaKcz4lSZ2Ya9aFQIIjateco5s4KNuVZVUsX6U9hErHzq%2FJ6bpmRyOJonT3VoXnDag%3D%3D%3A%2F&#1051;&#1077;&#1082;&#1094;&#1080;&#1080;%2FLecB2_2_3_Kernel_spaces.pdf&amp;name=LecB2_2_3_Kernel_spaces.pdf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hyperlink" Target="https://ru.wikipedia.org/wiki/WTFPL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B60B9DFC-A32E-29A4-58C4-B83EB6ABAECA}"/>
              </a:ext>
            </a:extLst>
          </p:cNvPr>
          <p:cNvSpPr txBox="1"/>
          <p:nvPr/>
        </p:nvSpPr>
        <p:spPr>
          <a:xfrm>
            <a:off x="3049386" y="139530"/>
            <a:ext cx="60932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400" b="1" dirty="0">
                <a:solidFill>
                  <a:srgbClr val="FF0000"/>
                </a:solidFill>
                <a:latin typeface="Montserrat" panose="00000500000000000000" pitchFamily="2" charset="-52"/>
              </a:rPr>
              <a:t>2 раздел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B5269AE-0E24-3C9D-973C-532B358A5545}"/>
              </a:ext>
            </a:extLst>
          </p:cNvPr>
          <p:cNvSpPr txBox="1"/>
          <p:nvPr/>
        </p:nvSpPr>
        <p:spPr>
          <a:xfrm>
            <a:off x="637591" y="601195"/>
            <a:ext cx="10916817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1. Ядро и образ линейного отображения. Примеры.</a:t>
            </a:r>
          </a:p>
          <a:p>
            <a:r>
              <a:rPr lang="ru-RU" dirty="0"/>
              <a:t>2. Теорема о ядре и образе (о ранге и дефекте).</a:t>
            </a:r>
          </a:p>
          <a:p>
            <a:r>
              <a:rPr lang="ru-RU" dirty="0"/>
              <a:t>3. Алгебра эндоморфизмов.</a:t>
            </a:r>
          </a:p>
          <a:p>
            <a:r>
              <a:rPr lang="ru-RU" dirty="0"/>
              <a:t>4. Определитель оператора. Инвариантность определителя. Обратимость оператора.</a:t>
            </a:r>
          </a:p>
          <a:p>
            <a:r>
              <a:rPr lang="ru-RU" dirty="0"/>
              <a:t>5. Инвариантное подпространство. Матрица оператора в базисе, согласованном с инвариантными подпространствами.</a:t>
            </a:r>
          </a:p>
          <a:p>
            <a:r>
              <a:rPr lang="ru-RU" dirty="0"/>
              <a:t>6. Собственные векторы, значения. Собственное подпространство.</a:t>
            </a:r>
          </a:p>
          <a:p>
            <a:r>
              <a:rPr lang="ru-RU" dirty="0"/>
              <a:t>7. Характеристический полином. Спектр оператора.</a:t>
            </a:r>
          </a:p>
          <a:p>
            <a:r>
              <a:rPr lang="ru-RU" dirty="0"/>
              <a:t>8. Линейная независимость собственных подпространств. Оператор с простым спектром.</a:t>
            </a:r>
          </a:p>
          <a:p>
            <a:r>
              <a:rPr lang="ru-RU" dirty="0"/>
              <a:t>9. Собственный базис и диагонализуемость. Критерий.</a:t>
            </a:r>
          </a:p>
          <a:p>
            <a:r>
              <a:rPr lang="ru-RU" dirty="0"/>
              <a:t>10. Корневые векторы и корневые подпространства. Определения, примеры.</a:t>
            </a:r>
          </a:p>
          <a:p>
            <a:r>
              <a:rPr lang="ru-RU" dirty="0"/>
              <a:t>11. Теорема о свойствах корневых подпространств. Следствия.</a:t>
            </a:r>
          </a:p>
          <a:p>
            <a:r>
              <a:rPr lang="ru-RU" dirty="0"/>
              <a:t>12. Структура нильпотентного оператора. Теорема о структуре нильпотентного оператора.</a:t>
            </a:r>
          </a:p>
          <a:p>
            <a:r>
              <a:rPr lang="ru-RU" dirty="0"/>
              <a:t>13. Жорданов базис. Структура базиса. Диаграмма Юнга.</a:t>
            </a:r>
          </a:p>
          <a:p>
            <a:r>
              <a:rPr lang="ru-RU" dirty="0"/>
              <a:t>14. Жорданова клетка. Жорданов блок.</a:t>
            </a:r>
          </a:p>
          <a:p>
            <a:r>
              <a:rPr lang="ru-RU" dirty="0"/>
              <a:t>15. Жорданова нормальная форма. Структура ЖНФ.</a:t>
            </a:r>
          </a:p>
          <a:p>
            <a:r>
              <a:rPr lang="ru-RU" dirty="0"/>
              <a:t>16. Алгоритм построения жорданова базиса.</a:t>
            </a:r>
          </a:p>
          <a:p>
            <a:r>
              <a:rPr lang="ru-RU" dirty="0"/>
              <a:t>17. Операторные и матричные полиномы. Связь с инвариантностью подпространств.</a:t>
            </a:r>
          </a:p>
          <a:p>
            <a:r>
              <a:rPr lang="ru-RU" dirty="0"/>
              <a:t>18. Аннулирующий полином. Теорема Гамильтона-Кэли.</a:t>
            </a:r>
          </a:p>
          <a:p>
            <a:r>
              <a:rPr lang="ru-RU" dirty="0"/>
              <a:t>19. Функциональное исчисление диагонализируемых операторов.</a:t>
            </a:r>
          </a:p>
          <a:p>
            <a:r>
              <a:rPr lang="ru-RU" dirty="0"/>
              <a:t>20. Функциональное исчисление ЖНФ.</a:t>
            </a:r>
          </a:p>
          <a:p>
            <a:pPr marL="342900" indent="-342900">
              <a:buAutoNum type="arabicParenR"/>
            </a:pPr>
            <a:endParaRPr lang="ru-RU" dirty="0">
              <a:latin typeface="Montserrat" panose="00000500000000000000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31835225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3CC440F-E5E6-4660-0AE7-1BF1AF08C8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9844"/>
            <a:ext cx="10451841" cy="455969"/>
          </a:xfrm>
        </p:spPr>
        <p:txBody>
          <a:bodyPr>
            <a:normAutofit/>
          </a:bodyPr>
          <a:lstStyle/>
          <a:p>
            <a:r>
              <a:rPr lang="ru-RU" dirty="0"/>
              <a:t>1. Ядро и образ линейного отображения. Примеры.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96A344D-6A98-537F-65DA-E813D9F28182}"/>
                  </a:ext>
                </a:extLst>
              </p:cNvPr>
              <p:cNvSpPr txBox="1"/>
              <p:nvPr/>
            </p:nvSpPr>
            <p:spPr>
              <a:xfrm>
                <a:off x="838200" y="933061"/>
                <a:ext cx="10778412" cy="203132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ru-RU" b="1" dirty="0">
                    <a:latin typeface="Montserrat" panose="00000500000000000000" pitchFamily="2" charset="-52"/>
                  </a:rPr>
                  <a:t>Ядро</a:t>
                </a:r>
                <a:r>
                  <a:rPr lang="ru-RU" dirty="0">
                    <a:latin typeface="Montserrat" panose="00000500000000000000" pitchFamily="2" charset="-52"/>
                  </a:rPr>
                  <a:t> линейного отображения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𝐻𝑜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𝕂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𝑉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𝑊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latin typeface="Montserrat" panose="00000500000000000000" pitchFamily="2" charset="-52"/>
                  </a:rPr>
                  <a:t> – </a:t>
                </a:r>
                <a:r>
                  <a:rPr lang="ru-RU" dirty="0">
                    <a:latin typeface="Montserrat" panose="00000500000000000000" pitchFamily="2" charset="-52"/>
                  </a:rPr>
                  <a:t>подмножество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dirty="0">
                    <a:latin typeface="Montserrat" panose="00000500000000000000" pitchFamily="2" charset="-52"/>
                  </a:rPr>
                  <a:t> </a:t>
                </a:r>
                <a:r>
                  <a:rPr lang="ru-RU" dirty="0">
                    <a:latin typeface="Montserrat" panose="00000500000000000000" pitchFamily="2" charset="-52"/>
                  </a:rPr>
                  <a:t>определённое как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ker</m:t>
                          </m:r>
                        </m:fNam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𝜑</m:t>
                          </m:r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:   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𝜑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b="0" dirty="0">
                  <a:latin typeface="Montserrat" panose="00000500000000000000" pitchFamily="2" charset="-52"/>
                </a:endParaRPr>
              </a:p>
              <a:p>
                <a:r>
                  <a:rPr lang="ru-RU" b="1" dirty="0">
                    <a:latin typeface="Montserrat" panose="00000500000000000000" pitchFamily="2" charset="-52"/>
                  </a:rPr>
                  <a:t>Лемма</a:t>
                </a:r>
                <a:r>
                  <a:rPr lang="ru-RU" dirty="0">
                    <a:latin typeface="Montserrat" panose="00000500000000000000" pitchFamily="2" charset="-52"/>
                  </a:rPr>
                  <a:t>. Нейтральный элемент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𝕂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latin typeface="Montserrat" panose="00000500000000000000" pitchFamily="2" charset="-52"/>
                  </a:rPr>
                  <a:t> </a:t>
                </a:r>
                <a:r>
                  <a:rPr lang="ru-RU" dirty="0">
                    <a:latin typeface="Montserrat" panose="00000500000000000000" pitchFamily="2" charset="-52"/>
                  </a:rPr>
                  <a:t>принадлежит ядру отображения </a:t>
                </a:r>
                <a14:m>
                  <m:oMath xmlns:m="http://schemas.openxmlformats.org/officeDocument/2006/math">
                    <m:r>
                      <a:rPr lang="ru-RU" b="0" i="1" smtClean="0">
                        <a:latin typeface="Cambria Math" panose="02040503050406030204" pitchFamily="18" charset="0"/>
                      </a:rPr>
                      <m:t>𝜑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b="0" dirty="0">
                  <a:latin typeface="Montserrat" panose="00000500000000000000" pitchFamily="2" charset="-52"/>
                </a:endParaRPr>
              </a:p>
              <a:p>
                <a:r>
                  <a:rPr lang="ru-RU" b="1" dirty="0">
                    <a:latin typeface="Montserrat" panose="00000500000000000000" pitchFamily="2" charset="-52"/>
                  </a:rPr>
                  <a:t>Доказательство</a:t>
                </a:r>
                <a:r>
                  <a:rPr lang="ru-RU" dirty="0">
                    <a:latin typeface="Montserrat" panose="00000500000000000000" pitchFamily="2" charset="-52"/>
                  </a:rPr>
                  <a:t>.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0⋅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=0⋅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dirty="0">
                  <a:latin typeface="Montserrat" panose="00000500000000000000" pitchFamily="2" charset="-52"/>
                </a:endParaRPr>
              </a:p>
              <a:p>
                <a:r>
                  <a:rPr lang="ru-RU" b="1" dirty="0">
                    <a:latin typeface="Montserrat" panose="00000500000000000000" pitchFamily="2" charset="-52"/>
                  </a:rPr>
                  <a:t>Лемма</a:t>
                </a:r>
                <a:r>
                  <a:rPr lang="ru-RU" dirty="0">
                    <a:latin typeface="Montserrat" panose="00000500000000000000" pitchFamily="2" charset="-52"/>
                  </a:rPr>
                  <a:t>.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ker</m:t>
                        </m:r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ru-RU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b="0" i="0" dirty="0">
                    <a:latin typeface="+mj-lt"/>
                  </a:rPr>
                  <a:t>– </a:t>
                </a:r>
                <a:r>
                  <a:rPr lang="ru-RU" b="0" i="0" dirty="0">
                    <a:latin typeface="Montserrat" panose="00000500000000000000" pitchFamily="2" charset="-52"/>
                  </a:rPr>
                  <a:t>линейно</a:t>
                </a:r>
                <a:r>
                  <a:rPr lang="ru-RU" dirty="0">
                    <a:latin typeface="Montserrat" panose="00000500000000000000" pitchFamily="2" charset="-52"/>
                  </a:rPr>
                  <a:t>е</a:t>
                </a:r>
                <a:r>
                  <a:rPr lang="ru-RU" b="0" i="0" dirty="0">
                    <a:latin typeface="Montserrat" panose="00000500000000000000" pitchFamily="2" charset="-52"/>
                  </a:rPr>
                  <a:t> подпространство</a:t>
                </a:r>
                <a:r>
                  <a:rPr lang="en-US" b="0" i="0" dirty="0">
                    <a:latin typeface="Montserrat" panose="00000500000000000000" pitchFamily="2" charset="-52"/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𝕂</m:t>
                        </m:r>
                      </m:e>
                    </m:d>
                    <m:r>
                      <a:rPr lang="ru-RU" b="0" i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ru-RU" dirty="0">
                  <a:latin typeface="Montserrat" panose="00000500000000000000" pitchFamily="2" charset="-52"/>
                </a:endParaRPr>
              </a:p>
              <a:p>
                <a:r>
                  <a:rPr lang="ru-RU" b="1" dirty="0">
                    <a:latin typeface="Montserrat" panose="00000500000000000000" pitchFamily="2" charset="-52"/>
                  </a:rPr>
                  <a:t>Доказательство</a:t>
                </a:r>
                <a:r>
                  <a:rPr lang="ru-RU" dirty="0">
                    <a:latin typeface="Montserrat" panose="00000500000000000000" pitchFamily="2" charset="-52"/>
                  </a:rPr>
                  <a:t>. Пусть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𝕂</m:t>
                    </m:r>
                  </m:oMath>
                </a14:m>
                <a:r>
                  <a:rPr lang="en-US" dirty="0">
                    <a:latin typeface="Montserrat" panose="00000500000000000000" pitchFamily="2" charset="-52"/>
                  </a:rPr>
                  <a:t>,</a:t>
                </a:r>
                <a:r>
                  <a:rPr lang="ru-RU" dirty="0">
                    <a:latin typeface="Montserrat" panose="00000500000000000000" pitchFamily="2" charset="-5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ker</m:t>
                        </m:r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</m:func>
                  </m:oMath>
                </a14:m>
                <a:r>
                  <a:rPr lang="en-US" dirty="0">
                    <a:latin typeface="Montserrat" panose="00000500000000000000" pitchFamily="2" charset="-52"/>
                  </a:rPr>
                  <a:t>, </a:t>
                </a:r>
                <a:r>
                  <a:rPr lang="ru-RU" dirty="0">
                    <a:latin typeface="Montserrat" panose="00000500000000000000" pitchFamily="2" charset="-52"/>
                  </a:rPr>
                  <a:t>элементы из ядра </a:t>
                </a:r>
                <a14:m>
                  <m:oMath xmlns:m="http://schemas.openxmlformats.org/officeDocument/2006/math">
                    <m:r>
                      <a:rPr lang="ru-RU" b="0" i="1" smtClean="0">
                        <a:latin typeface="Cambria Math" panose="02040503050406030204" pitchFamily="18" charset="0"/>
                      </a:rPr>
                      <m:t>𝜑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>
                    <a:latin typeface="Montserrat" panose="00000500000000000000" pitchFamily="2" charset="-52"/>
                  </a:rPr>
                  <a:t> </a:t>
                </a:r>
                <a:r>
                  <a:rPr lang="ru-RU" dirty="0">
                    <a:latin typeface="Montserrat" panose="00000500000000000000" pitchFamily="2" charset="-52"/>
                  </a:rPr>
                  <a:t>и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b="0" dirty="0">
                    <a:latin typeface="Montserrat" panose="00000500000000000000" pitchFamily="2" charset="-52"/>
                  </a:rPr>
                  <a:t>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b="0" i="1" smtClean="0">
                          <a:latin typeface="Cambria Math" panose="02040503050406030204" pitchFamily="18" charset="0"/>
                        </a:rPr>
                        <m:t>𝜑</m:t>
                      </m:r>
                      <m:d>
                        <m:dPr>
                          <m:ctrlPr>
                            <a:rPr lang="ru-RU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𝜑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𝜑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𝑊</m:t>
                      </m:r>
                    </m:oMath>
                  </m:oMathPara>
                </a14:m>
                <a:endParaRPr lang="ru-RU" dirty="0">
                  <a:latin typeface="Montserrat" panose="00000500000000000000" pitchFamily="2" charset="-52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96A344D-6A98-537F-65DA-E813D9F281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933061"/>
                <a:ext cx="10778412" cy="2031325"/>
              </a:xfrm>
              <a:prstGeom prst="rect">
                <a:avLst/>
              </a:prstGeom>
              <a:blipFill>
                <a:blip r:embed="rId2"/>
                <a:stretch>
                  <a:fillRect l="-509" t="-1201" b="-90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1842BB4-E114-01F0-4AF3-6FFA9980EA13}"/>
                  </a:ext>
                </a:extLst>
              </p:cNvPr>
              <p:cNvSpPr txBox="1"/>
              <p:nvPr/>
            </p:nvSpPr>
            <p:spPr>
              <a:xfrm>
                <a:off x="838200" y="3238706"/>
                <a:ext cx="10778412" cy="203132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ru-RU" b="1" dirty="0">
                    <a:latin typeface="Montserrat" panose="00000500000000000000" pitchFamily="2" charset="-52"/>
                  </a:rPr>
                  <a:t>Образ</a:t>
                </a:r>
                <a:r>
                  <a:rPr lang="ru-RU" dirty="0">
                    <a:latin typeface="Montserrat" panose="00000500000000000000" pitchFamily="2" charset="-52"/>
                  </a:rPr>
                  <a:t> линейного отображения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𝐻𝑜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𝕂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𝑉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𝑊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latin typeface="Montserrat" panose="00000500000000000000" pitchFamily="2" charset="-52"/>
                  </a:rPr>
                  <a:t> – </a:t>
                </a:r>
                <a:r>
                  <a:rPr lang="ru-RU" dirty="0">
                    <a:latin typeface="Montserrat" panose="00000500000000000000" pitchFamily="2" charset="-52"/>
                  </a:rPr>
                  <a:t>подмножество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dirty="0">
                    <a:latin typeface="Montserrat" panose="00000500000000000000" pitchFamily="2" charset="-52"/>
                  </a:rPr>
                  <a:t> </a:t>
                </a:r>
                <a:r>
                  <a:rPr lang="ru-RU" dirty="0">
                    <a:latin typeface="Montserrat" panose="00000500000000000000" pitchFamily="2" charset="-52"/>
                  </a:rPr>
                  <a:t>определённое как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Im</m:t>
                          </m:r>
                        </m:fNam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𝜑</m:t>
                          </m:r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:   ∃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𝜑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</m:oMath>
                  </m:oMathPara>
                </a14:m>
                <a:endParaRPr lang="en-US" b="0" dirty="0">
                  <a:latin typeface="Montserrat" panose="00000500000000000000" pitchFamily="2" charset="-52"/>
                </a:endParaRPr>
              </a:p>
              <a:p>
                <a:r>
                  <a:rPr lang="ru-RU" b="1" dirty="0">
                    <a:latin typeface="Montserrat" panose="00000500000000000000" pitchFamily="2" charset="-52"/>
                  </a:rPr>
                  <a:t>Лемма</a:t>
                </a:r>
                <a:r>
                  <a:rPr lang="ru-RU" dirty="0">
                    <a:latin typeface="Montserrat" panose="00000500000000000000" pitchFamily="2" charset="-52"/>
                  </a:rPr>
                  <a:t>.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Im</m:t>
                        </m:r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ru-RU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b="0" i="0" dirty="0">
                    <a:latin typeface="+mj-lt"/>
                  </a:rPr>
                  <a:t>– </a:t>
                </a:r>
                <a:r>
                  <a:rPr lang="ru-RU" b="0" i="0" dirty="0">
                    <a:latin typeface="Montserrat" panose="00000500000000000000" pitchFamily="2" charset="-52"/>
                  </a:rPr>
                  <a:t>линейно</a:t>
                </a:r>
                <a:r>
                  <a:rPr lang="ru-RU" dirty="0">
                    <a:latin typeface="Montserrat" panose="00000500000000000000" pitchFamily="2" charset="-52"/>
                  </a:rPr>
                  <a:t>е</a:t>
                </a:r>
                <a:r>
                  <a:rPr lang="ru-RU" b="0" i="0" dirty="0">
                    <a:latin typeface="Montserrat" panose="00000500000000000000" pitchFamily="2" charset="-52"/>
                  </a:rPr>
                  <a:t> подпространство</a:t>
                </a:r>
                <a:r>
                  <a:rPr lang="en-US" b="0" i="0" dirty="0">
                    <a:latin typeface="Montserrat" panose="00000500000000000000" pitchFamily="2" charset="-52"/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𝕂</m:t>
                        </m:r>
                      </m:e>
                    </m:d>
                    <m:r>
                      <a:rPr lang="ru-RU" b="0" i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ru-RU" dirty="0">
                  <a:latin typeface="Montserrat" panose="00000500000000000000" pitchFamily="2" charset="-52"/>
                </a:endParaRPr>
              </a:p>
              <a:p>
                <a:r>
                  <a:rPr lang="ru-RU" b="1" dirty="0">
                    <a:latin typeface="Montserrat" panose="00000500000000000000" pitchFamily="2" charset="-52"/>
                  </a:rPr>
                  <a:t>Доказательство</a:t>
                </a:r>
                <a:r>
                  <a:rPr lang="ru-RU" dirty="0">
                    <a:latin typeface="Montserrat" panose="00000500000000000000" pitchFamily="2" charset="-52"/>
                  </a:rPr>
                  <a:t>. Пусть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𝕂</m:t>
                    </m:r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  </m:t>
                    </m:r>
                  </m:oMath>
                </a14:m>
                <a:r>
                  <a:rPr lang="ru-RU" dirty="0">
                    <a:latin typeface="Montserrat" panose="00000500000000000000" pitchFamily="2" charset="-52"/>
                  </a:rPr>
                  <a:t>Пусть элементам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ru-RU" dirty="0">
                    <a:latin typeface="Montserrat" panose="00000500000000000000" pitchFamily="2" charset="-52"/>
                  </a:rPr>
                  <a:t> соответствуют элементы из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𝜑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𝜑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, 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𝜑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>
                  <a:latin typeface="Montserrat" panose="00000500000000000000" pitchFamily="2" charset="-52"/>
                </a:endParaRPr>
              </a:p>
              <a:p>
                <a:pPr algn="just"/>
                <a:r>
                  <a:rPr lang="ru-RU" dirty="0">
                    <a:latin typeface="Montserrat" panose="00000500000000000000" pitchFamily="2" charset="-52"/>
                  </a:rPr>
                  <a:t>Замкнутость сложения: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endParaRPr lang="en-US" dirty="0">
                  <a:latin typeface="Montserrat" panose="00000500000000000000" pitchFamily="2" charset="-52"/>
                </a:endParaRPr>
              </a:p>
              <a:p>
                <a:r>
                  <a:rPr lang="ru-RU" dirty="0">
                    <a:latin typeface="Montserrat" panose="00000500000000000000" pitchFamily="2" charset="-52"/>
                  </a:rPr>
                  <a:t>Замкнутость сложения: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𝜑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𝜑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endParaRPr lang="en-US" dirty="0">
                  <a:latin typeface="Montserrat" panose="00000500000000000000" pitchFamily="2" charset="-52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1842BB4-E114-01F0-4AF3-6FFA9980EA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3238706"/>
                <a:ext cx="10778412" cy="2031325"/>
              </a:xfrm>
              <a:prstGeom prst="rect">
                <a:avLst/>
              </a:prstGeom>
              <a:blipFill>
                <a:blip r:embed="rId3"/>
                <a:stretch>
                  <a:fillRect l="-509" t="-1198" b="-389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580255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44E68D-D4E5-C4F1-5F99-89C2271042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ABDB55F-7786-5CF9-E6F7-2FFFCE5D67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9844"/>
            <a:ext cx="10451841" cy="455969"/>
          </a:xfrm>
        </p:spPr>
        <p:txBody>
          <a:bodyPr>
            <a:normAutofit/>
          </a:bodyPr>
          <a:lstStyle/>
          <a:p>
            <a:r>
              <a:rPr lang="ru-RU" dirty="0"/>
              <a:t>1. Ядро и образ линейного отображения. Примеры.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893E3FF-5D4D-49EE-5227-DD0FD43F0063}"/>
              </a:ext>
            </a:extLst>
          </p:cNvPr>
          <p:cNvSpPr txBox="1"/>
          <p:nvPr/>
        </p:nvSpPr>
        <p:spPr>
          <a:xfrm>
            <a:off x="838200" y="933061"/>
            <a:ext cx="10778412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latin typeface="Montserrat" panose="00000500000000000000" pitchFamily="2" charset="-52"/>
              </a:rPr>
              <a:t>Примеры</a:t>
            </a:r>
            <a:r>
              <a:rPr lang="ru-RU" dirty="0">
                <a:latin typeface="Montserrat" panose="00000500000000000000" pitchFamily="2" charset="-52"/>
              </a:rPr>
              <a:t>.</a:t>
            </a:r>
          </a:p>
          <a:p>
            <a:pPr algn="just"/>
            <a:r>
              <a:rPr lang="ru-RU" dirty="0">
                <a:latin typeface="Montserrat" panose="00000500000000000000" pitchFamily="2" charset="-52"/>
              </a:rPr>
              <a:t>(а) Рассмотрим </a:t>
            </a:r>
            <a:r>
              <a:rPr lang="ru-RU" i="1" dirty="0">
                <a:latin typeface="Montserrat" panose="00000500000000000000" pitchFamily="2" charset="-52"/>
              </a:rPr>
              <a:t>пространство векторов на плоскости</a:t>
            </a:r>
            <a:r>
              <a:rPr lang="ru-RU" dirty="0">
                <a:latin typeface="Montserrat" panose="00000500000000000000" pitchFamily="2" charset="-52"/>
              </a:rPr>
              <a:t>, а также отображение </a:t>
            </a:r>
            <a:r>
              <a:rPr lang="ru-RU" i="1" dirty="0">
                <a:latin typeface="Montserrat" panose="00000500000000000000" pitchFamily="2" charset="-52"/>
              </a:rPr>
              <a:t>проектирования на направление</a:t>
            </a:r>
            <a:r>
              <a:rPr lang="ru-RU" dirty="0">
                <a:latin typeface="Montserrat" panose="00000500000000000000" pitchFamily="2" charset="-52"/>
              </a:rPr>
              <a:t>, заданное вектором a. Образом данного отображения будут являться все вектора, коллинеарные с вектором a (прямая на плоскости), а ядром — все векторы, которые перпендикулярны данному (включая нулевой вектор).</a:t>
            </a:r>
          </a:p>
          <a:p>
            <a:pPr algn="just"/>
            <a:endParaRPr lang="ru-RU" dirty="0">
              <a:latin typeface="Montserrat" panose="00000500000000000000" pitchFamily="2" charset="-52"/>
            </a:endParaRPr>
          </a:p>
          <a:p>
            <a:pPr algn="just"/>
            <a:r>
              <a:rPr lang="ru-RU" dirty="0">
                <a:latin typeface="Montserrat" panose="00000500000000000000" pitchFamily="2" charset="-52"/>
              </a:rPr>
              <a:t>(б) Образом отображения, заданного как </a:t>
            </a:r>
            <a:r>
              <a:rPr lang="ru-RU" i="1" dirty="0">
                <a:latin typeface="Montserrat" panose="00000500000000000000" pitchFamily="2" charset="-52"/>
              </a:rPr>
              <a:t>дифференцирование</a:t>
            </a:r>
            <a:r>
              <a:rPr lang="ru-RU" dirty="0">
                <a:latin typeface="Montserrat" panose="00000500000000000000" pitchFamily="2" charset="-52"/>
              </a:rPr>
              <a:t> в пространстве </a:t>
            </a:r>
            <a:r>
              <a:rPr lang="ru-RU" i="1" dirty="0">
                <a:latin typeface="Montserrat" panose="00000500000000000000" pitchFamily="2" charset="-52"/>
              </a:rPr>
              <a:t>полиномов</a:t>
            </a:r>
            <a:r>
              <a:rPr lang="ru-RU" dirty="0">
                <a:latin typeface="Montserrat" panose="00000500000000000000" pitchFamily="2" charset="-52"/>
              </a:rPr>
              <a:t> степени не выше n, являются все полиномы степени не выше n− 1, а ядром — полиномы нулевой степени, т.е. просто скаляры.</a:t>
            </a:r>
          </a:p>
          <a:p>
            <a:pPr algn="just"/>
            <a:endParaRPr lang="ru-RU" dirty="0">
              <a:latin typeface="Montserrat" panose="00000500000000000000" pitchFamily="2" charset="-52"/>
            </a:endParaRPr>
          </a:p>
          <a:p>
            <a:pPr algn="just"/>
            <a:r>
              <a:rPr lang="ru-RU" dirty="0">
                <a:latin typeface="Montserrat" panose="00000500000000000000" pitchFamily="2" charset="-52"/>
              </a:rPr>
              <a:t>(в) Рассмотрим также </a:t>
            </a:r>
            <a:r>
              <a:rPr lang="ru-RU" i="1" dirty="0">
                <a:latin typeface="Montserrat" panose="00000500000000000000" pitchFamily="2" charset="-52"/>
              </a:rPr>
              <a:t>пространство квадратных матриц</a:t>
            </a:r>
            <a:r>
              <a:rPr lang="ru-RU" dirty="0">
                <a:latin typeface="Montserrat" panose="00000500000000000000" pitchFamily="2" charset="-52"/>
              </a:rPr>
              <a:t>, на которых можно ввести отображение </a:t>
            </a:r>
            <a:r>
              <a:rPr lang="ru-RU" i="1" dirty="0">
                <a:latin typeface="Montserrat" panose="00000500000000000000" pitchFamily="2" charset="-52"/>
              </a:rPr>
              <a:t>симметризации</a:t>
            </a:r>
            <a:r>
              <a:rPr lang="ru-RU" dirty="0">
                <a:latin typeface="Montserrat" panose="00000500000000000000" pitchFamily="2" charset="-52"/>
              </a:rPr>
              <a:t> (антисимметризации). Образом симметризации будут, очевидно, симметричные матрицы того же порядка, а ядром — антисимметричные матрицы.</a:t>
            </a:r>
          </a:p>
          <a:p>
            <a:endParaRPr lang="ru-RU" dirty="0">
              <a:latin typeface="Montserrat" panose="00000500000000000000" pitchFamily="2" charset="-52"/>
            </a:endParaRPr>
          </a:p>
          <a:p>
            <a:endParaRPr lang="ru-RU" dirty="0">
              <a:latin typeface="Montserrat" panose="00000500000000000000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21076613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768F77-6ABB-AA3B-F294-C491F9779D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422E871-46C5-CA09-41A2-7D4D352ABE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9844"/>
            <a:ext cx="10451841" cy="455969"/>
          </a:xfrm>
        </p:spPr>
        <p:txBody>
          <a:bodyPr>
            <a:normAutofit/>
          </a:bodyPr>
          <a:lstStyle/>
          <a:p>
            <a:r>
              <a:rPr lang="ru-RU" dirty="0"/>
              <a:t>2. Теорема о ядре и образе (о ранге и дефекте).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2D6BCF3-D880-7809-44E0-7F0850EB7FD8}"/>
                  </a:ext>
                </a:extLst>
              </p:cNvPr>
              <p:cNvSpPr txBox="1"/>
              <p:nvPr/>
            </p:nvSpPr>
            <p:spPr>
              <a:xfrm>
                <a:off x="838200" y="933061"/>
                <a:ext cx="10778412" cy="47413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ru-RU" b="1" dirty="0">
                    <a:latin typeface="Montserrat" panose="00000500000000000000" pitchFamily="2" charset="-52"/>
                  </a:rPr>
                  <a:t>Теорема. </a:t>
                </a:r>
                <a:r>
                  <a:rPr lang="ru-RU" dirty="0">
                    <a:latin typeface="Montserrat" panose="00000500000000000000" pitchFamily="2" charset="-52"/>
                  </a:rPr>
                  <a:t>Сумма размерностей ядра и образа линейного отображения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lang="en-US" b="1" dirty="0">
                    <a:latin typeface="Montserrat" panose="00000500000000000000" pitchFamily="2" charset="-52"/>
                  </a:rPr>
                  <a:t> </a:t>
                </a:r>
                <a:r>
                  <a:rPr lang="ru-RU" dirty="0">
                    <a:latin typeface="Montserrat" panose="00000500000000000000" pitchFamily="2" charset="-52"/>
                  </a:rPr>
                  <a:t>равна размерности пространства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𝕂</m:t>
                        </m:r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endParaRPr lang="en-US" dirty="0">
                  <a:latin typeface="Montserrat" panose="00000500000000000000" pitchFamily="2" charset="-5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dim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𝕂</m:t>
                              </m:r>
                            </m:sub>
                          </m:sSub>
                        </m:fName>
                        <m:e>
                          <m:func>
                            <m:func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ker</m:t>
                              </m:r>
                            </m:fNam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𝜑</m:t>
                              </m:r>
                            </m:e>
                          </m:func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dim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𝕂</m:t>
                              </m:r>
                            </m:sub>
                          </m:sSub>
                        </m:fName>
                        <m:e>
                          <m:func>
                            <m:func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Im</m:t>
                              </m:r>
                            </m:fNam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𝜑</m:t>
                              </m:r>
                            </m:e>
                          </m:func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dim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𝕂</m:t>
                              </m:r>
                            </m:sub>
                          </m:sSub>
                        </m:fNam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𝑉</m:t>
                          </m:r>
                        </m:e>
                      </m:func>
                    </m:oMath>
                  </m:oMathPara>
                </a14:m>
                <a:endParaRPr lang="ru-RU" dirty="0">
                  <a:latin typeface="Montserrat" panose="00000500000000000000" pitchFamily="2" charset="-52"/>
                </a:endParaRPr>
              </a:p>
              <a:p>
                <a:r>
                  <a:rPr lang="ru-RU" b="1" dirty="0">
                    <a:latin typeface="Montserrat" panose="00000500000000000000" pitchFamily="2" charset="-52"/>
                  </a:rPr>
                  <a:t>Доказательство.</a:t>
                </a:r>
              </a:p>
              <a:p>
                <a:r>
                  <a:rPr lang="ru-RU" dirty="0">
                    <a:latin typeface="Montserrat" panose="00000500000000000000" pitchFamily="2" charset="-52"/>
                  </a:rPr>
                  <a:t>Возьмём базис ядра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…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>
                    <a:latin typeface="Montserrat" panose="00000500000000000000" pitchFamily="2" charset="-52"/>
                  </a:rPr>
                  <a:t>, </a:t>
                </a:r>
                <a:r>
                  <a:rPr lang="ru-RU" dirty="0">
                    <a:latin typeface="Montserrat" panose="00000500000000000000" pitchFamily="2" charset="-52"/>
                  </a:rPr>
                  <a:t>дополним до базиса </a:t>
                </a:r>
                <a:r>
                  <a:rPr lang="en-US" dirty="0">
                    <a:latin typeface="Montserrat" panose="00000500000000000000" pitchFamily="2" charset="-52"/>
                  </a:rPr>
                  <a:t>V: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…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…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dirty="0">
                  <a:latin typeface="Montserrat" panose="00000500000000000000" pitchFamily="2" charset="-5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∀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𝜉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верно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𝜑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𝜑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𝜉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p>
                              </m:sSup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𝜉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𝜑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=0+</m:t>
                      </m:r>
                      <m:nary>
                        <m:naryPr>
                          <m:chr m:val="∑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𝜉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𝜑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ru-RU" dirty="0">
                  <a:latin typeface="Montserrat" panose="00000500000000000000" pitchFamily="2" charset="-52"/>
                </a:endParaRPr>
              </a:p>
              <a:p>
                <a:r>
                  <a:rPr lang="ru-RU" dirty="0">
                    <a:latin typeface="Montserrat" panose="00000500000000000000" pitchFamily="2" charset="-52"/>
                  </a:rPr>
                  <a:t>Отображение переводит базисные векторы ядра в 0.</a:t>
                </a:r>
              </a:p>
              <a:p>
                <a:r>
                  <a:rPr lang="ru-RU" i="1" dirty="0">
                    <a:latin typeface="Montserrat" panose="00000500000000000000" pitchFamily="2" charset="-52"/>
                  </a:rPr>
                  <a:t>Набор</a:t>
                </a:r>
                <a:r>
                  <a:rPr lang="ru-RU" dirty="0">
                    <a:latin typeface="Montserrat" panose="00000500000000000000" pitchFamily="2" charset="-52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𝜑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…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𝜑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e>
                        </m:d>
                      </m:e>
                    </m:d>
                  </m:oMath>
                </a14:m>
                <a:r>
                  <a:rPr lang="en-US" dirty="0">
                    <a:latin typeface="Montserrat" panose="00000500000000000000" pitchFamily="2" charset="-52"/>
                  </a:rPr>
                  <a:t> –</a:t>
                </a:r>
                <a:r>
                  <a:rPr lang="ru-RU" dirty="0">
                    <a:latin typeface="Montserrat" panose="00000500000000000000" pitchFamily="2" charset="-52"/>
                  </a:rPr>
                  <a:t> </a:t>
                </a:r>
                <a:r>
                  <a:rPr lang="ru-RU" b="1" dirty="0">
                    <a:latin typeface="Montserrat" panose="00000500000000000000" pitchFamily="2" charset="-52"/>
                  </a:rPr>
                  <a:t>полный</a:t>
                </a:r>
                <a:r>
                  <a:rPr lang="ru-RU" dirty="0">
                    <a:latin typeface="Montserrat" panose="00000500000000000000" pitchFamily="2" charset="-52"/>
                  </a:rPr>
                  <a:t>. </a:t>
                </a:r>
              </a:p>
              <a:p>
                <a:r>
                  <a:rPr lang="ru-RU" dirty="0">
                    <a:latin typeface="Montserrat" panose="00000500000000000000" pitchFamily="2" charset="-52"/>
                  </a:rPr>
                  <a:t>Докажем </a:t>
                </a:r>
                <a:r>
                  <a:rPr lang="ru-RU" b="1" dirty="0">
                    <a:latin typeface="Montserrat" panose="00000500000000000000" pitchFamily="2" charset="-52"/>
                  </a:rPr>
                  <a:t>ЛНЗ</a:t>
                </a:r>
                <a:r>
                  <a:rPr lang="ru-RU" dirty="0">
                    <a:latin typeface="Montserrat" panose="00000500000000000000" pitchFamily="2" charset="-52"/>
                  </a:rPr>
                  <a:t>,</a:t>
                </a:r>
                <a:r>
                  <a:rPr lang="ru-RU" b="1" dirty="0">
                    <a:latin typeface="Montserrat" panose="00000500000000000000" pitchFamily="2" charset="-52"/>
                  </a:rPr>
                  <a:t> </a:t>
                </a:r>
                <a:r>
                  <a:rPr lang="ru-RU" dirty="0">
                    <a:latin typeface="Montserrat" panose="00000500000000000000" pitchFamily="2" charset="-52"/>
                  </a:rPr>
                  <a:t>от противного: пусть этот </a:t>
                </a:r>
                <a:r>
                  <a:rPr lang="ru-RU" i="1" dirty="0">
                    <a:latin typeface="Montserrat" panose="00000500000000000000" pitchFamily="2" charset="-52"/>
                  </a:rPr>
                  <a:t>набор</a:t>
                </a:r>
                <a:r>
                  <a:rPr lang="ru-RU" dirty="0">
                    <a:latin typeface="Montserrat" panose="00000500000000000000" pitchFamily="2" charset="-52"/>
                  </a:rPr>
                  <a:t> ЛЗ, тогда</a:t>
                </a:r>
              </a:p>
              <a:p>
                <a:pPr marL="285750" indent="-285750">
                  <a:buFontTx/>
                  <a:buChar char="-"/>
                </a:pPr>
                <a:r>
                  <a:rPr lang="ru-RU" dirty="0">
                    <a:latin typeface="Montserrat" panose="00000500000000000000" pitchFamily="2" charset="-52"/>
                  </a:rPr>
                  <a:t>существует нетривиальный набор коэффициентов</a:t>
                </a:r>
                <a:r>
                  <a:rPr lang="en-US" dirty="0">
                    <a:latin typeface="Montserrat" panose="00000500000000000000" pitchFamily="2" charset="-52"/>
                  </a:rPr>
                  <a:t>:</a:t>
                </a:r>
                <a:r>
                  <a:rPr lang="ru-RU" dirty="0">
                    <a:latin typeface="Montserrat" panose="00000500000000000000" pitchFamily="2" charset="-52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+…+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dirty="0">
                  <a:latin typeface="Montserrat" panose="00000500000000000000" pitchFamily="2" charset="-52"/>
                </a:endParaRPr>
              </a:p>
              <a:p>
                <a:pPr marL="285750" indent="-285750">
                  <a:buFontTx/>
                  <a:buChar char="-"/>
                </a:pPr>
                <a:r>
                  <a:rPr lang="ru-RU" dirty="0">
                    <a:latin typeface="Montserrat" panose="00000500000000000000" pitchFamily="2" charset="-52"/>
                  </a:rPr>
                  <a:t>существует линейная комбинация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+1</m:t>
                        </m:r>
                      </m:sup>
                    </m:sSup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+…+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en-US" dirty="0">
                  <a:latin typeface="Montserrat" panose="00000500000000000000" pitchFamily="2" charset="-52"/>
                </a:endParaRPr>
              </a:p>
              <a:p>
                <a:pPr marL="285750" indent="-285750">
                  <a:buFontTx/>
                  <a:buChar char="-"/>
                </a:pPr>
                <a:r>
                  <a:rPr lang="ru-RU" dirty="0">
                    <a:latin typeface="Montserrat" panose="00000500000000000000" pitchFamily="2" charset="-52"/>
                  </a:rPr>
                  <a:t>её отображение </a:t>
                </a:r>
                <a14:m>
                  <m:oMath xmlns:m="http://schemas.openxmlformats.org/officeDocument/2006/math">
                    <m:r>
                      <a:rPr lang="ru-RU" b="0" i="1" smtClean="0">
                        <a:latin typeface="Cambria Math" panose="02040503050406030204" pitchFamily="18" charset="0"/>
                      </a:rPr>
                      <m:t>𝜑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+1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𝜑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+…+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𝜑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ru-RU" dirty="0">
                  <a:latin typeface="Montserrat" panose="00000500000000000000" pitchFamily="2" charset="-52"/>
                </a:endParaRPr>
              </a:p>
              <a:p>
                <a:r>
                  <a:rPr lang="ru-RU" dirty="0">
                    <a:latin typeface="Montserrat" panose="00000500000000000000" pitchFamily="2" charset="-52"/>
                  </a:rPr>
                  <a:t>Отсюда получаем, что элемент, являющийся линейной комбинацией базисных векторов ОБРАЗА, по определению лежит в ЯДРЕ. Противоречие. </a:t>
                </a:r>
                <a:r>
                  <a:rPr lang="ru-RU" i="1" dirty="0">
                    <a:latin typeface="Montserrat" panose="00000500000000000000" pitchFamily="2" charset="-52"/>
                  </a:rPr>
                  <a:t>Набор</a:t>
                </a:r>
                <a:r>
                  <a:rPr lang="ru-RU" dirty="0">
                    <a:latin typeface="Montserrat" panose="00000500000000000000" pitchFamily="2" charset="-52"/>
                  </a:rPr>
                  <a:t> ЛНЗ.</a:t>
                </a:r>
              </a:p>
              <a:p>
                <a:endParaRPr lang="ru-RU" dirty="0">
                  <a:latin typeface="Montserrat" panose="00000500000000000000" pitchFamily="2" charset="-52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2D6BCF3-D880-7809-44E0-7F0850EB7F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933061"/>
                <a:ext cx="10778412" cy="4741363"/>
              </a:xfrm>
              <a:prstGeom prst="rect">
                <a:avLst/>
              </a:prstGeom>
              <a:blipFill>
                <a:blip r:embed="rId2"/>
                <a:stretch>
                  <a:fillRect l="-509" t="-51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601525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64BA72-C406-C21F-41AF-F857F255B1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6AB1A40-7697-F674-5252-CF23AE5A37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9844"/>
            <a:ext cx="10451841" cy="455969"/>
          </a:xfrm>
        </p:spPr>
        <p:txBody>
          <a:bodyPr>
            <a:normAutofit/>
          </a:bodyPr>
          <a:lstStyle/>
          <a:p>
            <a:r>
              <a:rPr lang="ru-RU" dirty="0"/>
              <a:t>3. Алгебра эндоморфизмов.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6362DBE-C80B-736F-7CE9-85F99EC3765A}"/>
                  </a:ext>
                </a:extLst>
              </p:cNvPr>
              <p:cNvSpPr txBox="1"/>
              <p:nvPr/>
            </p:nvSpPr>
            <p:spPr>
              <a:xfrm>
                <a:off x="838200" y="933061"/>
                <a:ext cx="10778412" cy="497450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ru-RU" b="1" dirty="0">
                    <a:latin typeface="Montserrat" panose="00000500000000000000" pitchFamily="2" charset="-52"/>
                  </a:rPr>
                  <a:t>Линейный оператор (эндоморфизм) </a:t>
                </a:r>
                <a14:m>
                  <m:oMath xmlns:m="http://schemas.openxmlformats.org/officeDocument/2006/math">
                    <m:r>
                      <a:rPr lang="ru-RU" b="0" i="1" smtClean="0">
                        <a:latin typeface="Cambria Math" panose="02040503050406030204" pitchFamily="18" charset="0"/>
                      </a:rPr>
                      <m:t>𝜑</m:t>
                    </m:r>
                    <m:r>
                      <a:rPr lang="ru-RU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lang="en-US" dirty="0">
                    <a:latin typeface="Montserrat" panose="00000500000000000000" pitchFamily="2" charset="-52"/>
                  </a:rPr>
                  <a:t> </a:t>
                </a:r>
                <a:r>
                  <a:rPr lang="ru-RU" dirty="0">
                    <a:latin typeface="Montserrat" panose="00000500000000000000" pitchFamily="2" charset="-52"/>
                  </a:rPr>
                  <a:t>в линейном пространстве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𝕂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latin typeface="Montserrat" panose="00000500000000000000" pitchFamily="2" charset="-52"/>
                  </a:rPr>
                  <a:t> </a:t>
                </a:r>
                <a:r>
                  <a:rPr lang="ru-RU" dirty="0">
                    <a:latin typeface="Montserrat" panose="00000500000000000000" pitchFamily="2" charset="-52"/>
                  </a:rPr>
                  <a:t>называется линейное отображение, если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dirty="0">
                  <a:latin typeface="Montserrat" panose="00000500000000000000" pitchFamily="2" charset="-52"/>
                </a:endParaRPr>
              </a:p>
              <a:p>
                <a:pPr algn="just"/>
                <a:r>
                  <a:rPr lang="ru-RU" dirty="0">
                    <a:latin typeface="Montserrat" panose="00000500000000000000" pitchFamily="2" charset="-52"/>
                  </a:rPr>
                  <a:t>Множество эндоморфизмов обозначается как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𝐸𝑛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𝕂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</m:t>
                        </m:r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endParaRPr lang="en-US" dirty="0">
                  <a:latin typeface="Montserrat" panose="00000500000000000000" pitchFamily="2" charset="-52"/>
                </a:endParaRPr>
              </a:p>
              <a:p>
                <a:endParaRPr lang="en-US" dirty="0">
                  <a:latin typeface="Montserrat" panose="00000500000000000000" pitchFamily="2" charset="-52"/>
                </a:endParaRPr>
              </a:p>
              <a:p>
                <a:r>
                  <a:rPr lang="ru-RU" b="1" dirty="0">
                    <a:latin typeface="Montserrat" panose="00000500000000000000" pitchFamily="2" charset="-52"/>
                  </a:rPr>
                  <a:t>Лемма</a:t>
                </a:r>
                <a:r>
                  <a:rPr lang="ru-RU" dirty="0">
                    <a:latin typeface="Montserrat" panose="00000500000000000000" pitchFamily="2" charset="-52"/>
                  </a:rPr>
                  <a:t>.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ru-RU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𝐸𝑛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𝕂</m:t>
                            </m:r>
                          </m:sub>
                        </m:sSub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𝑉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 ∘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US" dirty="0">
                    <a:latin typeface="Montserrat" panose="00000500000000000000" pitchFamily="2" charset="-52"/>
                  </a:rPr>
                  <a:t> </a:t>
                </a:r>
                <a:r>
                  <a:rPr lang="ru-RU" i="1" dirty="0">
                    <a:latin typeface="Montserrat" panose="00000500000000000000" pitchFamily="2" charset="-52"/>
                  </a:rPr>
                  <a:t>некоммутативный моноид</a:t>
                </a:r>
                <a:r>
                  <a:rPr lang="ru-RU" dirty="0">
                    <a:latin typeface="Montserrat" panose="00000500000000000000" pitchFamily="2" charset="-52"/>
                  </a:rPr>
                  <a:t>. </a:t>
                </a:r>
              </a:p>
              <a:p>
                <a:r>
                  <a:rPr lang="ru-RU" dirty="0">
                    <a:latin typeface="Montserrat" panose="00000500000000000000" pitchFamily="2" charset="-52"/>
                  </a:rPr>
                  <a:t>Доказательство.</a:t>
                </a:r>
              </a:p>
              <a:p>
                <a:pPr marL="285750" indent="-285750">
                  <a:buFontTx/>
                  <a:buChar char="-"/>
                </a:pPr>
                <a:r>
                  <a:rPr lang="ru-RU" dirty="0">
                    <a:latin typeface="Montserrat" panose="00000500000000000000" pitchFamily="2" charset="-52"/>
                  </a:rPr>
                  <a:t>Замкнутость</a:t>
                </a:r>
                <a:r>
                  <a:rPr lang="en-US" dirty="0">
                    <a:latin typeface="Montserrat" panose="00000500000000000000" pitchFamily="2" charset="-52"/>
                  </a:rPr>
                  <a:t> – 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 panose="02040503050406030204" pitchFamily="18" charset="0"/>
                      </a:rPr>
                      <m:t>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ru-RU" i="1">
                        <a:latin typeface="Cambria Math" panose="02040503050406030204" pitchFamily="18" charset="0"/>
                      </a:rPr>
                      <m:t>𝜑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∘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𝜓</m:t>
                    </m:r>
                    <m:r>
                      <m:rPr>
                        <m:lit/>
                      </m:rP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𝐸𝑛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𝕂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</m:t>
                        </m:r>
                      </m:e>
                    </m:d>
                  </m:oMath>
                </a14:m>
                <a:r>
                  <a:rPr lang="en-US" dirty="0">
                    <a:latin typeface="Montserrat" panose="00000500000000000000" pitchFamily="2" charset="-52"/>
                  </a:rPr>
                  <a:t> </a:t>
                </a:r>
                <a:r>
                  <a:rPr lang="ru-RU" dirty="0">
                    <a:latin typeface="Montserrat" panose="00000500000000000000" pitchFamily="2" charset="-52"/>
                  </a:rPr>
                  <a:t>так как</a:t>
                </a:r>
                <a:r>
                  <a:rPr lang="en-US" dirty="0">
                    <a:latin typeface="Montserrat" panose="00000500000000000000" pitchFamily="2" charset="-52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𝜒</m:t>
                    </m:r>
                    <m:r>
                      <a:rPr lang="ru-RU" i="1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dirty="0">
                    <a:latin typeface="Montserrat" panose="00000500000000000000" pitchFamily="2" charset="-52"/>
                  </a:rPr>
                  <a:t> </a:t>
                </a:r>
                <a:r>
                  <a:rPr lang="ru-RU" dirty="0">
                    <a:latin typeface="Montserrat" panose="00000500000000000000" pitchFamily="2" charset="-52"/>
                  </a:rPr>
                  <a:t>является линейным отображением</a:t>
                </a:r>
                <a:r>
                  <a:rPr lang="en-US" dirty="0">
                    <a:latin typeface="Montserrat" panose="00000500000000000000" pitchFamily="2" charset="-52"/>
                  </a:rPr>
                  <a:t>.</a:t>
                </a:r>
              </a:p>
              <a:p>
                <a:pPr marL="285750" indent="-285750">
                  <a:buFontTx/>
                  <a:buChar char="-"/>
                </a:pPr>
                <a:r>
                  <a:rPr lang="ru-RU" dirty="0">
                    <a:latin typeface="Montserrat" panose="00000500000000000000" pitchFamily="2" charset="-52"/>
                  </a:rPr>
                  <a:t>Ассоциативность –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𝜑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∘(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𝜓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𝜓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𝜒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e>
                        </m:d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=(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𝜑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b="0" dirty="0">
                    <a:latin typeface="Montserrat" panose="00000500000000000000" pitchFamily="2" charset="-52"/>
                  </a:rPr>
                  <a:t>.</a:t>
                </a:r>
              </a:p>
              <a:p>
                <a:pPr marL="285750" indent="-285750">
                  <a:buFontTx/>
                  <a:buChar char="-"/>
                </a:pPr>
                <a:r>
                  <a:rPr lang="ru-RU" dirty="0">
                    <a:latin typeface="Montserrat" panose="00000500000000000000" pitchFamily="2" charset="-52"/>
                  </a:rPr>
                  <a:t>Нейтральный элемент – тождественное преобразование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𝐼𝑑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b="0" dirty="0">
                  <a:latin typeface="Montserrat" panose="00000500000000000000" pitchFamily="2" charset="-52"/>
                </a:endParaRPr>
              </a:p>
              <a:p>
                <a:pPr marL="285750" indent="-285750">
                  <a:buFontTx/>
                  <a:buChar char="-"/>
                </a:pPr>
                <a:r>
                  <a:rPr lang="ru-RU" dirty="0">
                    <a:latin typeface="Montserrat" panose="00000500000000000000" pitchFamily="2" charset="-52"/>
                  </a:rPr>
                  <a:t>Некоммутативность – ОЧЕВ</a:t>
                </a:r>
                <a:r>
                  <a:rPr lang="en-US" dirty="0">
                    <a:latin typeface="Montserrat" panose="00000500000000000000" pitchFamily="2" charset="-52"/>
                  </a:rPr>
                  <a:t>.</a:t>
                </a:r>
              </a:p>
              <a:p>
                <a:endParaRPr lang="en-US" dirty="0">
                  <a:latin typeface="Montserrat" panose="00000500000000000000" pitchFamily="2" charset="-52"/>
                </a:endParaRPr>
              </a:p>
              <a:p>
                <a:r>
                  <a:rPr lang="ru-RU" b="1" dirty="0">
                    <a:latin typeface="Montserrat" panose="00000500000000000000" pitchFamily="2" charset="-52"/>
                  </a:rPr>
                  <a:t>Лемма</a:t>
                </a:r>
                <a:r>
                  <a:rPr lang="ru-RU" dirty="0">
                    <a:latin typeface="Montserrat" panose="00000500000000000000" pitchFamily="2" charset="-52"/>
                  </a:rPr>
                  <a:t>.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𝐸𝑛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𝕂</m:t>
                            </m:r>
                          </m:sub>
                        </m:sSub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𝑉</m:t>
                            </m:r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+,  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∘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US" dirty="0">
                    <a:latin typeface="Montserrat" panose="00000500000000000000" pitchFamily="2" charset="-52"/>
                  </a:rPr>
                  <a:t> </a:t>
                </a:r>
                <a:r>
                  <a:rPr lang="ru-RU" i="1" dirty="0">
                    <a:latin typeface="Montserrat" panose="00000500000000000000" pitchFamily="2" charset="-52"/>
                  </a:rPr>
                  <a:t>кольцо</a:t>
                </a:r>
                <a:r>
                  <a:rPr lang="ru-RU" dirty="0">
                    <a:latin typeface="Montserrat" panose="00000500000000000000" pitchFamily="2" charset="-52"/>
                  </a:rPr>
                  <a:t>. </a:t>
                </a:r>
              </a:p>
              <a:p>
                <a:r>
                  <a:rPr lang="ru-RU" dirty="0">
                    <a:latin typeface="Montserrat" panose="00000500000000000000" pitchFamily="2" charset="-52"/>
                  </a:rPr>
                  <a:t>Доказательство. Сложение и композиция согласованы.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ru-RU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b="0" i="1" smtClean="0">
                              <a:latin typeface="Cambria Math" panose="02040503050406030204" pitchFamily="18" charset="0"/>
                            </a:rPr>
                            <m:t>𝜑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∘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∘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𝜒</m:t>
                              </m:r>
                            </m:e>
                          </m:d>
                        </m:e>
                      </m:d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𝜑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∘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𝜒</m:t>
                              </m:r>
                            </m:e>
                          </m:d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𝜑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𝜓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𝜒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𝜑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𝜓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𝜑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𝜒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𝜑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</m:d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𝜑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∘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>
                  <a:latin typeface="Montserrat" panose="00000500000000000000" pitchFamily="2" charset="-52"/>
                </a:endParaRPr>
              </a:p>
              <a:p>
                <a:endParaRPr lang="en-US" dirty="0">
                  <a:latin typeface="Montserrat" panose="00000500000000000000" pitchFamily="2" charset="-52"/>
                </a:endParaRP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⟨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𝐸𝑛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𝕂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+,⋅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⟩</m:t>
                    </m:r>
                  </m:oMath>
                </a14:m>
                <a:r>
                  <a:rPr lang="en-US" dirty="0">
                    <a:latin typeface="Montserrat" panose="00000500000000000000" pitchFamily="2" charset="-52"/>
                  </a:rPr>
                  <a:t> -</a:t>
                </a:r>
                <a:r>
                  <a:rPr lang="ru-RU" dirty="0">
                    <a:latin typeface="Montserrat" panose="00000500000000000000" pitchFamily="2" charset="-52"/>
                  </a:rPr>
                  <a:t> </a:t>
                </a:r>
                <a:r>
                  <a:rPr lang="ru-RU" b="1" dirty="0">
                    <a:latin typeface="Montserrat" panose="00000500000000000000" pitchFamily="2" charset="-52"/>
                  </a:rPr>
                  <a:t>линейное пространство </a:t>
                </a:r>
                <a:r>
                  <a:rPr lang="ru-RU" dirty="0">
                    <a:latin typeface="Montserrat" panose="00000500000000000000" pitchFamily="2" charset="-52"/>
                  </a:rPr>
                  <a:t>(индуцируется из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𝐻𝑜𝑚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𝕂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</m:t>
                        </m:r>
                      </m:e>
                    </m:d>
                  </m:oMath>
                </a14:m>
                <a:r>
                  <a:rPr lang="ru-RU" dirty="0">
                    <a:latin typeface="Montserrat" panose="00000500000000000000" pitchFamily="2" charset="-52"/>
                  </a:rPr>
                  <a:t>).</a:t>
                </a:r>
              </a:p>
              <a:p>
                <a:endParaRPr lang="ru-RU" dirty="0">
                  <a:latin typeface="Montserrat" panose="00000500000000000000" pitchFamily="2" charset="-52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6362DBE-C80B-736F-7CE9-85F99EC376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933061"/>
                <a:ext cx="10778412" cy="4974503"/>
              </a:xfrm>
              <a:prstGeom prst="rect">
                <a:avLst/>
              </a:prstGeom>
              <a:blipFill>
                <a:blip r:embed="rId2"/>
                <a:stretch>
                  <a:fillRect l="-509" t="-490" r="-101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121370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BBA8E1-D309-7EA2-DBB9-1114E150A5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C5622E1-8A24-9183-720E-7305FCF32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9844"/>
            <a:ext cx="10451841" cy="455969"/>
          </a:xfrm>
        </p:spPr>
        <p:txBody>
          <a:bodyPr>
            <a:normAutofit/>
          </a:bodyPr>
          <a:lstStyle/>
          <a:p>
            <a:r>
              <a:rPr lang="ru-RU" dirty="0"/>
              <a:t>3. Алгебра эндоморфизмов.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CD0D8DA-F43A-90D8-1959-F3EEE1BF9482}"/>
                  </a:ext>
                </a:extLst>
              </p:cNvPr>
              <p:cNvSpPr txBox="1"/>
              <p:nvPr/>
            </p:nvSpPr>
            <p:spPr>
              <a:xfrm>
                <a:off x="838200" y="933061"/>
                <a:ext cx="10778412" cy="23616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ru-RU" b="1" dirty="0">
                    <a:latin typeface="Montserrat" panose="00000500000000000000" pitchFamily="2" charset="-52"/>
                  </a:rPr>
                  <a:t>Алгебра</a:t>
                </a:r>
                <a:r>
                  <a:rPr lang="ru-RU" dirty="0">
                    <a:latin typeface="Montserrat" panose="00000500000000000000" pitchFamily="2" charset="-52"/>
                  </a:rPr>
                  <a:t> </a:t>
                </a:r>
                <a14:m>
                  <m:oMath xmlns:m="http://schemas.openxmlformats.org/officeDocument/2006/math">
                    <m:r>
                      <a:rPr lang="ru-RU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ru-RU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ru-RU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𝕂</m:t>
                    </m:r>
                    <m:r>
                      <a:rPr lang="ru-RU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dirty="0">
                    <a:latin typeface="Montserrat" panose="00000500000000000000" pitchFamily="2" charset="-52"/>
                  </a:rPr>
                  <a:t> над полем </a:t>
                </a:r>
                <a14:m>
                  <m:oMath xmlns:m="http://schemas.openxmlformats.org/officeDocument/2006/math">
                    <m:r>
                      <a:rPr lang="ru-RU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𝕂</m:t>
                    </m:r>
                  </m:oMath>
                </a14:m>
                <a:r>
                  <a:rPr lang="ru-RU" dirty="0">
                    <a:latin typeface="Montserrat" panose="00000500000000000000" pitchFamily="2" charset="-52"/>
                  </a:rPr>
                  <a:t> – линейное пространство, снабженное структурой кольца, в котором все операции согласованы.</a:t>
                </a:r>
              </a:p>
              <a:p>
                <a:pPr algn="just"/>
                <a:endParaRPr lang="ru-RU" dirty="0">
                  <a:latin typeface="Montserrat" panose="00000500000000000000" pitchFamily="2" charset="-52"/>
                </a:endParaRPr>
              </a:p>
              <a:p>
                <a:pPr algn="just"/>
                <a:r>
                  <a:rPr lang="ru-RU" b="1" dirty="0">
                    <a:latin typeface="Montserrat" panose="00000500000000000000" pitchFamily="2" charset="-52"/>
                  </a:rPr>
                  <a:t>Теорема</a:t>
                </a:r>
                <a:r>
                  <a:rPr lang="ru-RU" dirty="0">
                    <a:latin typeface="Montserrat" panose="00000500000000000000" pitchFamily="2" charset="-52"/>
                  </a:rPr>
                  <a:t>. Множество </a:t>
                </a:r>
                <a14:m>
                  <m:oMath xmlns:m="http://schemas.openxmlformats.org/officeDocument/2006/math">
                    <m:r>
                      <a:rPr lang="ru-RU" i="1" dirty="0" smtClean="0">
                        <a:latin typeface="Cambria Math" panose="02040503050406030204" pitchFamily="18" charset="0"/>
                      </a:rPr>
                      <m:t>𝐸𝑛</m:t>
                    </m:r>
                    <m:sSub>
                      <m:sSubPr>
                        <m:ctrlPr>
                          <a:rPr lang="ru-RU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 dirty="0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ru-RU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𝕂</m:t>
                        </m:r>
                      </m:sub>
                    </m:sSub>
                    <m:r>
                      <a:rPr lang="ru-RU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ru-RU" i="1" dirty="0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ru-RU" i="1" dirty="0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ru-RU" dirty="0">
                    <a:latin typeface="Montserrat" panose="00000500000000000000" pitchFamily="2" charset="-52"/>
                  </a:rPr>
                  <a:t>образует алгебру над полем </a:t>
                </a:r>
                <a14:m>
                  <m:oMath xmlns:m="http://schemas.openxmlformats.org/officeDocument/2006/math">
                    <m:r>
                      <a:rPr lang="ru-RU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𝕂</m:t>
                    </m:r>
                  </m:oMath>
                </a14:m>
                <a:r>
                  <a:rPr lang="ru-RU" dirty="0">
                    <a:latin typeface="Montserrat" panose="00000500000000000000" pitchFamily="2" charset="-52"/>
                  </a:rPr>
                  <a:t>.</a:t>
                </a:r>
              </a:p>
              <a:p>
                <a:pPr algn="just"/>
                <a:r>
                  <a:rPr lang="ru-RU" dirty="0">
                    <a:latin typeface="Montserrat" panose="00000500000000000000" pitchFamily="2" charset="-52"/>
                  </a:rPr>
                  <a:t>Согласно леммам выше все операции согласованы:</a:t>
                </a: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ru-RU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ru-RU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ru-RU" b="0" i="1" smtClean="0">
                                  <a:latin typeface="Cambria Math" panose="02040503050406030204" pitchFamily="18" charset="0"/>
                                </a:rPr>
                                <m:t>+: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  <m:r>
                                <a:rPr lang="ru-RU" b="0" i="1" smtClean="0"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∘: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:</m:t>
                              </m:r>
                              <m:r>
                                <a:rPr lang="ru-RU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𝕂</m:t>
                              </m:r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ru-RU" dirty="0">
                  <a:latin typeface="Montserrat" panose="00000500000000000000" pitchFamily="2" charset="-52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CD0D8DA-F43A-90D8-1959-F3EEE1BF94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933061"/>
                <a:ext cx="10778412" cy="2361609"/>
              </a:xfrm>
              <a:prstGeom prst="rect">
                <a:avLst/>
              </a:prstGeom>
              <a:blipFill>
                <a:blip r:embed="rId2"/>
                <a:stretch>
                  <a:fillRect l="-509" t="-1034" r="-45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969610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DBC420-E2F7-742B-4009-3C20EC8621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E7E3D97-BA35-339F-2ADC-85859B81BB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9844"/>
            <a:ext cx="10451841" cy="455969"/>
          </a:xfrm>
        </p:spPr>
        <p:txBody>
          <a:bodyPr>
            <a:normAutofit fontScale="90000"/>
          </a:bodyPr>
          <a:lstStyle/>
          <a:p>
            <a:r>
              <a:rPr lang="ru-RU" dirty="0"/>
              <a:t>4. Определитель оператора. Инвариантность определителя. Обратимость оператора.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F7AB31F-0B52-7E72-14F3-0C66FBC1D823}"/>
                  </a:ext>
                </a:extLst>
              </p:cNvPr>
              <p:cNvSpPr txBox="1"/>
              <p:nvPr/>
            </p:nvSpPr>
            <p:spPr>
              <a:xfrm>
                <a:off x="838200" y="933061"/>
                <a:ext cx="10778412" cy="515570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ru-RU" dirty="0">
                    <a:latin typeface="Montserrat" panose="00000500000000000000" pitchFamily="2" charset="-52"/>
                  </a:rPr>
                  <a:t>Алгебра линейных операторов </a:t>
                </a:r>
                <a:r>
                  <a:rPr lang="ru-RU" i="1" dirty="0">
                    <a:latin typeface="Montserrat" panose="00000500000000000000" pitchFamily="2" charset="-52"/>
                  </a:rPr>
                  <a:t>изоморфна</a:t>
                </a:r>
                <a:r>
                  <a:rPr lang="ru-RU" dirty="0">
                    <a:latin typeface="Montserrat" panose="00000500000000000000" pitchFamily="2" charset="-52"/>
                  </a:rPr>
                  <a:t> алгебре квадратных матриц.</a:t>
                </a: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i="1" dirty="0">
                          <a:latin typeface="Cambria Math" panose="02040503050406030204" pitchFamily="18" charset="0"/>
                        </a:rPr>
                        <m:t>𝐸𝑛</m:t>
                      </m:r>
                      <m:sSub>
                        <m:sSubPr>
                          <m:ctrlPr>
                            <a:rPr lang="ru-RU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 dirty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ru-RU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𝕂</m:t>
                          </m:r>
                        </m:sub>
                      </m:sSub>
                      <m:r>
                        <a:rPr lang="ru-RU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ru-RU" i="1" dirty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ru-RU" i="1" dirty="0">
                          <a:latin typeface="Cambria Math" panose="02040503050406030204" pitchFamily="18" charset="0"/>
                        </a:rPr>
                        <m:t>)≃</m:t>
                      </m:r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𝕂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>
                  <a:latin typeface="Montserrat" panose="00000500000000000000" pitchFamily="2" charset="-52"/>
                </a:endParaRPr>
              </a:p>
              <a:p>
                <a:pPr algn="just"/>
                <a:r>
                  <a:rPr lang="ru-RU" b="1" dirty="0">
                    <a:latin typeface="Montserrat" panose="00000500000000000000" pitchFamily="2" charset="-52"/>
                  </a:rPr>
                  <a:t>Определителем линейного оператора </a:t>
                </a:r>
                <a:r>
                  <a:rPr lang="ru-RU" dirty="0">
                    <a:latin typeface="Montserrat" panose="00000500000000000000" pitchFamily="2" charset="-52"/>
                  </a:rPr>
                  <a:t>называется определитель матрицы линейного оператора в фиксированном базисе.</a:t>
                </a:r>
                <a:endParaRPr lang="en-US" dirty="0">
                  <a:latin typeface="Montserrat" panose="00000500000000000000" pitchFamily="2" charset="-52"/>
                </a:endParaRP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det</m:t>
                          </m:r>
                        </m:fNam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𝜑</m:t>
                          </m:r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det</m:t>
                          </m:r>
                        </m:fName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𝜑</m:t>
                              </m:r>
                            </m:sub>
                          </m:sSub>
                        </m:e>
                      </m:func>
                    </m:oMath>
                  </m:oMathPara>
                </a14:m>
                <a:endParaRPr lang="ru-RU" dirty="0">
                  <a:latin typeface="Montserrat" panose="00000500000000000000" pitchFamily="2" charset="-52"/>
                </a:endParaRPr>
              </a:p>
              <a:p>
                <a:pPr algn="just"/>
                <a:endParaRPr lang="en-US" dirty="0">
                  <a:latin typeface="Montserrat" panose="00000500000000000000" pitchFamily="2" charset="-52"/>
                </a:endParaRPr>
              </a:p>
              <a:p>
                <a:pPr algn="just"/>
                <a:r>
                  <a:rPr lang="ru-RU" b="1" dirty="0">
                    <a:latin typeface="Montserrat" panose="00000500000000000000" pitchFamily="2" charset="-52"/>
                  </a:rPr>
                  <a:t>Лемма</a:t>
                </a:r>
                <a:r>
                  <a:rPr lang="ru-RU" dirty="0">
                    <a:latin typeface="Montserrat" panose="00000500000000000000" pitchFamily="2" charset="-52"/>
                  </a:rPr>
                  <a:t>. Определитель линейного оператора не зависит от выбора базиса.</a:t>
                </a:r>
              </a:p>
              <a:p>
                <a:pPr algn="just"/>
                <a:r>
                  <a:rPr lang="ru-RU" b="1" dirty="0">
                    <a:latin typeface="Montserrat" panose="00000500000000000000" pitchFamily="2" charset="-52"/>
                  </a:rPr>
                  <a:t>Доказательство</a:t>
                </a:r>
                <a:r>
                  <a:rPr lang="ru-RU" dirty="0">
                    <a:latin typeface="Montserrat" panose="00000500000000000000" pitchFamily="2" charset="-52"/>
                  </a:rPr>
                  <a:t>. При замене базиса матрицы линейного оператора справедливо</a:t>
                </a: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̃"/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acc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𝜑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𝜑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en-US" dirty="0">
                  <a:latin typeface="Montserrat" panose="00000500000000000000" pitchFamily="2" charset="-52"/>
                </a:endParaRP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det</m:t>
                          </m:r>
                        </m:fName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̃"/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𝜑</m:t>
                              </m:r>
                            </m:sub>
                          </m:sSub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det</m:t>
                          </m:r>
                        </m:fName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𝜑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det</m:t>
                          </m:r>
                        </m:fName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e>
                      </m:func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det</m:t>
                          </m:r>
                        </m:fName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𝜑</m:t>
                              </m:r>
                            </m:sub>
                          </m:sSub>
                        </m:e>
                      </m:func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det</m:t>
                          </m:r>
                        </m:fNam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func>
                            <m:func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det</m:t>
                              </m:r>
                            </m:fNam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</m:func>
                        </m:den>
                      </m:f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det</m:t>
                          </m:r>
                        </m:fName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𝜑</m:t>
                              </m:r>
                            </m:sub>
                          </m:sSub>
                        </m:e>
                      </m:func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det</m:t>
                          </m:r>
                        </m:fName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det</m:t>
                          </m:r>
                        </m:fName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𝜑</m:t>
                              </m:r>
                            </m:sub>
                          </m:sSub>
                        </m:e>
                      </m:func>
                      <m:r>
                        <a:rPr lang="ru-RU" b="0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ru-RU" dirty="0">
                  <a:latin typeface="Montserrat" panose="00000500000000000000" pitchFamily="2" charset="-52"/>
                </a:endParaRPr>
              </a:p>
              <a:p>
                <a:pPr algn="just"/>
                <a:endParaRPr lang="en-US" dirty="0">
                  <a:latin typeface="Montserrat" panose="00000500000000000000" pitchFamily="2" charset="-52"/>
                </a:endParaRPr>
              </a:p>
              <a:p>
                <a:pPr algn="just"/>
                <a:r>
                  <a:rPr lang="ru-RU" dirty="0">
                    <a:latin typeface="Montserrat" panose="00000500000000000000" pitchFamily="2" charset="-52"/>
                  </a:rPr>
                  <a:t>Линейный оператор</a:t>
                </a:r>
                <a:r>
                  <a:rPr lang="en-US" dirty="0">
                    <a:latin typeface="Montserrat" panose="00000500000000000000" pitchFamily="2" charset="-52"/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𝜑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ru-RU" i="1" dirty="0">
                        <a:latin typeface="Cambria Math" panose="02040503050406030204" pitchFamily="18" charset="0"/>
                      </a:rPr>
                      <m:t>𝐸𝑛</m:t>
                    </m:r>
                    <m:sSub>
                      <m:sSubPr>
                        <m:ctrlPr>
                          <a:rPr lang="ru-RU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 dirty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ru-RU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𝕂</m:t>
                        </m:r>
                      </m:sub>
                    </m:sSub>
                    <m:r>
                      <a:rPr lang="ru-RU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ru-RU" i="1" dirty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ru-RU" i="1" dirty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ru-RU" dirty="0">
                    <a:latin typeface="Montserrat" panose="00000500000000000000" pitchFamily="2" charset="-52"/>
                  </a:rPr>
                  <a:t>называется </a:t>
                </a:r>
                <a:r>
                  <a:rPr lang="ru-RU" b="1" dirty="0">
                    <a:latin typeface="Montserrat" panose="00000500000000000000" pitchFamily="2" charset="-52"/>
                  </a:rPr>
                  <a:t>обратимым</a:t>
                </a:r>
                <a:r>
                  <a:rPr lang="ru-RU" dirty="0">
                    <a:latin typeface="Montserrat" panose="00000500000000000000" pitchFamily="2" charset="-52"/>
                  </a:rPr>
                  <a:t>,</a:t>
                </a:r>
                <a:r>
                  <a:rPr lang="en-US" dirty="0">
                    <a:latin typeface="Montserrat" panose="00000500000000000000" pitchFamily="2" charset="-52"/>
                  </a:rPr>
                  <a:t> </a:t>
                </a:r>
                <a:r>
                  <a:rPr lang="ru-RU" dirty="0">
                    <a:latin typeface="Montserrat" panose="00000500000000000000" pitchFamily="2" charset="-52"/>
                  </a:rPr>
                  <a:t>если </a:t>
                </a:r>
                <a:endParaRPr lang="en-US" dirty="0">
                  <a:latin typeface="Montserrat" panose="00000500000000000000" pitchFamily="2" charset="-52"/>
                </a:endParaRP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∃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𝜓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ru-RU" i="1" dirty="0">
                          <a:latin typeface="Cambria Math" panose="02040503050406030204" pitchFamily="18" charset="0"/>
                        </a:rPr>
                        <m:t>𝐸𝑛</m:t>
                      </m:r>
                      <m:sSub>
                        <m:sSubPr>
                          <m:ctrlPr>
                            <a:rPr lang="ru-RU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 dirty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ru-RU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𝕂</m:t>
                          </m:r>
                        </m:sub>
                      </m:sSub>
                      <m:d>
                        <m:dPr>
                          <m:ctrlPr>
                            <a:rPr lang="ru-RU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i="1" dirty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</m:d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:          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𝜓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∘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𝜑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𝜑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∘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𝜓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𝐼𝑑</m:t>
                      </m:r>
                    </m:oMath>
                  </m:oMathPara>
                </a14:m>
                <a:endParaRPr lang="en-US" dirty="0">
                  <a:latin typeface="Montserrat" panose="00000500000000000000" pitchFamily="2" charset="-52"/>
                </a:endParaRPr>
              </a:p>
              <a:p>
                <a:pPr algn="just"/>
                <a:r>
                  <a:rPr lang="ru-RU" b="1" dirty="0">
                    <a:latin typeface="Montserrat" panose="00000500000000000000" pitchFamily="2" charset="-52"/>
                  </a:rPr>
                  <a:t>Лемма</a:t>
                </a:r>
                <a:r>
                  <a:rPr lang="ru-RU" dirty="0">
                    <a:latin typeface="Montserrat" panose="00000500000000000000" pitchFamily="2" charset="-52"/>
                  </a:rPr>
                  <a:t>. Линейный оператор обратим </a:t>
                </a:r>
                <a:r>
                  <a:rPr lang="ru-RU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⟺ </a:t>
                </a:r>
                <a:r>
                  <a:rPr lang="ru-RU" dirty="0">
                    <a:latin typeface="Montserrat" panose="00000500000000000000" pitchFamily="2" charset="-52"/>
                  </a:rPr>
                  <a:t>определитель не равен нулю.</a:t>
                </a:r>
              </a:p>
              <a:p>
                <a:pPr algn="just"/>
                <a:r>
                  <a:rPr lang="ru-RU" b="1" dirty="0">
                    <a:latin typeface="Montserrat" panose="00000500000000000000" pitchFamily="2" charset="-52"/>
                  </a:rPr>
                  <a:t>Доказательство</a:t>
                </a:r>
                <a:r>
                  <a:rPr lang="ru-RU" dirty="0">
                    <a:latin typeface="Montserrat" panose="00000500000000000000" pitchFamily="2" charset="-52"/>
                  </a:rPr>
                  <a:t>.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𝜑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∘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𝜓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𝐼𝑑</m:t>
                    </m:r>
                    <m:r>
                      <a:rPr lang="ru-RU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ru-RU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⟺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𝜑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𝜓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en-US" dirty="0">
                    <a:latin typeface="Montserrat" panose="00000500000000000000" pitchFamily="2" charset="-52"/>
                  </a:rPr>
                  <a:t> </a:t>
                </a:r>
                <a:r>
                  <a:rPr lang="ru-RU" dirty="0">
                    <a:latin typeface="Montserrat" panose="00000500000000000000" pitchFamily="2" charset="-52"/>
                  </a:rPr>
                  <a:t>вследствие изоморфизма.</a:t>
                </a:r>
              </a:p>
              <a:p>
                <a:pPr algn="just"/>
                <a:r>
                  <a:rPr lang="ru-RU" dirty="0">
                    <a:latin typeface="Montserrat" panose="00000500000000000000" pitchFamily="2" charset="-52"/>
                  </a:rPr>
                  <a:t>Если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ru-RU" dirty="0">
                    <a:latin typeface="Montserrat" panose="00000500000000000000" pitchFamily="2" charset="-52"/>
                  </a:rPr>
                  <a:t> обратим, то существует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𝜓</m:t>
                    </m:r>
                  </m:oMath>
                </a14:m>
                <a:r>
                  <a:rPr lang="ru-RU" dirty="0">
                    <a:latin typeface="Montserrat" panose="00000500000000000000" pitchFamily="2" charset="-52"/>
                  </a:rPr>
                  <a:t> </a:t>
                </a:r>
                <a:r>
                  <a:rPr lang="en-US" dirty="0">
                    <a:latin typeface="Montserrat" panose="00000500000000000000" pitchFamily="2" charset="-52"/>
                  </a:rPr>
                  <a:t>c </a:t>
                </a:r>
                <a:r>
                  <a:rPr lang="ru-RU" dirty="0">
                    <a:latin typeface="Montserrat" panose="00000500000000000000" pitchFamily="2" charset="-52"/>
                  </a:rPr>
                  <a:t>соответствующей матрицей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𝜓</m:t>
                        </m:r>
                      </m:sub>
                    </m:sSub>
                  </m:oMath>
                </a14:m>
                <a:r>
                  <a:rPr lang="ru-RU" dirty="0">
                    <a:latin typeface="Montserrat" panose="00000500000000000000" pitchFamily="2" charset="-52"/>
                  </a:rPr>
                  <a:t>, которая обратима, если её определитель не 0.</a:t>
                </a:r>
                <a:endParaRPr lang="en-US" dirty="0">
                  <a:latin typeface="Montserrat" panose="00000500000000000000" pitchFamily="2" charset="-52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F7AB31F-0B52-7E72-14F3-0C66FBC1D8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933061"/>
                <a:ext cx="10778412" cy="5155707"/>
              </a:xfrm>
              <a:prstGeom prst="rect">
                <a:avLst/>
              </a:prstGeom>
              <a:blipFill>
                <a:blip r:embed="rId2"/>
                <a:stretch>
                  <a:fillRect l="-509" t="-473" r="-452" b="-94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25100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CA7498-20D2-99ED-A154-AA7B5ABF2D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30F9AF0-3A03-CC9E-5078-B6603BD74B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9844"/>
            <a:ext cx="10451841" cy="455969"/>
          </a:xfrm>
        </p:spPr>
        <p:txBody>
          <a:bodyPr>
            <a:normAutofit fontScale="90000"/>
          </a:bodyPr>
          <a:lstStyle/>
          <a:p>
            <a:r>
              <a:rPr lang="ru-RU" dirty="0"/>
              <a:t>5. Инвариантное подпространство. Матрица оператора в базисе, согласованном с инвариантными подпространствами.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573237D-00C8-032D-B9FC-760E3566570D}"/>
                  </a:ext>
                </a:extLst>
              </p:cNvPr>
              <p:cNvSpPr txBox="1"/>
              <p:nvPr/>
            </p:nvSpPr>
            <p:spPr>
              <a:xfrm>
                <a:off x="838200" y="933061"/>
                <a:ext cx="10778412" cy="498437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ru-RU" dirty="0">
                    <a:latin typeface="Montserrat" panose="00000500000000000000" pitchFamily="2" charset="-52"/>
                  </a:rPr>
                  <a:t>Подпространство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dirty="0">
                    <a:latin typeface="Montserrat" panose="00000500000000000000" pitchFamily="2" charset="-52"/>
                  </a:rPr>
                  <a:t> </a:t>
                </a:r>
                <a:r>
                  <a:rPr lang="ru-RU" dirty="0">
                    <a:latin typeface="Montserrat" panose="00000500000000000000" pitchFamily="2" charset="-52"/>
                  </a:rPr>
                  <a:t>называется </a:t>
                </a:r>
                <a:r>
                  <a:rPr lang="ru-RU" b="1" dirty="0">
                    <a:latin typeface="Montserrat" panose="00000500000000000000" pitchFamily="2" charset="-52"/>
                  </a:rPr>
                  <a:t>инвариантным </a:t>
                </a:r>
                <a:r>
                  <a:rPr lang="ru-RU" dirty="0">
                    <a:latin typeface="Montserrat" panose="00000500000000000000" pitchFamily="2" charset="-52"/>
                  </a:rPr>
                  <a:t>относительно оператора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en-US" dirty="0">
                    <a:latin typeface="Montserrat" panose="00000500000000000000" pitchFamily="2" charset="-52"/>
                  </a:rPr>
                  <a:t>, </a:t>
                </a:r>
                <a:r>
                  <a:rPr lang="ru-RU" dirty="0">
                    <a:latin typeface="Montserrat" panose="00000500000000000000" pitchFamily="2" charset="-52"/>
                  </a:rPr>
                  <a:t>если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𝑈</m:t>
                    </m:r>
                  </m:oMath>
                </a14:m>
                <a:r>
                  <a:rPr lang="en-US" dirty="0">
                    <a:latin typeface="Montserrat" panose="00000500000000000000" pitchFamily="2" charset="-52"/>
                  </a:rPr>
                  <a:t>, </a:t>
                </a:r>
                <a:r>
                  <a:rPr lang="ru-RU" dirty="0">
                    <a:latin typeface="Montserrat" panose="00000500000000000000" pitchFamily="2" charset="-52"/>
                  </a:rPr>
                  <a:t>то есть </a:t>
                </a:r>
                <a14:m>
                  <m:oMath xmlns:m="http://schemas.openxmlformats.org/officeDocument/2006/math">
                    <m:r>
                      <a:rPr lang="ru-RU" b="0" i="1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𝑈</m:t>
                    </m:r>
                  </m:oMath>
                </a14:m>
                <a:r>
                  <a:rPr lang="en-US" dirty="0">
                    <a:latin typeface="Montserrat" panose="00000500000000000000" pitchFamily="2" charset="-52"/>
                  </a:rPr>
                  <a:t>.</a:t>
                </a:r>
              </a:p>
              <a:p>
                <a:pPr algn="just"/>
                <a:r>
                  <a:rPr lang="ru-RU" b="1" dirty="0">
                    <a:latin typeface="Montserrat" panose="00000500000000000000" pitchFamily="2" charset="-52"/>
                  </a:rPr>
                  <a:t>Ограничение (сужение)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"/>
                            <m:endChr m:val="|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ru-RU"/>
                              <m:t>​</m:t>
                            </m:r>
                          </m:e>
                        </m:d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sub>
                    </m:sSub>
                  </m:oMath>
                </a14:m>
                <a:r>
                  <a:rPr lang="en-US" dirty="0">
                    <a:latin typeface="Montserrat" panose="00000500000000000000" pitchFamily="2" charset="-52"/>
                  </a:rPr>
                  <a:t> </a:t>
                </a:r>
                <a:r>
                  <a:rPr lang="ru-RU" dirty="0">
                    <a:latin typeface="Montserrat" panose="00000500000000000000" pitchFamily="2" charset="-52"/>
                  </a:rPr>
                  <a:t>линейного оператора </a:t>
                </a:r>
                <a14:m>
                  <m:oMath xmlns:m="http://schemas.openxmlformats.org/officeDocument/2006/math">
                    <m:r>
                      <a:rPr lang="ru-RU" b="0" i="1" smtClean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ru-RU" dirty="0">
                    <a:latin typeface="Montserrat" panose="00000500000000000000" pitchFamily="2" charset="-52"/>
                  </a:rPr>
                  <a:t> на инвариантное подпространство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𝑈</m:t>
                    </m:r>
                  </m:oMath>
                </a14:m>
                <a:r>
                  <a:rPr lang="en-US" dirty="0">
                    <a:latin typeface="Montserrat" panose="00000500000000000000" pitchFamily="2" charset="-52"/>
                  </a:rPr>
                  <a:t> </a:t>
                </a:r>
                <a:r>
                  <a:rPr lang="ru-RU" dirty="0">
                    <a:latin typeface="Montserrat" panose="00000500000000000000" pitchFamily="2" charset="-52"/>
                  </a:rPr>
                  <a:t>является линейным оператором в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𝑈</m:t>
                    </m:r>
                  </m:oMath>
                </a14:m>
                <a:r>
                  <a:rPr lang="en-US" dirty="0">
                    <a:latin typeface="Montserrat" panose="00000500000000000000" pitchFamily="2" charset="-52"/>
                  </a:rPr>
                  <a:t>.</a:t>
                </a:r>
              </a:p>
              <a:p>
                <a:pPr algn="just"/>
                <a:endParaRPr lang="ru-RU" dirty="0">
                  <a:latin typeface="Montserrat" panose="00000500000000000000" pitchFamily="2" charset="-52"/>
                </a:endParaRPr>
              </a:p>
              <a:p>
                <a:pPr algn="just"/>
                <a:r>
                  <a:rPr lang="ru-RU" dirty="0">
                    <a:latin typeface="Montserrat" panose="00000500000000000000" pitchFamily="2" charset="-52"/>
                  </a:rPr>
                  <a:t>Если в базисе </a:t>
                </a:r>
                <a:r>
                  <a:rPr lang="en-US" dirty="0">
                    <a:latin typeface="Montserrat" panose="00000500000000000000" pitchFamily="2" charset="-52"/>
                  </a:rPr>
                  <a:t>V </a:t>
                </a:r>
                <a:r>
                  <a:rPr lang="ru-RU" dirty="0">
                    <a:latin typeface="Montserrat" panose="00000500000000000000" pitchFamily="2" charset="-52"/>
                  </a:rPr>
                  <a:t>первые </a:t>
                </a:r>
                <a:r>
                  <a:rPr lang="en-US" dirty="0">
                    <a:latin typeface="Montserrat" panose="00000500000000000000" pitchFamily="2" charset="-52"/>
                  </a:rPr>
                  <a:t>k </a:t>
                </a:r>
                <a:r>
                  <a:rPr lang="ru-RU" dirty="0">
                    <a:latin typeface="Montserrat" panose="00000500000000000000" pitchFamily="2" charset="-52"/>
                  </a:rPr>
                  <a:t>векторов будут базисными для </a:t>
                </a:r>
                <a:r>
                  <a:rPr lang="en-US" dirty="0">
                    <a:latin typeface="Montserrat" panose="00000500000000000000" pitchFamily="2" charset="-52"/>
                  </a:rPr>
                  <a:t>U</a:t>
                </a:r>
                <a:r>
                  <a:rPr lang="ru-RU" dirty="0">
                    <a:latin typeface="Montserrat" panose="00000500000000000000" pitchFamily="2" charset="-52"/>
                  </a:rPr>
                  <a:t>, то матрица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en-US" dirty="0">
                    <a:latin typeface="Montserrat" panose="00000500000000000000" pitchFamily="2" charset="-52"/>
                  </a:rPr>
                  <a:t> </a:t>
                </a:r>
                <a:r>
                  <a:rPr lang="ru-RU" dirty="0">
                    <a:latin typeface="Montserrat" panose="00000500000000000000" pitchFamily="2" charset="-52"/>
                  </a:rPr>
                  <a:t>будет иметь вид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ru-RU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ru-RU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dirty="0">
                    <a:latin typeface="Montserrat" panose="00000500000000000000" pitchFamily="2" charset="-52"/>
                  </a:rPr>
                  <a:t>, </a:t>
                </a:r>
                <a:r>
                  <a:rPr lang="ru-RU" dirty="0">
                    <a:latin typeface="Montserrat" panose="00000500000000000000" pitchFamily="2" charset="-52"/>
                  </a:rPr>
                  <a:t>где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dirty="0">
                    <a:latin typeface="Montserrat" panose="00000500000000000000" pitchFamily="2" charset="-52"/>
                  </a:rPr>
                  <a:t> – </a:t>
                </a:r>
                <a:r>
                  <a:rPr lang="ru-RU" dirty="0">
                    <a:latin typeface="Montserrat" panose="00000500000000000000" pitchFamily="2" charset="-52"/>
                  </a:rPr>
                  <a:t>матрица оператора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𝜑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"/>
                            <m:endChr m:val="|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ru-RU"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</m:d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𝑈</m:t>
                        </m:r>
                      </m:sub>
                    </m:sSub>
                  </m:oMath>
                </a14:m>
                <a:r>
                  <a:rPr lang="ru-RU" dirty="0">
                    <a:latin typeface="Montserrat" panose="00000500000000000000" pitchFamily="2" charset="-52"/>
                  </a:rPr>
                  <a:t> и наоборот.</a:t>
                </a:r>
              </a:p>
              <a:p>
                <a:pPr algn="just"/>
                <a:endParaRPr lang="ru-RU" dirty="0">
                  <a:latin typeface="Montserrat" panose="00000500000000000000" pitchFamily="2" charset="-52"/>
                </a:endParaRPr>
              </a:p>
              <a:p>
                <a:pPr algn="just"/>
                <a:r>
                  <a:rPr lang="ru-RU" dirty="0">
                    <a:latin typeface="Montserrat" panose="00000500000000000000" pitchFamily="2" charset="-52"/>
                  </a:rPr>
                  <a:t>Если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⊕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⊕…⊕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dirty="0">
                    <a:latin typeface="Montserrat" panose="00000500000000000000" pitchFamily="2" charset="-52"/>
                  </a:rPr>
                  <a:t>, </a:t>
                </a:r>
                <a:r>
                  <a:rPr lang="ru-RU" dirty="0">
                    <a:latin typeface="Montserrat" panose="00000500000000000000" pitchFamily="2" charset="-52"/>
                  </a:rPr>
                  <a:t>в собственном базисе матрица примет блочно-диагональный вид.</a:t>
                </a:r>
              </a:p>
              <a:p>
                <a:pPr algn="just"/>
                <a:endParaRPr lang="ru-RU" dirty="0">
                  <a:latin typeface="Montserrat" panose="00000500000000000000" pitchFamily="2" charset="-52"/>
                </a:endParaRPr>
              </a:p>
              <a:p>
                <a:pPr algn="just"/>
                <a:endParaRPr lang="ru-RU" dirty="0">
                  <a:latin typeface="Montserrat" panose="00000500000000000000" pitchFamily="2" charset="-52"/>
                </a:endParaRPr>
              </a:p>
              <a:p>
                <a:pPr algn="just"/>
                <a:endParaRPr lang="ru-RU" dirty="0">
                  <a:latin typeface="Montserrat" panose="00000500000000000000" pitchFamily="2" charset="-52"/>
                </a:endParaRPr>
              </a:p>
              <a:p>
                <a:pPr algn="just"/>
                <a:r>
                  <a:rPr lang="ru-RU" b="1" dirty="0">
                    <a:latin typeface="Montserrat" panose="00000500000000000000" pitchFamily="2" charset="-52"/>
                  </a:rPr>
                  <a:t>Примеры.</a:t>
                </a:r>
              </a:p>
              <a:p>
                <a:pPr algn="just"/>
                <a:r>
                  <a:rPr lang="ru-RU" dirty="0">
                    <a:latin typeface="Montserrat" panose="00000500000000000000" pitchFamily="2" charset="-52"/>
                  </a:rPr>
                  <a:t>а) Инвариантные подпространства оператора дифференцирования в </a:t>
                </a:r>
                <a14:m>
                  <m:oMath xmlns:m="http://schemas.openxmlformats.org/officeDocument/2006/math">
                    <m:r>
                      <a:rPr lang="ru-RU" i="1" dirty="0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ru-RU" i="1" dirty="0" smtClean="0">
                        <a:latin typeface="Cambria Math" panose="02040503050406030204" pitchFamily="18" charset="0"/>
                      </a:rPr>
                      <m:t>⩽</m:t>
                    </m:r>
                    <m:r>
                      <a:rPr lang="ru-RU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ru-RU" i="1" dirty="0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ru-RU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ru-RU" i="1" dirty="0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ru-RU" dirty="0">
                    <a:latin typeface="Montserrat" panose="00000500000000000000" pitchFamily="2" charset="-52"/>
                  </a:rPr>
                  <a:t> имеют вид </a:t>
                </a:r>
                <a14:m>
                  <m:oMath xmlns:m="http://schemas.openxmlformats.org/officeDocument/2006/math">
                    <m:r>
                      <a:rPr lang="ru-RU" i="1" dirty="0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ru-RU" i="1" dirty="0" smtClean="0">
                        <a:latin typeface="Cambria Math" panose="02040503050406030204" pitchFamily="18" charset="0"/>
                      </a:rPr>
                      <m:t>⩽</m:t>
                    </m:r>
                    <m:r>
                      <a:rPr lang="ru-RU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ru-RU" i="1" dirty="0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ru-RU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ru-RU" i="1" dirty="0" smtClean="0">
                        <a:latin typeface="Cambria Math" panose="02040503050406030204" pitchFamily="18" charset="0"/>
                      </a:rPr>
                      <m:t>], </m:t>
                    </m:r>
                    <m:r>
                      <a:rPr lang="ru-RU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ru-RU" i="1" dirty="0" smtClean="0">
                        <a:latin typeface="Cambria Math" panose="02040503050406030204" pitchFamily="18" charset="0"/>
                      </a:rPr>
                      <m:t> ⩽ </m:t>
                    </m:r>
                    <m:r>
                      <a:rPr lang="ru-RU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ru-RU" dirty="0">
                    <a:latin typeface="Montserrat" panose="00000500000000000000" pitchFamily="2" charset="-52"/>
                  </a:rPr>
                  <a:t>.</a:t>
                </a:r>
              </a:p>
              <a:p>
                <a:pPr algn="just"/>
                <a:r>
                  <a:rPr lang="ru-RU" dirty="0">
                    <a:latin typeface="Montserrat" panose="00000500000000000000" pitchFamily="2" charset="-52"/>
                  </a:rPr>
                  <a:t>б) Поворот на угол вокруг оси.</a:t>
                </a:r>
                <a:endParaRPr lang="en-US" dirty="0">
                  <a:latin typeface="Montserrat" panose="00000500000000000000" pitchFamily="2" charset="-52"/>
                </a:endParaRP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573237D-00C8-032D-B9FC-760E356657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933061"/>
                <a:ext cx="10778412" cy="4984378"/>
              </a:xfrm>
              <a:prstGeom prst="rect">
                <a:avLst/>
              </a:prstGeom>
              <a:blipFill>
                <a:blip r:embed="rId2"/>
                <a:stretch>
                  <a:fillRect l="-509" t="-489" r="-452" b="-97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8990750-9E42-C56A-0705-D8AFC5F7B9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0483" y="3563749"/>
            <a:ext cx="1933845" cy="1305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64160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AD3CAB-42AF-DCA3-4E4E-6C913B1DD0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1BE02FC-857E-B3E5-03CE-B20C0B9C0B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9844"/>
            <a:ext cx="10451841" cy="455969"/>
          </a:xfrm>
        </p:spPr>
        <p:txBody>
          <a:bodyPr>
            <a:normAutofit/>
          </a:bodyPr>
          <a:lstStyle/>
          <a:p>
            <a:r>
              <a:rPr lang="ru-RU" dirty="0"/>
              <a:t>6. Собственные векторы, значения. Собственное подпространство.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7A39F4E-A896-B1A7-8B3A-BBFF9733A62F}"/>
                  </a:ext>
                </a:extLst>
              </p:cNvPr>
              <p:cNvSpPr txBox="1"/>
              <p:nvPr/>
            </p:nvSpPr>
            <p:spPr>
              <a:xfrm>
                <a:off x="838200" y="815813"/>
                <a:ext cx="10778412" cy="56323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ru-RU" dirty="0">
                    <a:latin typeface="Montserrat" panose="00000500000000000000" pitchFamily="2" charset="-52"/>
                  </a:rPr>
                  <a:t>Ненулевой вектор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dirty="0">
                    <a:latin typeface="Montserrat" panose="00000500000000000000" pitchFamily="2" charset="-52"/>
                  </a:rPr>
                  <a:t> </a:t>
                </a:r>
                <a:r>
                  <a:rPr lang="ru-RU" dirty="0">
                    <a:latin typeface="Montserrat" panose="00000500000000000000" pitchFamily="2" charset="-52"/>
                  </a:rPr>
                  <a:t>называется </a:t>
                </a:r>
                <a:r>
                  <a:rPr lang="ru-RU" b="1" dirty="0">
                    <a:latin typeface="Montserrat" panose="00000500000000000000" pitchFamily="2" charset="-52"/>
                  </a:rPr>
                  <a:t>собственным вектором </a:t>
                </a:r>
                <a:r>
                  <a:rPr lang="ru-RU" dirty="0">
                    <a:latin typeface="Montserrat" panose="00000500000000000000" pitchFamily="2" charset="-52"/>
                  </a:rPr>
                  <a:t>оператора </a:t>
                </a:r>
                <a14:m>
                  <m:oMath xmlns:m="http://schemas.openxmlformats.org/officeDocument/2006/math">
                    <m:r>
                      <a:rPr lang="ru-RU" b="0" i="1" smtClean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en-US" dirty="0">
                    <a:latin typeface="Montserrat" panose="00000500000000000000" pitchFamily="2" charset="-52"/>
                  </a:rPr>
                  <a:t>, </a:t>
                </a:r>
                <a:r>
                  <a:rPr lang="ru-RU" dirty="0">
                    <a:latin typeface="Montserrat" panose="00000500000000000000" pitchFamily="2" charset="-52"/>
                  </a:rPr>
                  <a:t>если</a:t>
                </a:r>
                <a:r>
                  <a:rPr lang="en-US" dirty="0">
                    <a:latin typeface="Montserrat" panose="00000500000000000000" pitchFamily="2" charset="-52"/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ru-RU" dirty="0">
                    <a:latin typeface="Montserrat" panose="00000500000000000000" pitchFamily="2" charset="-52"/>
                  </a:rPr>
                  <a:t>. Число </a:t>
                </a:r>
                <a14:m>
                  <m:oMath xmlns:m="http://schemas.openxmlformats.org/officeDocument/2006/math">
                    <m:r>
                      <a:rPr lang="ru-RU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𝕂</m:t>
                    </m:r>
                  </m:oMath>
                </a14:m>
                <a:r>
                  <a:rPr lang="en-US" dirty="0">
                    <a:latin typeface="Montserrat" panose="00000500000000000000" pitchFamily="2" charset="-52"/>
                  </a:rPr>
                  <a:t> </a:t>
                </a:r>
                <a:r>
                  <a:rPr lang="ru-RU" dirty="0">
                    <a:latin typeface="Montserrat" panose="00000500000000000000" pitchFamily="2" charset="-52"/>
                  </a:rPr>
                  <a:t>называется </a:t>
                </a:r>
                <a:r>
                  <a:rPr lang="ru-RU" b="1" dirty="0">
                    <a:latin typeface="Montserrat" panose="00000500000000000000" pitchFamily="2" charset="-52"/>
                  </a:rPr>
                  <a:t>собственным значением (числом)</a:t>
                </a:r>
                <a:r>
                  <a:rPr lang="ru-RU" dirty="0">
                    <a:latin typeface="Montserrat" panose="00000500000000000000" pitchFamily="2" charset="-52"/>
                  </a:rPr>
                  <a:t> оператора 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ru-RU" dirty="0">
                    <a:latin typeface="Montserrat" panose="00000500000000000000" pitchFamily="2" charset="-52"/>
                  </a:rPr>
                  <a:t>, отвечающим собственному вектору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>
                    <a:latin typeface="Montserrat" panose="00000500000000000000" pitchFamily="2" charset="-52"/>
                  </a:rPr>
                  <a:t>.</a:t>
                </a:r>
              </a:p>
              <a:p>
                <a:pPr algn="just"/>
                <a:r>
                  <a:rPr lang="en-US" b="1" dirty="0">
                    <a:latin typeface="Montserrat" panose="00000500000000000000" pitchFamily="2" charset="-52"/>
                  </a:rPr>
                  <a:t>NB</a:t>
                </a:r>
                <a:r>
                  <a:rPr lang="en-US" dirty="0">
                    <a:latin typeface="Montserrat" panose="00000500000000000000" pitchFamily="2" charset="-52"/>
                  </a:rPr>
                  <a:t> </a:t>
                </a:r>
                <a:r>
                  <a:rPr lang="ru-RU" dirty="0">
                    <a:latin typeface="Montserrat" panose="00000500000000000000" pitchFamily="2" charset="-52"/>
                  </a:rPr>
                  <a:t>Число </a:t>
                </a:r>
                <a14:m>
                  <m:oMath xmlns:m="http://schemas.openxmlformats.org/officeDocument/2006/math">
                    <m:r>
                      <a:rPr lang="ru-RU" i="1" dirty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ru-RU" i="1" dirty="0">
                        <a:latin typeface="Cambria Math" panose="02040503050406030204" pitchFamily="18" charset="0"/>
                      </a:rPr>
                      <m:t> ∈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𝕂</m:t>
                    </m:r>
                  </m:oMath>
                </a14:m>
                <a:r>
                  <a:rPr lang="en-US" dirty="0">
                    <a:latin typeface="Montserrat" panose="00000500000000000000" pitchFamily="2" charset="-52"/>
                  </a:rPr>
                  <a:t> </a:t>
                </a:r>
                <a:r>
                  <a:rPr lang="ru-RU" i="1" dirty="0">
                    <a:latin typeface="Montserrat" panose="00000500000000000000" pitchFamily="2" charset="-52"/>
                  </a:rPr>
                  <a:t>является собственным </a:t>
                </a:r>
                <a:r>
                  <a:rPr lang="ru-RU" dirty="0">
                    <a:latin typeface="Montserrat" panose="00000500000000000000" pitchFamily="2" charset="-52"/>
                  </a:rPr>
                  <a:t>для оператора </a:t>
                </a:r>
                <a14:m>
                  <m:oMath xmlns:m="http://schemas.openxmlformats.org/officeDocument/2006/math">
                    <m:r>
                      <a:rPr lang="ru-RU" i="1" dirty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ru-RU" dirty="0">
                    <a:latin typeface="Montserrat" panose="00000500000000000000" pitchFamily="2" charset="-52"/>
                  </a:rPr>
                  <a:t> тогда и</a:t>
                </a:r>
                <a:r>
                  <a:rPr lang="en-US" dirty="0">
                    <a:latin typeface="Montserrat" panose="00000500000000000000" pitchFamily="2" charset="-52"/>
                  </a:rPr>
                  <a:t> </a:t>
                </a:r>
                <a:r>
                  <a:rPr lang="ru-RU" dirty="0">
                    <a:latin typeface="Montserrat" panose="00000500000000000000" pitchFamily="2" charset="-52"/>
                  </a:rPr>
                  <a:t>только тогда, когда подпространство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ker</m:t>
                        </m:r>
                      </m:fName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𝜑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𝜆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⋅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𝐼𝑑</m:t>
                            </m:r>
                          </m:e>
                        </m:d>
                      </m:e>
                    </m:func>
                    <m:r>
                      <a:rPr lang="ru-RU" i="1" dirty="0">
                        <a:latin typeface="Cambria Math" panose="02040503050406030204" pitchFamily="18" charset="0"/>
                      </a:rPr>
                      <m:t>⩽ </m:t>
                    </m:r>
                    <m:r>
                      <a:rPr lang="ru-RU" i="1" dirty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ru-RU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dirty="0">
                    <a:latin typeface="Montserrat" panose="00000500000000000000" pitchFamily="2" charset="-52"/>
                  </a:rPr>
                  <a:t>ненулевое, то есть когда</a:t>
                </a:r>
                <a:r>
                  <a:rPr lang="en-US" dirty="0">
                    <a:latin typeface="Montserrat" panose="00000500000000000000" pitchFamily="2" charset="-52"/>
                  </a:rPr>
                  <a:t> </a:t>
                </a:r>
                <a:r>
                  <a:rPr lang="ru-RU" dirty="0">
                    <a:latin typeface="Montserrat" panose="00000500000000000000" pitchFamily="2" charset="-52"/>
                  </a:rPr>
                  <a:t>оператор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𝜑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𝐼𝑑</m:t>
                    </m:r>
                  </m:oMath>
                </a14:m>
                <a:r>
                  <a:rPr lang="ru-RU" dirty="0">
                    <a:latin typeface="Montserrat" panose="00000500000000000000" pitchFamily="2" charset="-52"/>
                  </a:rPr>
                  <a:t> вырожден, то есть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ru-RU" i="1" dirty="0">
                        <a:latin typeface="Cambria Math" panose="02040503050406030204" pitchFamily="18" charset="0"/>
                      </a:rPr>
                      <m:t>det</m:t>
                    </m:r>
                    <m:r>
                      <a:rPr lang="ru-RU" i="1" dirty="0">
                        <a:latin typeface="Cambria Math" panose="02040503050406030204" pitchFamily="18" charset="0"/>
                      </a:rPr>
                      <m:t>⁡(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𝜑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𝐼𝑑</m:t>
                    </m:r>
                    <m:r>
                      <a:rPr lang="ru-RU" i="1" dirty="0">
                        <a:latin typeface="Cambria Math" panose="02040503050406030204" pitchFamily="18" charset="0"/>
                      </a:rPr>
                      <m:t>) = 0</m:t>
                    </m:r>
                    <m:r>
                      <a:rPr lang="en-US" dirty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dirty="0">
                  <a:latin typeface="Montserrat" panose="00000500000000000000" pitchFamily="2" charset="-52"/>
                </a:endParaRPr>
              </a:p>
              <a:p>
                <a:pPr algn="just"/>
                <a:endParaRPr lang="en-US" dirty="0">
                  <a:latin typeface="Montserrat" panose="00000500000000000000" pitchFamily="2" charset="-52"/>
                </a:endParaRPr>
              </a:p>
              <a:p>
                <a:pPr algn="just"/>
                <a:r>
                  <a:rPr lang="ru-RU" dirty="0">
                    <a:latin typeface="Montserrat" panose="00000500000000000000" pitchFamily="2" charset="-52"/>
                  </a:rPr>
                  <a:t>Подпространство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ker</m:t>
                        </m:r>
                      </m:fName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𝜑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𝜆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⋅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𝐼𝑑</m:t>
                            </m:r>
                          </m:e>
                        </m:d>
                      </m:e>
                    </m:func>
                  </m:oMath>
                </a14:m>
                <a:r>
                  <a:rPr lang="en-US" dirty="0">
                    <a:latin typeface="Montserrat" panose="00000500000000000000" pitchFamily="2" charset="-52"/>
                  </a:rPr>
                  <a:t> </a:t>
                </a:r>
                <a:r>
                  <a:rPr lang="ru-RU" dirty="0">
                    <a:latin typeface="Montserrat" panose="00000500000000000000" pitchFamily="2" charset="-52"/>
                  </a:rPr>
                  <a:t>называется </a:t>
                </a:r>
                <a:r>
                  <a:rPr lang="ru-RU" b="1" dirty="0">
                    <a:latin typeface="Montserrat" panose="00000500000000000000" pitchFamily="2" charset="-52"/>
                  </a:rPr>
                  <a:t>собственным подпространством</a:t>
                </a:r>
                <a:r>
                  <a:rPr lang="ru-RU" dirty="0">
                    <a:latin typeface="Montserrat" panose="00000500000000000000" pitchFamily="2" charset="-52"/>
                  </a:rPr>
                  <a:t> оператора 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ru-RU" dirty="0">
                    <a:latin typeface="Montserrat" panose="00000500000000000000" pitchFamily="2" charset="-52"/>
                  </a:rPr>
                  <a:t>, соответствующим собственному значению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ru-RU" dirty="0">
                    <a:latin typeface="Montserrat" panose="00000500000000000000" pitchFamily="2" charset="-52"/>
                  </a:rPr>
                  <a:t> и обозначается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>
                    <a:latin typeface="Montserrat" panose="00000500000000000000" pitchFamily="2" charset="-52"/>
                  </a:rPr>
                  <a:t>. </a:t>
                </a:r>
              </a:p>
              <a:p>
                <a:pPr algn="just"/>
                <a:r>
                  <a:rPr lang="en-US" b="1" dirty="0">
                    <a:latin typeface="Montserrat" panose="00000500000000000000" pitchFamily="2" charset="-52"/>
                  </a:rPr>
                  <a:t>NB</a:t>
                </a:r>
                <a:r>
                  <a:rPr lang="en-US" dirty="0">
                    <a:latin typeface="Montserrat" panose="00000500000000000000" pitchFamily="2" charset="-52"/>
                  </a:rPr>
                  <a:t> </a:t>
                </a:r>
                <a:r>
                  <a:rPr lang="ru-RU" dirty="0">
                    <a:latin typeface="Montserrat" panose="00000500000000000000" pitchFamily="2" charset="-52"/>
                  </a:rPr>
                  <a:t>Любое собственное подпространство оператора </a:t>
                </a:r>
                <a14:m>
                  <m:oMath xmlns:m="http://schemas.openxmlformats.org/officeDocument/2006/math">
                    <m:r>
                      <a:rPr lang="ru-RU" i="1" dirty="0" smtClean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ru-RU" dirty="0">
                    <a:latin typeface="Montserrat" panose="00000500000000000000" pitchFamily="2" charset="-52"/>
                  </a:rPr>
                  <a:t> является </a:t>
                </a:r>
                <a14:m>
                  <m:oMath xmlns:m="http://schemas.openxmlformats.org/officeDocument/2006/math">
                    <m:r>
                      <a:rPr lang="ru-RU" i="1" dirty="0" smtClean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ru-RU" dirty="0">
                    <a:latin typeface="Montserrat" panose="00000500000000000000" pitchFamily="2" charset="-52"/>
                  </a:rPr>
                  <a:t>-инвариантным.</a:t>
                </a:r>
                <a:endParaRPr lang="en-US" dirty="0">
                  <a:latin typeface="Montserrat" panose="00000500000000000000" pitchFamily="2" charset="-52"/>
                </a:endParaRPr>
              </a:p>
              <a:p>
                <a:pPr algn="just"/>
                <a:endParaRPr lang="en-US" dirty="0">
                  <a:latin typeface="Montserrat" panose="00000500000000000000" pitchFamily="2" charset="-52"/>
                </a:endParaRPr>
              </a:p>
              <a:p>
                <a:pPr algn="just"/>
                <a:r>
                  <a:rPr lang="ru-RU" b="1" dirty="0">
                    <a:latin typeface="Montserrat" panose="00000500000000000000" pitchFamily="2" charset="-52"/>
                  </a:rPr>
                  <a:t>Геометрической кратностью</a:t>
                </a:r>
                <a:r>
                  <a:rPr lang="ru-RU" dirty="0">
                    <a:latin typeface="Montserrat" panose="00000500000000000000" pitchFamily="2" charset="-52"/>
                  </a:rPr>
                  <a:t> </a:t>
                </a:r>
                <a14:m>
                  <m:oMath xmlns:m="http://schemas.openxmlformats.org/officeDocument/2006/math">
                    <m:r>
                      <a:rPr lang="ru-RU" i="1" dirty="0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ru-RU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ru-RU" i="1" dirty="0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ru-RU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dirty="0">
                    <a:latin typeface="Montserrat" panose="00000500000000000000" pitchFamily="2" charset="-52"/>
                  </a:rPr>
                  <a:t> собственного значения </a:t>
                </a:r>
                <a14:m>
                  <m:oMath xmlns:m="http://schemas.openxmlformats.org/officeDocument/2006/math">
                    <m:r>
                      <a:rPr lang="ru-RU" i="1" dirty="0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ru-RU" dirty="0">
                    <a:latin typeface="Montserrat" panose="00000500000000000000" pitchFamily="2" charset="-52"/>
                  </a:rPr>
                  <a:t> называется размерность соответствующего ему собственного подпространства: </a:t>
                </a:r>
                <a14:m>
                  <m:oMath xmlns:m="http://schemas.openxmlformats.org/officeDocument/2006/math">
                    <m:r>
                      <a:rPr lang="ru-RU" i="1" dirty="0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ru-RU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i="1" dirty="0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</m:d>
                    <m:r>
                      <a:rPr lang="ru-RU" i="1" dirty="0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ru-RU" i="0" dirty="0" err="1" smtClean="0">
                            <a:latin typeface="Cambria Math" panose="02040503050406030204" pitchFamily="18" charset="0"/>
                          </a:rPr>
                          <m:t>dim</m:t>
                        </m:r>
                      </m:fName>
                      <m:e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i="1" dirty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ru-RU" i="1" dirty="0">
                                <a:latin typeface="Cambria Math" panose="02040503050406030204" pitchFamily="18" charset="0"/>
                              </a:rPr>
                              <m:t>𝜆</m:t>
                            </m:r>
                          </m:sub>
                        </m:sSub>
                      </m:e>
                    </m:func>
                  </m:oMath>
                </a14:m>
                <a:r>
                  <a:rPr lang="ru-RU" dirty="0">
                    <a:latin typeface="Montserrat" panose="00000500000000000000" pitchFamily="2" charset="-52"/>
                  </a:rPr>
                  <a:t>.</a:t>
                </a:r>
                <a:endParaRPr lang="en-US" dirty="0">
                  <a:latin typeface="Montserrat" panose="00000500000000000000" pitchFamily="2" charset="-52"/>
                </a:endParaRPr>
              </a:p>
              <a:p>
                <a:pPr algn="just"/>
                <a:endParaRPr lang="en-US" dirty="0">
                  <a:latin typeface="Montserrat" panose="00000500000000000000" pitchFamily="2" charset="-52"/>
                </a:endParaRPr>
              </a:p>
              <a:p>
                <a:pPr algn="just"/>
                <a:r>
                  <a:rPr lang="ru-RU" b="1" dirty="0">
                    <a:latin typeface="Montserrat" panose="00000500000000000000" pitchFamily="2" charset="-52"/>
                  </a:rPr>
                  <a:t>Примеры</a:t>
                </a:r>
                <a:r>
                  <a:rPr lang="ru-RU" dirty="0">
                    <a:latin typeface="Montserrat" panose="00000500000000000000" pitchFamily="2" charset="-52"/>
                  </a:rPr>
                  <a:t>. </a:t>
                </a:r>
              </a:p>
              <a:p>
                <a:pPr algn="just"/>
                <a:r>
                  <a:rPr lang="ru-RU" dirty="0">
                    <a:latin typeface="Montserrat" panose="00000500000000000000" pitchFamily="2" charset="-52"/>
                  </a:rPr>
                  <a:t>а</a:t>
                </a:r>
                <a:r>
                  <a:rPr lang="en-US" dirty="0">
                    <a:latin typeface="Montserrat" panose="00000500000000000000" pitchFamily="2" charset="-52"/>
                  </a:rPr>
                  <a:t>)</a:t>
                </a:r>
                <a:r>
                  <a:rPr lang="ru-RU" dirty="0">
                    <a:latin typeface="Montserrat" panose="00000500000000000000" pitchFamily="2" charset="-52"/>
                  </a:rPr>
                  <a:t> Для нулевого оператора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lang="en-US" dirty="0">
                    <a:latin typeface="Montserrat" panose="00000500000000000000" pitchFamily="2" charset="-52"/>
                  </a:rPr>
                  <a:t>: </a:t>
                </a:r>
                <a:r>
                  <a:rPr lang="ru-RU" dirty="0">
                    <a:latin typeface="Montserrat" panose="00000500000000000000" pitchFamily="2" charset="-52"/>
                  </a:rPr>
                  <a:t>любой вектор – СВ с СЗ = 0; </a:t>
                </a:r>
                <a:endParaRPr lang="en-US" dirty="0">
                  <a:latin typeface="Montserrat" panose="00000500000000000000" pitchFamily="2" charset="-52"/>
                </a:endParaRPr>
              </a:p>
              <a:p>
                <a:pPr algn="just"/>
                <a:r>
                  <a:rPr lang="ru-RU" dirty="0">
                    <a:latin typeface="Montserrat" panose="00000500000000000000" pitchFamily="2" charset="-52"/>
                  </a:rPr>
                  <a:t>б) Для тождественного оператора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𝐼𝑑</m:t>
                    </m:r>
                  </m:oMath>
                </a14:m>
                <a:r>
                  <a:rPr lang="en-US" dirty="0">
                    <a:latin typeface="Montserrat" panose="00000500000000000000" pitchFamily="2" charset="-52"/>
                  </a:rPr>
                  <a:t>: </a:t>
                </a:r>
                <a:r>
                  <a:rPr lang="ru-RU" dirty="0">
                    <a:latin typeface="Montserrat" panose="00000500000000000000" pitchFamily="2" charset="-52"/>
                  </a:rPr>
                  <a:t>любой вектор – СВ с СЗ = 1; </a:t>
                </a:r>
                <a:endParaRPr lang="en-US" dirty="0">
                  <a:latin typeface="Montserrat" panose="00000500000000000000" pitchFamily="2" charset="-52"/>
                </a:endParaRPr>
              </a:p>
              <a:p>
                <a:pPr algn="just"/>
                <a:r>
                  <a:rPr lang="ru-RU" dirty="0">
                    <a:latin typeface="Montserrat" panose="00000500000000000000" pitchFamily="2" charset="-52"/>
                  </a:rPr>
                  <a:t>в) Для оператора «растяжения» </a:t>
                </a:r>
                <a14:m>
                  <m:oMath xmlns:m="http://schemas.openxmlformats.org/officeDocument/2006/math">
                    <m:r>
                      <a:rPr lang="ru-RU" i="1" dirty="0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𝐼𝑑</m:t>
                    </m:r>
                  </m:oMath>
                </a14:m>
                <a:r>
                  <a:rPr lang="en-US" dirty="0">
                    <a:latin typeface="Montserrat" panose="00000500000000000000" pitchFamily="2" charset="-52"/>
                  </a:rPr>
                  <a:t>: </a:t>
                </a:r>
                <a:r>
                  <a:rPr lang="ru-RU" dirty="0">
                    <a:latin typeface="Montserrat" panose="00000500000000000000" pitchFamily="2" charset="-52"/>
                  </a:rPr>
                  <a:t>любой вектор – СВ с СЗ = </a:t>
                </a:r>
                <a14:m>
                  <m:oMath xmlns:m="http://schemas.openxmlformats.org/officeDocument/2006/math">
                    <m:r>
                      <a:rPr lang="ru-RU" i="1" dirty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dirty="0">
                    <a:latin typeface="Montserrat" panose="00000500000000000000" pitchFamily="2" charset="-52"/>
                  </a:rPr>
                  <a:t>.</a:t>
                </a:r>
                <a:endParaRPr lang="ru-RU" dirty="0">
                  <a:latin typeface="Montserrat" panose="00000500000000000000" pitchFamily="2" charset="-52"/>
                </a:endParaRPr>
              </a:p>
              <a:p>
                <a:pPr algn="just"/>
                <a:r>
                  <a:rPr lang="ru-RU" dirty="0">
                    <a:latin typeface="Montserrat" panose="00000500000000000000" pitchFamily="2" charset="-52"/>
                  </a:rPr>
                  <a:t>е) Для оператора дифференцирования </a:t>
                </a:r>
                <a14:m>
                  <m:oMath xmlns:m="http://schemas.openxmlformats.org/officeDocument/2006/math">
                    <m:r>
                      <a:rPr lang="ru-RU" i="1" dirty="0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ru-RU" i="1" dirty="0" smtClean="0">
                        <a:latin typeface="Cambria Math" panose="02040503050406030204" pitchFamily="18" charset="0"/>
                      </a:rPr>
                      <m:t> : </m:t>
                    </m:r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ru-RU" i="1" dirty="0" err="1" smtClean="0">
                            <a:latin typeface="Cambria Math" panose="02040503050406030204" pitchFamily="18" charset="0"/>
                          </a:rPr>
                          <m:t>⩽</m:t>
                        </m:r>
                        <m:r>
                          <a:rPr lang="ru-RU" i="1" dirty="0" err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ru-RU" i="1" dirty="0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ru-RU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ru-RU" i="1" dirty="0" smtClean="0">
                        <a:latin typeface="Cambria Math" panose="02040503050406030204" pitchFamily="18" charset="0"/>
                      </a:rPr>
                      <m:t>] → </m:t>
                    </m:r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ru-RU" i="1" dirty="0" err="1" smtClean="0">
                            <a:latin typeface="Cambria Math" panose="02040503050406030204" pitchFamily="18" charset="0"/>
                          </a:rPr>
                          <m:t>⩽</m:t>
                        </m:r>
                        <m:r>
                          <a:rPr lang="ru-RU" i="1" dirty="0" err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ru-RU" i="1" dirty="0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ru-RU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ru-RU" i="1" dirty="0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ru-RU" dirty="0">
                    <a:latin typeface="Montserrat" panose="00000500000000000000" pitchFamily="2" charset="-52"/>
                  </a:rPr>
                  <a:t> собственными</a:t>
                </a:r>
              </a:p>
              <a:p>
                <a:pPr algn="just"/>
                <a:r>
                  <a:rPr lang="ru-RU" dirty="0">
                    <a:latin typeface="Montserrat" panose="00000500000000000000" pitchFamily="2" charset="-52"/>
                  </a:rPr>
                  <a:t>являются константы, соответствующие СЗ = 0.</a:t>
                </a:r>
                <a:endParaRPr lang="en-US" dirty="0">
                  <a:latin typeface="Montserrat" panose="00000500000000000000" pitchFamily="2" charset="-52"/>
                </a:endParaRP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7A39F4E-A896-B1A7-8B3A-BBFF9733A6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815813"/>
                <a:ext cx="10778412" cy="5632311"/>
              </a:xfrm>
              <a:prstGeom prst="rect">
                <a:avLst/>
              </a:prstGeom>
              <a:blipFill>
                <a:blip r:embed="rId2"/>
                <a:stretch>
                  <a:fillRect l="-509" t="-541" r="-452" b="-86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710702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E9E385-F838-5557-AEEE-98417DD975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35F9D33-F62D-AFB3-0AF2-F6D31E9056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9844"/>
            <a:ext cx="10451841" cy="455969"/>
          </a:xfrm>
        </p:spPr>
        <p:txBody>
          <a:bodyPr>
            <a:normAutofit/>
          </a:bodyPr>
          <a:lstStyle/>
          <a:p>
            <a:r>
              <a:rPr lang="ru-RU" dirty="0"/>
              <a:t>7. Характеристический полином. Спектр оператора.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0D0B4E6-5146-1A5D-3FB0-AA4BC062311E}"/>
                  </a:ext>
                </a:extLst>
              </p:cNvPr>
              <p:cNvSpPr txBox="1"/>
              <p:nvPr/>
            </p:nvSpPr>
            <p:spPr>
              <a:xfrm>
                <a:off x="838200" y="815813"/>
                <a:ext cx="10778412" cy="50599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ru-RU" b="1" dirty="0">
                    <a:latin typeface="Montserrat" panose="00000500000000000000" pitchFamily="2" charset="-52"/>
                  </a:rPr>
                  <a:t>Характеристический полином </a:t>
                </a:r>
                <a:r>
                  <a:rPr lang="ru-RU" dirty="0">
                    <a:latin typeface="Montserrat" panose="00000500000000000000" pitchFamily="2" charset="-52"/>
                  </a:rPr>
                  <a:t>– многочлен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𝜒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𝜑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</m:d>
                    <m:r>
                      <a:rPr lang="ru-RU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det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⁡(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𝐼𝑑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latin typeface="Montserrat" panose="00000500000000000000" pitchFamily="2" charset="-52"/>
                  </a:rPr>
                  <a:t>, </a:t>
                </a:r>
                <a:r>
                  <a:rPr lang="ru-RU" dirty="0">
                    <a:latin typeface="Montserrat" panose="00000500000000000000" pitchFamily="2" charset="-52"/>
                  </a:rPr>
                  <a:t>его корни – </a:t>
                </a:r>
                <a:r>
                  <a:rPr lang="ru-RU" b="1" dirty="0">
                    <a:latin typeface="Montserrat" panose="00000500000000000000" pitchFamily="2" charset="-52"/>
                  </a:rPr>
                  <a:t>характеристические числа </a:t>
                </a:r>
                <a14:m>
                  <m:oMath xmlns:m="http://schemas.openxmlformats.org/officeDocument/2006/math">
                    <m:r>
                      <a:rPr lang="ru-RU" b="0" i="1" smtClean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ru-RU" dirty="0">
                    <a:latin typeface="Montserrat" panose="00000500000000000000" pitchFamily="2" charset="-52"/>
                  </a:rPr>
                  <a:t>.</a:t>
                </a:r>
                <a:endParaRPr lang="en-US" dirty="0">
                  <a:latin typeface="Montserrat" panose="00000500000000000000" pitchFamily="2" charset="-52"/>
                </a:endParaRPr>
              </a:p>
              <a:p>
                <a:pPr algn="just"/>
                <a:r>
                  <a:rPr lang="en-US" b="1" dirty="0">
                    <a:latin typeface="Montserrat" panose="00000500000000000000" pitchFamily="2" charset="-52"/>
                  </a:rPr>
                  <a:t>NB</a:t>
                </a:r>
                <a:r>
                  <a:rPr lang="en-US" dirty="0">
                    <a:latin typeface="Montserrat" panose="00000500000000000000" pitchFamily="2" charset="-52"/>
                  </a:rPr>
                  <a:t>.</a:t>
                </a:r>
                <a:r>
                  <a:rPr lang="ru-RU" dirty="0">
                    <a:latin typeface="Montserrat" panose="00000500000000000000" pitchFamily="2" charset="-52"/>
                  </a:rPr>
                  <a:t> Только в комплексном поле все характеристические числа являются собственными.</a:t>
                </a:r>
              </a:p>
              <a:p>
                <a:pPr algn="just"/>
                <a:r>
                  <a:rPr lang="en-US" b="1" dirty="0">
                    <a:latin typeface="Montserrat" panose="00000500000000000000" pitchFamily="2" charset="-52"/>
                  </a:rPr>
                  <a:t>NB</a:t>
                </a:r>
                <a:r>
                  <a:rPr lang="en-US" dirty="0">
                    <a:latin typeface="Montserrat" panose="00000500000000000000" pitchFamily="2" charset="-52"/>
                  </a:rPr>
                  <a:t>.</a:t>
                </a:r>
                <a:r>
                  <a:rPr lang="ru-RU" dirty="0">
                    <a:latin typeface="Montserrat" panose="00000500000000000000" pitchFamily="2" charset="-52"/>
                  </a:rPr>
                  <a:t> Если </a:t>
                </a:r>
                <a14:m>
                  <m:oMath xmlns:m="http://schemas.openxmlformats.org/officeDocument/2006/math">
                    <m:r>
                      <a:rPr lang="ru-RU" b="0" i="1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dirty="0">
                    <a:latin typeface="Montserrat" panose="00000500000000000000" pitchFamily="2" charset="-52"/>
                  </a:rPr>
                  <a:t> </a:t>
                </a:r>
                <a:r>
                  <a:rPr lang="ru-RU" dirty="0">
                    <a:latin typeface="Montserrat" panose="00000500000000000000" pitchFamily="2" charset="-52"/>
                  </a:rPr>
                  <a:t>является  СЧ, то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det</m:t>
                        </m:r>
                      </m:fName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𝜑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𝜆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⋅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𝐼𝑑</m:t>
                            </m:r>
                          </m:e>
                        </m:d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>
                    <a:latin typeface="Montserrat" panose="00000500000000000000" pitchFamily="2" charset="-52"/>
                  </a:rPr>
                  <a:t>, </a:t>
                </a:r>
                <a:r>
                  <a:rPr lang="ru-RU" dirty="0">
                    <a:latin typeface="Montserrat" panose="00000500000000000000" pitchFamily="2" charset="-52"/>
                  </a:rPr>
                  <a:t>следовательно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ker</m:t>
                        </m:r>
                      </m:fName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𝜑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𝜆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⋅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𝐼𝑑</m:t>
                            </m:r>
                          </m:e>
                        </m:d>
                      </m:e>
                    </m:func>
                  </m:oMath>
                </a14:m>
                <a:r>
                  <a:rPr lang="en-US" dirty="0">
                    <a:latin typeface="Montserrat" panose="00000500000000000000" pitchFamily="2" charset="-52"/>
                  </a:rPr>
                  <a:t> </a:t>
                </a:r>
                <a:r>
                  <a:rPr lang="ru-RU" dirty="0">
                    <a:latin typeface="Montserrat" panose="00000500000000000000" pitchFamily="2" charset="-52"/>
                  </a:rPr>
                  <a:t>содержит хотя бы один ненулевой вектор.</a:t>
                </a:r>
              </a:p>
              <a:p>
                <a:pPr algn="just"/>
                <a:endParaRPr lang="ru-RU" dirty="0">
                  <a:latin typeface="Montserrat" panose="00000500000000000000" pitchFamily="2" charset="-52"/>
                </a:endParaRPr>
              </a:p>
              <a:p>
                <a:pPr algn="just"/>
                <a:r>
                  <a:rPr lang="ru-RU" b="1" dirty="0">
                    <a:latin typeface="Montserrat" panose="00000500000000000000" pitchFamily="2" charset="-52"/>
                  </a:rPr>
                  <a:t>Спектр</a:t>
                </a:r>
                <a:r>
                  <a:rPr lang="ru-RU" dirty="0">
                    <a:latin typeface="Montserrat" panose="00000500000000000000" pitchFamily="2" charset="-5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𝜑</m:t>
                        </m:r>
                      </m:sub>
                    </m:sSub>
                  </m:oMath>
                </a14:m>
                <a:r>
                  <a:rPr lang="en-US" dirty="0">
                    <a:latin typeface="Montserrat" panose="00000500000000000000" pitchFamily="2" charset="-52"/>
                  </a:rPr>
                  <a:t> </a:t>
                </a:r>
                <a:r>
                  <a:rPr lang="ru-RU" dirty="0">
                    <a:latin typeface="Montserrat" panose="00000500000000000000" pitchFamily="2" charset="-52"/>
                  </a:rPr>
                  <a:t>линейного оператора 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ru-RU" dirty="0">
                    <a:latin typeface="Montserrat" panose="00000500000000000000" pitchFamily="2" charset="-52"/>
                  </a:rPr>
                  <a:t> – множество его собственных значений.</a:t>
                </a:r>
              </a:p>
              <a:p>
                <a:pPr algn="just"/>
                <a:endParaRPr lang="ru-RU" dirty="0">
                  <a:latin typeface="Montserrat" panose="00000500000000000000" pitchFamily="2" charset="-52"/>
                </a:endParaRPr>
              </a:p>
              <a:p>
                <a:pPr algn="just"/>
                <a:r>
                  <a:rPr lang="ru-RU" b="1" dirty="0">
                    <a:latin typeface="Montserrat" panose="00000500000000000000" pitchFamily="2" charset="-52"/>
                  </a:rPr>
                  <a:t>Алгебраической кратностью </a:t>
                </a:r>
                <a14:m>
                  <m:oMath xmlns:m="http://schemas.openxmlformats.org/officeDocument/2006/math">
                    <m:r>
                      <a:rPr lang="ru-RU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ru-RU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ru-RU" i="1" dirty="0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ru-RU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dirty="0">
                    <a:latin typeface="Montserrat" panose="00000500000000000000" pitchFamily="2" charset="-52"/>
                  </a:rPr>
                  <a:t> собственного значения </a:t>
                </a:r>
                <a14:m>
                  <m:oMath xmlns:m="http://schemas.openxmlformats.org/officeDocument/2006/math">
                    <m:r>
                      <a:rPr lang="ru-RU" i="1" dirty="0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ru-RU" dirty="0">
                    <a:latin typeface="Montserrat" panose="00000500000000000000" pitchFamily="2" charset="-52"/>
                  </a:rPr>
                  <a:t> называется его кратность как корня характеристического многочлена.</a:t>
                </a:r>
              </a:p>
              <a:p>
                <a:pPr algn="just"/>
                <a:endParaRPr lang="ru-RU" dirty="0">
                  <a:latin typeface="Montserrat" panose="00000500000000000000" pitchFamily="2" charset="-52"/>
                </a:endParaRPr>
              </a:p>
              <a:p>
                <a:pPr algn="just"/>
                <a:r>
                  <a:rPr lang="ru-RU" b="1" dirty="0">
                    <a:latin typeface="Montserrat" panose="00000500000000000000" pitchFamily="2" charset="-52"/>
                  </a:rPr>
                  <a:t>Лемма</a:t>
                </a:r>
                <a:r>
                  <a:rPr lang="ru-RU" dirty="0">
                    <a:latin typeface="Montserrat" panose="00000500000000000000" pitchFamily="2" charset="-52"/>
                  </a:rPr>
                  <a:t>. Геометрическая кратность собственного значения не превосходит его алгебраической кратности. </a:t>
                </a:r>
              </a:p>
              <a:p>
                <a:pPr algn="just"/>
                <a:r>
                  <a:rPr lang="ru-RU" b="1" dirty="0">
                    <a:latin typeface="Montserrat" panose="00000500000000000000" pitchFamily="2" charset="-52"/>
                  </a:rPr>
                  <a:t>Доказательство</a:t>
                </a:r>
                <a:r>
                  <a:rPr lang="ru-RU" dirty="0">
                    <a:latin typeface="Montserrat" panose="00000500000000000000" pitchFamily="2" charset="-52"/>
                  </a:rPr>
                  <a:t>. Рассмотрим собственное подпространство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dirty="0">
                    <a:latin typeface="Montserrat" panose="00000500000000000000" pitchFamily="2" charset="-52"/>
                  </a:rPr>
                  <a:t>, </a:t>
                </a:r>
                <a:r>
                  <a:rPr lang="ru-RU" dirty="0">
                    <a:latin typeface="Montserrat" panose="00000500000000000000" pitchFamily="2" charset="-52"/>
                  </a:rPr>
                  <a:t>оно инвариантно, значит, в собственном базисе: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dirty="0">
                    <a:latin typeface="Montserrat" panose="00000500000000000000" pitchFamily="2" charset="-52"/>
                  </a:rPr>
                  <a:t>, </a:t>
                </a:r>
                <a:r>
                  <a:rPr lang="ru-RU" dirty="0">
                    <a:latin typeface="Montserrat" panose="00000500000000000000" pitchFamily="2" charset="-52"/>
                  </a:rPr>
                  <a:t>матрица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ru-RU" dirty="0">
                    <a:latin typeface="Montserrat" panose="00000500000000000000" pitchFamily="2" charset="-52"/>
                  </a:rPr>
                  <a:t> квадратная размера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latin typeface="Montserrat" panose="00000500000000000000" pitchFamily="2" charset="-52"/>
                  </a:rPr>
                  <a:t>. </a:t>
                </a:r>
                <a:r>
                  <a:rPr lang="ru-RU" dirty="0">
                    <a:latin typeface="Montserrat" panose="00000500000000000000" pitchFamily="2" charset="-52"/>
                  </a:rPr>
                  <a:t>Но </a:t>
                </a:r>
                <a14:m>
                  <m:oMath xmlns:m="http://schemas.openxmlformats.org/officeDocument/2006/math">
                    <m:r>
                      <a:rPr lang="ru-RU" b="0" i="1" smtClean="0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US" dirty="0">
                    <a:latin typeface="Montserrat" panose="00000500000000000000" pitchFamily="2" charset="-52"/>
                  </a:rPr>
                  <a:t> </a:t>
                </a:r>
                <a:r>
                  <a:rPr lang="ru-RU" dirty="0">
                    <a:latin typeface="Montserrat" panose="00000500000000000000" pitchFamily="2" charset="-52"/>
                  </a:rPr>
                  <a:t>может быть корнем характеристического полинома</a:t>
                </a:r>
                <a:r>
                  <a:rPr lang="en-US" dirty="0">
                    <a:latin typeface="Montserrat" panose="00000500000000000000" pitchFamily="2" charset="-52"/>
                  </a:rPr>
                  <a:t> </a:t>
                </a:r>
                <a:r>
                  <a:rPr lang="ru-RU" dirty="0">
                    <a:latin typeface="Montserrat" panose="00000500000000000000" pitchFamily="2" charset="-52"/>
                  </a:rPr>
                  <a:t>и в матрице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dirty="0">
                    <a:latin typeface="Montserrat" panose="00000500000000000000" pitchFamily="2" charset="-52"/>
                  </a:rPr>
                  <a:t>. </a:t>
                </a:r>
                <a:r>
                  <a:rPr lang="ru-RU" dirty="0">
                    <a:latin typeface="Montserrat" panose="00000500000000000000" pitchFamily="2" charset="-52"/>
                  </a:rPr>
                  <a:t>Значит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𝑚</m:t>
                    </m:r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</m:d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latin typeface="Montserrat" panose="00000500000000000000" pitchFamily="2" charset="-52"/>
                  </a:rPr>
                  <a:t>.</a:t>
                </a:r>
                <a:endParaRPr lang="ru-RU" dirty="0">
                  <a:latin typeface="Montserrat" panose="00000500000000000000" pitchFamily="2" charset="-52"/>
                </a:endParaRP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0D0B4E6-5146-1A5D-3FB0-AA4BC06231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815813"/>
                <a:ext cx="10778412" cy="5059911"/>
              </a:xfrm>
              <a:prstGeom prst="rect">
                <a:avLst/>
              </a:prstGeom>
              <a:blipFill>
                <a:blip r:embed="rId2"/>
                <a:stretch>
                  <a:fillRect l="-509" t="-602" r="-452" b="-108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093802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9F1D19-0676-556A-99AA-8C562B6E57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7453600-4306-435E-D82E-39624B971D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9844"/>
            <a:ext cx="10451841" cy="455969"/>
          </a:xfrm>
        </p:spPr>
        <p:txBody>
          <a:bodyPr>
            <a:normAutofit fontScale="90000"/>
          </a:bodyPr>
          <a:lstStyle/>
          <a:p>
            <a:r>
              <a:rPr lang="ru-RU" dirty="0"/>
              <a:t>8. Линейная независимость собственных подпространств. Оператор с простым спектром.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742BB92-46CC-3EA1-594B-114DF398CF64}"/>
                  </a:ext>
                </a:extLst>
              </p:cNvPr>
              <p:cNvSpPr txBox="1"/>
              <p:nvPr/>
            </p:nvSpPr>
            <p:spPr>
              <a:xfrm>
                <a:off x="838200" y="815813"/>
                <a:ext cx="10778412" cy="452431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ru-RU" b="1" dirty="0">
                    <a:latin typeface="Montserrat" panose="00000500000000000000" pitchFamily="2" charset="-52"/>
                  </a:rPr>
                  <a:t>Подпространства</a:t>
                </a:r>
                <a:r>
                  <a:rPr lang="ru-RU" dirty="0">
                    <a:latin typeface="Montserrat" panose="00000500000000000000" pitchFamily="2" charset="-5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dirty="0">
                    <a:latin typeface="Montserrat" panose="00000500000000000000" pitchFamily="2" charset="-52"/>
                  </a:rPr>
                  <a:t> </a:t>
                </a:r>
                <a:r>
                  <a:rPr lang="ru-RU" dirty="0">
                    <a:latin typeface="Montserrat" panose="00000500000000000000" pitchFamily="2" charset="-52"/>
                  </a:rPr>
                  <a:t>- </a:t>
                </a:r>
                <a:r>
                  <a:rPr lang="ru-RU" b="1" dirty="0">
                    <a:latin typeface="Montserrat" panose="00000500000000000000" pitchFamily="2" charset="-52"/>
                  </a:rPr>
                  <a:t>линейно независимые</a:t>
                </a:r>
                <a:r>
                  <a:rPr lang="ru-RU" dirty="0">
                    <a:latin typeface="Montserrat" panose="00000500000000000000" pitchFamily="2" charset="-52"/>
                  </a:rPr>
                  <a:t>, если </a:t>
                </a: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+…+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⟹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=…=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        ∀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dirty="0">
                  <a:latin typeface="Montserrat" panose="00000500000000000000" pitchFamily="2" charset="-52"/>
                </a:endParaRPr>
              </a:p>
              <a:p>
                <a:pPr algn="just"/>
                <a:r>
                  <a:rPr lang="en-US" b="1" dirty="0">
                    <a:latin typeface="Montserrat" panose="00000500000000000000" pitchFamily="2" charset="-52"/>
                  </a:rPr>
                  <a:t>NB</a:t>
                </a:r>
                <a:r>
                  <a:rPr lang="en-US" dirty="0">
                    <a:latin typeface="Montserrat" panose="00000500000000000000" pitchFamily="2" charset="-52"/>
                  </a:rPr>
                  <a:t>. </a:t>
                </a:r>
                <a:r>
                  <a:rPr lang="ru-RU" dirty="0">
                    <a:latin typeface="Montserrat" panose="00000500000000000000" pitchFamily="2" charset="-52"/>
                  </a:rPr>
                  <a:t>Разложение в прямую сумму – это разложение в сумму ЛНЗ подпространств.</a:t>
                </a:r>
              </a:p>
              <a:p>
                <a:pPr algn="just"/>
                <a:endParaRPr lang="ru-RU" dirty="0">
                  <a:latin typeface="Montserrat" panose="00000500000000000000" pitchFamily="2" charset="-52"/>
                </a:endParaRPr>
              </a:p>
              <a:p>
                <a:pPr algn="just"/>
                <a:r>
                  <a:rPr lang="ru-RU" b="1" dirty="0">
                    <a:latin typeface="Montserrat" panose="00000500000000000000" pitchFamily="2" charset="-52"/>
                  </a:rPr>
                  <a:t>Теорема</a:t>
                </a:r>
                <a:r>
                  <a:rPr lang="ru-RU" dirty="0">
                    <a:latin typeface="Montserrat" panose="00000500000000000000" pitchFamily="2" charset="-52"/>
                  </a:rPr>
                  <a:t>. Собственные подпространства, отвечающие попарно различным собственным значениями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 dirty="0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ru-RU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ru-RU" i="1" dirty="0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ru-RU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 dirty="0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ru-RU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ru-RU" i="1" dirty="0" smtClean="0">
                        <a:latin typeface="Cambria Math" panose="02040503050406030204" pitchFamily="18" charset="0"/>
                      </a:rPr>
                      <m:t>, . . . , </m:t>
                    </m:r>
                    <m:sSub>
                      <m:sSubPr>
                        <m:ctrlPr>
                          <a:rPr lang="ru-RU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 dirty="0" err="1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ru-RU" i="1" dirty="0" err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ru-RU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dirty="0">
                    <a:latin typeface="Montserrat" panose="00000500000000000000" pitchFamily="2" charset="-52"/>
                  </a:rPr>
                  <a:t>оператора </a:t>
                </a:r>
                <a14:m>
                  <m:oMath xmlns:m="http://schemas.openxmlformats.org/officeDocument/2006/math">
                    <m:r>
                      <a:rPr lang="ru-RU" i="1" dirty="0" smtClean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ru-RU" dirty="0">
                    <a:latin typeface="Montserrat" panose="00000500000000000000" pitchFamily="2" charset="-52"/>
                  </a:rPr>
                  <a:t> линейно независимы.</a:t>
                </a:r>
              </a:p>
              <a:p>
                <a:pPr algn="just"/>
                <a:r>
                  <a:rPr lang="ru-RU" b="1" dirty="0">
                    <a:latin typeface="Montserrat" panose="00000500000000000000" pitchFamily="2" charset="-52"/>
                  </a:rPr>
                  <a:t>Доказательство</a:t>
                </a:r>
                <a:r>
                  <a:rPr lang="ru-RU" dirty="0">
                    <a:latin typeface="Montserrat" panose="00000500000000000000" pitchFamily="2" charset="-52"/>
                  </a:rPr>
                  <a:t>. </a:t>
                </a:r>
                <a:r>
                  <a:rPr lang="ru-RU" i="1" dirty="0">
                    <a:latin typeface="Montserrat" panose="00000500000000000000" pitchFamily="2" charset="-52"/>
                  </a:rPr>
                  <a:t>Индукция</a:t>
                </a:r>
                <a:r>
                  <a:rPr lang="ru-RU" dirty="0">
                    <a:latin typeface="Montserrat" panose="00000500000000000000" pitchFamily="2" charset="-52"/>
                  </a:rPr>
                  <a:t> по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>
                    <a:latin typeface="Montserrat" panose="00000500000000000000" pitchFamily="2" charset="-52"/>
                  </a:rPr>
                  <a:t>. </a:t>
                </a:r>
                <a:r>
                  <a:rPr lang="ru-RU" dirty="0">
                    <a:latin typeface="Montserrat" panose="00000500000000000000" pitchFamily="2" charset="-52"/>
                  </a:rPr>
                  <a:t>При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dirty="0">
                    <a:latin typeface="Montserrat" panose="00000500000000000000" pitchFamily="2" charset="-52"/>
                  </a:rPr>
                  <a:t> </a:t>
                </a:r>
                <a:r>
                  <a:rPr lang="ru-RU" dirty="0">
                    <a:latin typeface="Montserrat" panose="00000500000000000000" pitchFamily="2" charset="-52"/>
                  </a:rPr>
                  <a:t>всего 1 подпространство.</a:t>
                </a:r>
              </a:p>
              <a:p>
                <a:pPr algn="just"/>
                <a:r>
                  <a:rPr lang="ru-RU" dirty="0">
                    <a:latin typeface="Montserrat" panose="00000500000000000000" pitchFamily="2" charset="-52"/>
                  </a:rPr>
                  <a:t>Пусть</a:t>
                </a:r>
                <a:r>
                  <a:rPr lang="en-US" dirty="0">
                    <a:latin typeface="Montserrat" panose="00000500000000000000" pitchFamily="2" charset="-5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+…+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>
                    <a:latin typeface="Montserrat" panose="00000500000000000000" pitchFamily="2" charset="-52"/>
                  </a:rPr>
                  <a:t>.</a:t>
                </a:r>
                <a:r>
                  <a:rPr lang="ru-RU" dirty="0">
                    <a:latin typeface="Montserrat" panose="00000500000000000000" pitchFamily="2" charset="-52"/>
                  </a:rPr>
                  <a:t> Применим оператор.</a:t>
                </a: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b="0" i="1" smtClean="0">
                          <a:latin typeface="Cambria Math" panose="02040503050406030204" pitchFamily="18" charset="0"/>
                        </a:rPr>
                        <m:t>𝜑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+…+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𝜑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+…+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𝜑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+…+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𝜑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(0)</m:t>
                      </m:r>
                    </m:oMath>
                  </m:oMathPara>
                </a14:m>
                <a:endParaRPr lang="ru-RU" dirty="0">
                  <a:latin typeface="Montserrat" panose="00000500000000000000" pitchFamily="2" charset="-52"/>
                </a:endParaRPr>
              </a:p>
              <a:p>
                <a:pPr algn="just"/>
                <a:r>
                  <a:rPr lang="ru-RU" dirty="0">
                    <a:latin typeface="Montserrat" panose="00000500000000000000" pitchFamily="2" charset="-52"/>
                  </a:rPr>
                  <a:t>Вычтем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+…+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ru-RU" dirty="0">
                    <a:latin typeface="Montserrat" panose="00000500000000000000" pitchFamily="2" charset="-52"/>
                  </a:rPr>
                  <a:t> из </a:t>
                </a:r>
                <a:r>
                  <a:rPr lang="ru-RU" dirty="0">
                    <a:solidFill>
                      <a:srgbClr val="FF0000"/>
                    </a:solidFill>
                    <a:latin typeface="Montserrat" panose="00000500000000000000" pitchFamily="2" charset="-52"/>
                  </a:rPr>
                  <a:t>равенства</a:t>
                </a:r>
                <a:r>
                  <a:rPr lang="en-US" dirty="0">
                    <a:latin typeface="Montserrat" panose="00000500000000000000" pitchFamily="2" charset="-52"/>
                  </a:rPr>
                  <a:t>, </a:t>
                </a:r>
                <a:r>
                  <a:rPr lang="ru-RU" dirty="0">
                    <a:latin typeface="Montserrat" panose="00000500000000000000" pitchFamily="2" charset="-52"/>
                  </a:rPr>
                  <a:t>получим</a:t>
                </a: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ru-RU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ru-RU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b="0" i="1" smtClean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+…+</m:t>
                      </m:r>
                      <m:d>
                        <m:d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>
                  <a:latin typeface="Montserrat" panose="00000500000000000000" pitchFamily="2" charset="-52"/>
                </a:endParaRPr>
              </a:p>
              <a:p>
                <a:pPr algn="just"/>
                <a:r>
                  <a:rPr lang="ru-RU" dirty="0">
                    <a:latin typeface="Montserrat" panose="00000500000000000000" pitchFamily="2" charset="-52"/>
                  </a:rPr>
                  <a:t>Пусть верно для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dirty="0">
                    <a:latin typeface="Montserrat" panose="00000500000000000000" pitchFamily="2" charset="-52"/>
                  </a:rPr>
                  <a:t>, </a:t>
                </a:r>
                <a:r>
                  <a:rPr lang="ru-RU" dirty="0">
                    <a:latin typeface="Montserrat" panose="00000500000000000000" pitchFamily="2" charset="-52"/>
                  </a:rPr>
                  <a:t>тогда</a:t>
                </a:r>
                <a:r>
                  <a:rPr lang="en-US" dirty="0">
                    <a:latin typeface="Montserrat" panose="00000500000000000000" pitchFamily="2" charset="-5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+…+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>
                    <a:latin typeface="Montserrat" panose="00000500000000000000" pitchFamily="2" charset="-52"/>
                  </a:rPr>
                  <a:t>, </a:t>
                </a:r>
                <a:r>
                  <a:rPr lang="ru-RU" dirty="0">
                    <a:latin typeface="Montserrat" panose="00000500000000000000" pitchFamily="2" charset="-52"/>
                  </a:rPr>
                  <a:t>отсюда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>
                    <a:latin typeface="Montserrat" panose="00000500000000000000" pitchFamily="2" charset="-52"/>
                  </a:rPr>
                  <a:t>. </a:t>
                </a:r>
                <a:r>
                  <a:rPr lang="ru-RU" dirty="0">
                    <a:latin typeface="Montserrat" panose="00000500000000000000" pitchFamily="2" charset="-52"/>
                  </a:rPr>
                  <a:t>Значит, верно для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>
                    <a:latin typeface="Montserrat" panose="00000500000000000000" pitchFamily="2" charset="-52"/>
                  </a:rPr>
                  <a:t>.</a:t>
                </a:r>
              </a:p>
              <a:p>
                <a:pPr algn="just"/>
                <a:endParaRPr lang="ru-RU" dirty="0">
                  <a:latin typeface="Montserrat" panose="00000500000000000000" pitchFamily="2" charset="-52"/>
                </a:endParaRPr>
              </a:p>
              <a:p>
                <a:pPr algn="just"/>
                <a:r>
                  <a:rPr lang="ru-RU" b="1" dirty="0">
                    <a:latin typeface="Montserrat" panose="00000500000000000000" pitchFamily="2" charset="-52"/>
                  </a:rPr>
                  <a:t>Следствие</a:t>
                </a:r>
                <a:r>
                  <a:rPr lang="ru-RU" dirty="0">
                    <a:latin typeface="Montserrat" panose="00000500000000000000" pitchFamily="2" charset="-52"/>
                  </a:rPr>
                  <a:t>. Если характеристический многочлен оператора имеет </a:t>
                </a:r>
                <a14:m>
                  <m:oMath xmlns:m="http://schemas.openxmlformats.org/officeDocument/2006/math">
                    <m:r>
                      <a:rPr lang="ru-RU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ru-RU" i="1" dirty="0" smtClean="0">
                        <a:latin typeface="Cambria Math" panose="02040503050406030204" pitchFamily="18" charset="0"/>
                      </a:rPr>
                      <m:t> =</m:t>
                    </m:r>
                    <m:func>
                      <m:funcPr>
                        <m:ctrlPr>
                          <a:rPr lang="ru-RU" b="0" i="1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ru-RU" i="0" dirty="0" err="1" smtClean="0">
                            <a:latin typeface="Cambria Math" panose="02040503050406030204" pitchFamily="18" charset="0"/>
                          </a:rPr>
                          <m:t>dim</m:t>
                        </m:r>
                      </m:fName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func>
                  </m:oMath>
                </a14:m>
                <a:r>
                  <a:rPr lang="en-US" dirty="0">
                    <a:latin typeface="Montserrat" panose="00000500000000000000" pitchFamily="2" charset="-52"/>
                  </a:rPr>
                  <a:t> </a:t>
                </a:r>
                <a:r>
                  <a:rPr lang="ru-RU" dirty="0">
                    <a:latin typeface="Montserrat" panose="00000500000000000000" pitchFamily="2" charset="-52"/>
                  </a:rPr>
                  <a:t>различных корней (</a:t>
                </a:r>
                <a:r>
                  <a:rPr lang="ru-RU" b="1" dirty="0">
                    <a:latin typeface="Montserrat" panose="00000500000000000000" pitchFamily="2" charset="-52"/>
                  </a:rPr>
                  <a:t>оператор с простым спектром</a:t>
                </a:r>
                <a:r>
                  <a:rPr lang="ru-RU" dirty="0">
                    <a:latin typeface="Montserrat" panose="00000500000000000000" pitchFamily="2" charset="-52"/>
                  </a:rPr>
                  <a:t>), то существует</a:t>
                </a:r>
                <a:r>
                  <a:rPr lang="en-US" dirty="0">
                    <a:latin typeface="Montserrat" panose="00000500000000000000" pitchFamily="2" charset="-52"/>
                  </a:rPr>
                  <a:t> </a:t>
                </a:r>
                <a:r>
                  <a:rPr lang="ru-RU" dirty="0">
                    <a:latin typeface="Montserrat" panose="00000500000000000000" pitchFamily="2" charset="-52"/>
                  </a:rPr>
                  <a:t>базис из собственных векторов этого оператора.</a:t>
                </a:r>
                <a:endParaRPr lang="en-US" dirty="0">
                  <a:latin typeface="Montserrat" panose="00000500000000000000" pitchFamily="2" charset="-52"/>
                </a:endParaRP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742BB92-46CC-3EA1-594B-114DF398CF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815813"/>
                <a:ext cx="10778412" cy="4524315"/>
              </a:xfrm>
              <a:prstGeom prst="rect">
                <a:avLst/>
              </a:prstGeom>
              <a:blipFill>
                <a:blip r:embed="rId2"/>
                <a:stretch>
                  <a:fillRect l="-509" t="-674" r="-452" b="-134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957753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A5254F-06A6-78A6-D70C-0A74777C00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0D69175-C098-8420-A117-104FFDD391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9844"/>
            <a:ext cx="10451841" cy="455969"/>
          </a:xfrm>
        </p:spPr>
        <p:txBody>
          <a:bodyPr>
            <a:normAutofit/>
          </a:bodyPr>
          <a:lstStyle/>
          <a:p>
            <a:r>
              <a:rPr lang="ru-RU" dirty="0"/>
              <a:t>9. Собственный базис и диагонализуемость. Критерий.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3EA9B6D-8210-5C23-F103-293ACEB2FAA7}"/>
                  </a:ext>
                </a:extLst>
              </p:cNvPr>
              <p:cNvSpPr txBox="1"/>
              <p:nvPr/>
            </p:nvSpPr>
            <p:spPr>
              <a:xfrm>
                <a:off x="838200" y="815813"/>
                <a:ext cx="10778412" cy="32530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ru-RU" dirty="0">
                    <a:latin typeface="Montserrat" panose="00000500000000000000" pitchFamily="2" charset="-52"/>
                  </a:rPr>
                  <a:t>Линейный оператор в конечномерном векторном пространстве называется </a:t>
                </a:r>
                <a:r>
                  <a:rPr lang="ru-RU" b="1" dirty="0">
                    <a:latin typeface="Montserrat" panose="00000500000000000000" pitchFamily="2" charset="-52"/>
                  </a:rPr>
                  <a:t>диагонализируемым</a:t>
                </a:r>
                <a:r>
                  <a:rPr lang="ru-RU" dirty="0">
                    <a:latin typeface="Montserrat" panose="00000500000000000000" pitchFamily="2" charset="-52"/>
                  </a:rPr>
                  <a:t>, если существует базис, в котором матрицам этого оператора имеет диагональный вид</a:t>
                </a:r>
                <a:r>
                  <a:rPr lang="en-US" dirty="0">
                    <a:latin typeface="Montserrat" panose="00000500000000000000" pitchFamily="2" charset="-52"/>
                  </a:rPr>
                  <a:t> (</a:t>
                </a:r>
                <a:r>
                  <a:rPr lang="ru-RU" b="1" dirty="0">
                    <a:latin typeface="Montserrat" panose="00000500000000000000" pitchFamily="2" charset="-52"/>
                  </a:rPr>
                  <a:t>собственный базис</a:t>
                </a:r>
                <a:r>
                  <a:rPr lang="en-US" dirty="0">
                    <a:latin typeface="Montserrat" panose="00000500000000000000" pitchFamily="2" charset="-52"/>
                  </a:rPr>
                  <a:t>)</a:t>
                </a:r>
                <a:r>
                  <a:rPr lang="ru-RU" dirty="0">
                    <a:latin typeface="Montserrat" panose="00000500000000000000" pitchFamily="2" charset="-52"/>
                  </a:rPr>
                  <a:t>.</a:t>
                </a:r>
              </a:p>
              <a:p>
                <a:pPr algn="just"/>
                <a:endParaRPr lang="ru-RU" dirty="0">
                  <a:latin typeface="Montserrat" panose="00000500000000000000" pitchFamily="2" charset="-52"/>
                </a:endParaRPr>
              </a:p>
              <a:p>
                <a:pPr algn="just"/>
                <a:r>
                  <a:rPr lang="ru-RU" b="1" dirty="0">
                    <a:latin typeface="Montserrat" panose="00000500000000000000" pitchFamily="2" charset="-52"/>
                  </a:rPr>
                  <a:t>Теорема</a:t>
                </a:r>
                <a:r>
                  <a:rPr lang="ru-RU" dirty="0">
                    <a:latin typeface="Montserrat" panose="00000500000000000000" pitchFamily="2" charset="-52"/>
                  </a:rPr>
                  <a:t> (критерий диагонализируемости).</a:t>
                </a:r>
              </a:p>
              <a:p>
                <a:pPr algn="just"/>
                <a:r>
                  <a:rPr lang="ru-RU" dirty="0">
                    <a:latin typeface="Montserrat" panose="00000500000000000000" pitchFamily="2" charset="-52"/>
                  </a:rPr>
                  <a:t>Оператор диагонализируем </a:t>
                </a:r>
                <a:r>
                  <a:rPr lang="ru-RU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⟺</a:t>
                </a:r>
                <a:r>
                  <a:rPr lang="ru-RU" dirty="0">
                    <a:latin typeface="Montserrat" panose="00000500000000000000" pitchFamily="2" charset="-52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ru-RU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ru-RU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m:rPr>
                                <m:nor/>
                              </m:rPr>
                              <a:rPr lang="ru-RU" dirty="0">
                                <a:latin typeface="Montserrat" panose="00000500000000000000" pitchFamily="2" charset="-52"/>
                                <a:ea typeface="Cambria Math" panose="02040503050406030204" pitchFamily="18" charset="0"/>
                              </a:rPr>
                              <m:t>все корни характеристического полинома лежат в </m:t>
                            </m:r>
                            <m:r>
                              <a:rPr lang="ru-RU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𝕂</m:t>
                            </m:r>
                          </m: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∀</m:t>
                            </m:r>
                            <m:r>
                              <a:rPr lang="ru-RU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СЧ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𝜆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: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𝜆</m:t>
                                </m:r>
                              </m:e>
                            </m:d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𝑔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𝜆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e>
                        </m:eqArr>
                      </m:e>
                    </m:d>
                  </m:oMath>
                </a14:m>
                <a:endParaRPr lang="ru-RU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algn="just"/>
                <a:r>
                  <a:rPr lang="ru-RU" b="1" dirty="0">
                    <a:latin typeface="Montserrat" panose="00000500000000000000" pitchFamily="2" charset="-52"/>
                    <a:ea typeface="Cambria Math" panose="02040503050406030204" pitchFamily="18" charset="0"/>
                  </a:rPr>
                  <a:t>Доказательство</a:t>
                </a:r>
                <a:r>
                  <a:rPr lang="ru-RU" dirty="0">
                    <a:latin typeface="Montserrat" panose="00000500000000000000" pitchFamily="2" charset="-52"/>
                    <a:ea typeface="Cambria Math" panose="02040503050406030204" pitchFamily="18" charset="0"/>
                  </a:rPr>
                  <a:t>. </a:t>
                </a:r>
              </a:p>
              <a:p>
                <a:pPr algn="just"/>
                <a14:m>
                  <m:oMath xmlns:m="http://schemas.openxmlformats.org/officeDocument/2006/math">
                    <m:r>
                      <a:rPr lang="ru-R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en-US" dirty="0">
                    <a:latin typeface="Montserrat" panose="00000500000000000000" pitchFamily="2" charset="-52"/>
                    <a:ea typeface="Cambria Math" panose="02040503050406030204" pitchFamily="18" charset="0"/>
                  </a:rPr>
                  <a:t> – </a:t>
                </a:r>
                <a:r>
                  <a:rPr lang="ru-RU" dirty="0">
                    <a:latin typeface="Montserrat" panose="00000500000000000000" pitchFamily="2" charset="-52"/>
                    <a:ea typeface="Cambria Math" panose="02040503050406030204" pitchFamily="18" charset="0"/>
                  </a:rPr>
                  <a:t>диагонализируемый </a:t>
                </a:r>
                <a14:m>
                  <m:oMath xmlns:m="http://schemas.openxmlformats.org/officeDocument/2006/math">
                    <m:r>
                      <a:rPr lang="ru-R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⟺</m:t>
                    </m:r>
                    <m:r>
                      <a:rPr lang="ru-R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∃</m:t>
                    </m:r>
                  </m:oMath>
                </a14:m>
                <a:r>
                  <a:rPr lang="en-US" dirty="0">
                    <a:latin typeface="Montserrat" panose="00000500000000000000" pitchFamily="2" charset="-52"/>
                    <a:ea typeface="Cambria Math" panose="02040503050406030204" pitchFamily="18" charset="0"/>
                  </a:rPr>
                  <a:t> </a:t>
                </a:r>
                <a:r>
                  <a:rPr lang="ru-RU" dirty="0">
                    <a:latin typeface="Montserrat" panose="00000500000000000000" pitchFamily="2" charset="-52"/>
                    <a:ea typeface="Cambria Math" panose="02040503050406030204" pitchFamily="18" charset="0"/>
                  </a:rPr>
                  <a:t>собственный базис</a:t>
                </a:r>
                <a:r>
                  <a:rPr lang="en-US" dirty="0">
                    <a:latin typeface="Montserrat" panose="00000500000000000000" pitchFamily="2" charset="-52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⟺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𝑉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b>
                    </m:sSub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⊕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…⊕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sub>
                    </m:sSub>
                  </m:oMath>
                </a14:m>
                <a:endParaRPr lang="en-US" dirty="0">
                  <a:latin typeface="Montserrat" panose="00000500000000000000" pitchFamily="2" charset="-52"/>
                  <a:ea typeface="Cambria Math" panose="02040503050406030204" pitchFamily="18" charset="0"/>
                </a:endParaRP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dim</m:t>
                          </m:r>
                        </m:fNam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𝑉</m:t>
                          </m:r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+…+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𝑔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>
                  <a:latin typeface="Montserrat" panose="00000500000000000000" pitchFamily="2" charset="-52"/>
                  <a:ea typeface="Cambria Math" panose="02040503050406030204" pitchFamily="18" charset="0"/>
                </a:endParaRPr>
              </a:p>
              <a:p>
                <a:pPr algn="just"/>
                <a:r>
                  <a:rPr lang="ru-RU" dirty="0">
                    <a:latin typeface="Montserrat" panose="00000500000000000000" pitchFamily="2" charset="-52"/>
                    <a:ea typeface="Cambria Math" panose="02040503050406030204" pitchFamily="18" charset="0"/>
                  </a:rPr>
                  <a:t>Но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𝑔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latin typeface="Montserrat" panose="00000500000000000000" pitchFamily="2" charset="-52"/>
                    <a:ea typeface="Cambria Math" panose="02040503050406030204" pitchFamily="18" charset="0"/>
                  </a:rPr>
                  <a:t> </a:t>
                </a:r>
                <a:r>
                  <a:rPr lang="ru-RU" dirty="0">
                    <a:latin typeface="Montserrat" panose="00000500000000000000" pitchFamily="2" charset="-52"/>
                    <a:ea typeface="Cambria Math" panose="02040503050406030204" pitchFamily="18" charset="0"/>
                  </a:rPr>
                  <a:t>и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+…+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deg</m:t>
                        </m:r>
                      </m:fName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𝜒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𝜑</m:t>
                            </m:r>
                          </m:sub>
                        </m:sSub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ru-RU" dirty="0">
                    <a:latin typeface="Montserrat" panose="00000500000000000000" pitchFamily="2" charset="-52"/>
                    <a:ea typeface="Cambria Math" panose="02040503050406030204" pitchFamily="18" charset="0"/>
                  </a:rPr>
                  <a:t>, отсюда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ru-R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𝑔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dirty="0">
                    <a:latin typeface="Montserrat" panose="00000500000000000000" pitchFamily="2" charset="-52"/>
                    <a:ea typeface="Cambria Math" panose="02040503050406030204" pitchFamily="18" charset="0"/>
                  </a:rPr>
                  <a:t>.</a:t>
                </a: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3EA9B6D-8210-5C23-F103-293ACEB2FA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815813"/>
                <a:ext cx="10778412" cy="3253070"/>
              </a:xfrm>
              <a:prstGeom prst="rect">
                <a:avLst/>
              </a:prstGeom>
              <a:blipFill>
                <a:blip r:embed="rId2"/>
                <a:stretch>
                  <a:fillRect l="-509" t="-938" r="-452" b="-150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794690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2D0FDB-FC55-6F54-00C9-01BF39F70E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13EA716-3480-1D41-FF57-45359561E0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9844"/>
            <a:ext cx="10451841" cy="455969"/>
          </a:xfrm>
        </p:spPr>
        <p:txBody>
          <a:bodyPr>
            <a:normAutofit/>
          </a:bodyPr>
          <a:lstStyle/>
          <a:p>
            <a:r>
              <a:rPr lang="ru-RU" dirty="0"/>
              <a:t>10. Корневые векторы и корневые подпространства. Определения, примеры.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97A31F9-D532-550A-0B39-43132AA14830}"/>
                  </a:ext>
                </a:extLst>
              </p:cNvPr>
              <p:cNvSpPr txBox="1"/>
              <p:nvPr/>
            </p:nvSpPr>
            <p:spPr>
              <a:xfrm>
                <a:off x="838200" y="815813"/>
                <a:ext cx="10778412" cy="49817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ru-RU" dirty="0">
                    <a:latin typeface="Montserrat" panose="00000500000000000000" pitchFamily="2" charset="-52"/>
                  </a:rPr>
                  <a:t>Вектор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dirty="0">
                    <a:latin typeface="Montserrat" panose="00000500000000000000" pitchFamily="2" charset="-52"/>
                    <a:ea typeface="Cambria Math" panose="02040503050406030204" pitchFamily="18" charset="0"/>
                  </a:rPr>
                  <a:t> </a:t>
                </a:r>
                <a:r>
                  <a:rPr lang="ru-RU" dirty="0">
                    <a:latin typeface="Montserrat" panose="00000500000000000000" pitchFamily="2" charset="-52"/>
                    <a:ea typeface="Cambria Math" panose="02040503050406030204" pitchFamily="18" charset="0"/>
                  </a:rPr>
                  <a:t>называется </a:t>
                </a:r>
                <a:r>
                  <a:rPr lang="ru-RU" b="1" dirty="0">
                    <a:latin typeface="Montserrat" panose="00000500000000000000" pitchFamily="2" charset="-52"/>
                    <a:ea typeface="Cambria Math" panose="02040503050406030204" pitchFamily="18" charset="0"/>
                  </a:rPr>
                  <a:t>корневым вектором</a:t>
                </a:r>
                <a:r>
                  <a:rPr lang="ru-RU" dirty="0">
                    <a:latin typeface="Montserrat" panose="00000500000000000000" pitchFamily="2" charset="-52"/>
                    <a:ea typeface="Cambria Math" panose="02040503050406030204" pitchFamily="18" charset="0"/>
                  </a:rPr>
                  <a:t> оператора</a:t>
                </a:r>
                <a:r>
                  <a:rPr lang="en-US" dirty="0">
                    <a:latin typeface="Montserrat" panose="00000500000000000000" pitchFamily="2" charset="-52"/>
                    <a:ea typeface="Cambria Math" panose="02040503050406030204" pitchFamily="18" charset="0"/>
                  </a:rPr>
                  <a:t> A</a:t>
                </a:r>
                <a:r>
                  <a:rPr lang="ru-RU" dirty="0">
                    <a:latin typeface="Montserrat" panose="00000500000000000000" pitchFamily="2" charset="-52"/>
                    <a:ea typeface="Cambria Math" panose="02040503050406030204" pitchFamily="18" charset="0"/>
                  </a:rPr>
                  <a:t>, отвечающим СЗ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ru-RU" dirty="0">
                    <a:latin typeface="Montserrat" panose="00000500000000000000" pitchFamily="2" charset="-52"/>
                    <a:ea typeface="Cambria Math" panose="02040503050406030204" pitchFamily="18" charset="0"/>
                  </a:rPr>
                  <a:t>, если</a:t>
                </a: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∃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𝑘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ℕ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:          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𝜆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𝐸</m:t>
                              </m:r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>
                  <a:latin typeface="Montserrat" panose="00000500000000000000" pitchFamily="2" charset="-52"/>
                  <a:ea typeface="Cambria Math" panose="02040503050406030204" pitchFamily="18" charset="0"/>
                </a:endParaRPr>
              </a:p>
              <a:p>
                <a:pPr algn="just"/>
                <a:r>
                  <a:rPr lang="ru-RU" b="1" dirty="0">
                    <a:latin typeface="Montserrat" panose="00000500000000000000" pitchFamily="2" charset="-52"/>
                    <a:ea typeface="Cambria Math" panose="02040503050406030204" pitchFamily="18" charset="0"/>
                  </a:rPr>
                  <a:t>Высота</a:t>
                </a:r>
                <a:r>
                  <a:rPr lang="ru-RU" dirty="0">
                    <a:latin typeface="Montserrat" panose="00000500000000000000" pitchFamily="2" charset="-52"/>
                    <a:ea typeface="Cambria Math" panose="02040503050406030204" pitchFamily="18" charset="0"/>
                  </a:rPr>
                  <a:t> вектора – наименьшее такое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>
                    <a:latin typeface="Montserrat" panose="00000500000000000000" pitchFamily="2" charset="-52"/>
                    <a:ea typeface="Cambria Math" panose="02040503050406030204" pitchFamily="18" charset="0"/>
                  </a:rPr>
                  <a:t>.</a:t>
                </a:r>
              </a:p>
              <a:p>
                <a:pPr algn="just"/>
                <a:endParaRPr lang="en-US" dirty="0">
                  <a:latin typeface="Montserrat" panose="00000500000000000000" pitchFamily="2" charset="-52"/>
                  <a:ea typeface="Cambria Math" panose="02040503050406030204" pitchFamily="18" charset="0"/>
                </a:endParaRPr>
              </a:p>
              <a:p>
                <a:pPr algn="just"/>
                <a:r>
                  <a:rPr lang="ru-RU" b="1" dirty="0">
                    <a:latin typeface="Montserrat" panose="00000500000000000000" pitchFamily="2" charset="-52"/>
                    <a:ea typeface="Cambria Math" panose="02040503050406030204" pitchFamily="18" charset="0"/>
                  </a:rPr>
                  <a:t>Примеры</a:t>
                </a:r>
                <a:r>
                  <a:rPr lang="ru-RU" dirty="0">
                    <a:latin typeface="Montserrat" panose="00000500000000000000" pitchFamily="2" charset="-52"/>
                    <a:ea typeface="Cambria Math" panose="02040503050406030204" pitchFamily="18" charset="0"/>
                  </a:rPr>
                  <a:t>.</a:t>
                </a:r>
              </a:p>
              <a:p>
                <a:pPr marL="342900" indent="-342900" algn="just">
                  <a:buAutoNum type="alphaLcParenR"/>
                </a:pPr>
                <a:r>
                  <a:rPr lang="ru-RU" dirty="0">
                    <a:latin typeface="Montserrat" panose="00000500000000000000" pitchFamily="2" charset="-52"/>
                    <a:ea typeface="Cambria Math" panose="02040503050406030204" pitchFamily="18" charset="0"/>
                  </a:rPr>
                  <a:t>Корневые векторы высоты 0 – нулевые векторы.</a:t>
                </a:r>
              </a:p>
              <a:p>
                <a:pPr marL="342900" indent="-342900" algn="just">
                  <a:buAutoNum type="alphaLcParenR"/>
                </a:pPr>
                <a:r>
                  <a:rPr lang="ru-RU" dirty="0">
                    <a:latin typeface="Montserrat" panose="00000500000000000000" pitchFamily="2" charset="-52"/>
                    <a:ea typeface="Cambria Math" panose="02040503050406030204" pitchFamily="18" charset="0"/>
                  </a:rPr>
                  <a:t>Корневые векторы высоты 1 – собственные векторы</a:t>
                </a:r>
              </a:p>
              <a:p>
                <a:pPr marL="342900" indent="-342900" algn="just">
                  <a:buAutoNum type="alphaLcParenR"/>
                </a:pPr>
                <a:r>
                  <a:rPr lang="ru-RU" dirty="0">
                    <a:latin typeface="Montserrat" panose="00000500000000000000" pitchFamily="2" charset="-52"/>
                    <a:ea typeface="Cambria Math" panose="02040503050406030204" pitchFamily="18" charset="0"/>
                  </a:rPr>
                  <a:t>Каждый многочлен – корневой вектор с СЧ 0 оператора дифференцирования пространства многочленов. Если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>
                    <a:latin typeface="Montserrat" panose="00000500000000000000" pitchFamily="2" charset="-52"/>
                    <a:ea typeface="Cambria Math" panose="02040503050406030204" pitchFamily="18" charset="0"/>
                  </a:rPr>
                  <a:t> – </a:t>
                </a:r>
                <a:r>
                  <a:rPr lang="ru-RU" dirty="0">
                    <a:latin typeface="Montserrat" panose="00000500000000000000" pitchFamily="2" charset="-52"/>
                    <a:ea typeface="Cambria Math" panose="02040503050406030204" pitchFamily="18" charset="0"/>
                  </a:rPr>
                  <a:t>степень многочлена, то его высота, как корневого вектора равна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 dirty="0">
                    <a:latin typeface="Montserrat" panose="00000500000000000000" pitchFamily="2" charset="-52"/>
                    <a:ea typeface="Cambria Math" panose="02040503050406030204" pitchFamily="18" charset="0"/>
                  </a:rPr>
                  <a:t>.</a:t>
                </a:r>
              </a:p>
              <a:p>
                <a:pPr marL="342900" indent="-342900" algn="just">
                  <a:buAutoNum type="alphaLcParenR"/>
                </a:pPr>
                <a:r>
                  <a:rPr lang="ru-RU" dirty="0">
                    <a:latin typeface="Montserrat" panose="00000500000000000000" pitchFamily="2" charset="-52"/>
                    <a:ea typeface="Cambria Math" panose="02040503050406030204" pitchFamily="18" charset="0"/>
                  </a:rPr>
                  <a:t>Пусть </a:t>
                </a:r>
                <a:r>
                  <a:rPr lang="en-US" dirty="0">
                    <a:latin typeface="Montserrat" panose="00000500000000000000" pitchFamily="2" charset="-52"/>
                    <a:ea typeface="Cambria Math" panose="02040503050406030204" pitchFamily="18" charset="0"/>
                  </a:rPr>
                  <a:t>V – </a:t>
                </a:r>
                <a:r>
                  <a:rPr lang="ru-RU" dirty="0">
                    <a:latin typeface="Montserrat" panose="00000500000000000000" pitchFamily="2" charset="-52"/>
                    <a:ea typeface="Cambria Math" panose="02040503050406030204" pitchFamily="18" charset="0"/>
                  </a:rPr>
                  <a:t>пространство бесконечно дифференцируемых функций на </a:t>
                </a:r>
                <a14:m>
                  <m:oMath xmlns:m="http://schemas.openxmlformats.org/officeDocument/2006/math">
                    <m:r>
                      <a:rPr lang="ru-R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ru-RU" dirty="0">
                    <a:latin typeface="Montserrat" panose="00000500000000000000" pitchFamily="2" charset="-52"/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ru-RU" dirty="0">
                    <a:latin typeface="Montserrat" panose="00000500000000000000" pitchFamily="2" charset="-52"/>
                    <a:ea typeface="Cambria Math" panose="02040503050406030204" pitchFamily="18" charset="0"/>
                  </a:rPr>
                  <a:t> </a:t>
                </a:r>
                <a:r>
                  <a:rPr lang="en-US" dirty="0">
                    <a:latin typeface="Montserrat" panose="00000500000000000000" pitchFamily="2" charset="-52"/>
                    <a:ea typeface="Cambria Math" panose="02040503050406030204" pitchFamily="18" charset="0"/>
                  </a:rPr>
                  <a:t>– </a:t>
                </a:r>
                <a:r>
                  <a:rPr lang="ru-RU" dirty="0">
                    <a:latin typeface="Montserrat" panose="00000500000000000000" pitchFamily="2" charset="-52"/>
                    <a:ea typeface="Cambria Math" panose="02040503050406030204" pitchFamily="18" charset="0"/>
                  </a:rPr>
                  <a:t>оператор дифференцирования. Тогда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dirty="0">
                    <a:latin typeface="Montserrat" panose="00000500000000000000" pitchFamily="2" charset="-52"/>
                    <a:ea typeface="Cambria Math" panose="02040503050406030204" pitchFamily="18" charset="0"/>
                  </a:rPr>
                  <a:t> – </a:t>
                </a:r>
                <a:r>
                  <a:rPr lang="ru-RU" dirty="0">
                    <a:latin typeface="Montserrat" panose="00000500000000000000" pitchFamily="2" charset="-52"/>
                    <a:ea typeface="Cambria Math" panose="02040503050406030204" pitchFamily="18" charset="0"/>
                  </a:rPr>
                  <a:t>СВ с СЗ </a:t>
                </a:r>
                <a14:m>
                  <m:oMath xmlns:m="http://schemas.openxmlformats.org/officeDocument/2006/math">
                    <m:r>
                      <a:rPr lang="ru-R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dirty="0">
                    <a:latin typeface="Montserrat" panose="00000500000000000000" pitchFamily="2" charset="-52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𝐷𝑓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dirty="0">
                    <a:latin typeface="Montserrat" panose="00000500000000000000" pitchFamily="2" charset="-52"/>
                    <a:ea typeface="Cambria Math" panose="02040503050406030204" pitchFamily="18" charset="0"/>
                  </a:rPr>
                  <a:t>. </a:t>
                </a:r>
              </a:p>
              <a:p>
                <a:pPr algn="just"/>
                <a:r>
                  <a:rPr lang="en-US" dirty="0">
                    <a:latin typeface="Montserrat" panose="00000500000000000000" pitchFamily="2" charset="-52"/>
                    <a:ea typeface="Cambria Math" panose="02040503050406030204" pitchFamily="18" charset="0"/>
                  </a:rPr>
                  <a:t>      </a:t>
                </a:r>
                <a:r>
                  <a:rPr lang="ru-RU" dirty="0">
                    <a:latin typeface="Montserrat" panose="00000500000000000000" pitchFamily="2" charset="-52"/>
                    <a:ea typeface="Cambria Math" panose="02040503050406030204" pitchFamily="18" charset="0"/>
                  </a:rPr>
                  <a:t>Следовательно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ru-RU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⇔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ru-RU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\ </m:t>
                    </m:r>
                    <m:r>
                      <m:rPr>
                        <m:lit/>
                      </m:rP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{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0}</m:t>
                    </m:r>
                  </m:oMath>
                </a14:m>
                <a:r>
                  <a:rPr lang="en-US" dirty="0">
                    <a:latin typeface="Montserrat" panose="00000500000000000000" pitchFamily="2" charset="-52"/>
                    <a:ea typeface="Cambria Math" panose="02040503050406030204" pitchFamily="18" charset="0"/>
                  </a:rPr>
                  <a:t>.</a:t>
                </a:r>
                <a:endParaRPr lang="ru-RU" dirty="0">
                  <a:latin typeface="Montserrat" panose="00000500000000000000" pitchFamily="2" charset="-52"/>
                  <a:ea typeface="Cambria Math" panose="02040503050406030204" pitchFamily="18" charset="0"/>
                </a:endParaRPr>
              </a:p>
              <a:p>
                <a:pPr algn="just"/>
                <a:endParaRPr lang="ru-RU" dirty="0">
                  <a:latin typeface="Montserrat" panose="00000500000000000000" pitchFamily="2" charset="-52"/>
                  <a:ea typeface="Cambria Math" panose="02040503050406030204" pitchFamily="18" charset="0"/>
                </a:endParaRPr>
              </a:p>
              <a:p>
                <a:pPr algn="just"/>
                <a:r>
                  <a:rPr lang="ru-RU" dirty="0">
                    <a:latin typeface="Montserrat" panose="00000500000000000000" pitchFamily="2" charset="-52"/>
                    <a:ea typeface="Cambria Math" panose="02040503050406030204" pitchFamily="18" charset="0"/>
                  </a:rPr>
                  <a:t>Возникает цепочка подпространств:</a:t>
                </a: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ker</m:t>
                          </m:r>
                        </m:fNam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𝐸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func>
                            <m:func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ker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𝐴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𝜆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</m:d>
                            </m:e>
                          </m:func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≤…≤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func>
                            <m:func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ker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𝐴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𝜆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</m:d>
                            </m:e>
                          </m:func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≤…≤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𝑉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sup>
                      </m:sSup>
                    </m:oMath>
                  </m:oMathPara>
                </a14:m>
                <a:endParaRPr lang="ru-RU" dirty="0">
                  <a:latin typeface="Montserrat" panose="00000500000000000000" pitchFamily="2" charset="-52"/>
                  <a:ea typeface="Cambria Math" panose="02040503050406030204" pitchFamily="18" charset="0"/>
                </a:endParaRPr>
              </a:p>
              <a:p>
                <a:pPr algn="just"/>
                <a:r>
                  <a:rPr lang="ru-RU" b="1" dirty="0">
                    <a:latin typeface="Montserrat" panose="00000500000000000000" pitchFamily="2" charset="-52"/>
                    <a:ea typeface="Cambria Math" panose="02040503050406030204" pitchFamily="18" charset="0"/>
                  </a:rPr>
                  <a:t>Корневое подпространство </a:t>
                </a:r>
                <a:r>
                  <a:rPr lang="ru-RU" dirty="0">
                    <a:latin typeface="Montserrat" panose="00000500000000000000" pitchFamily="2" charset="-52"/>
                    <a:ea typeface="Cambria Math" panose="02040503050406030204" pitchFamily="18" charset="0"/>
                  </a:rPr>
                  <a:t>с СЗ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        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⋃"/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func>
                          <m:func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ker</m:t>
                            </m:r>
                          </m:fName>
                          <m:e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𝐴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𝜆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𝐸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sup>
                            </m:sSup>
                          </m:e>
                        </m:func>
                      </m:e>
                    </m:nary>
                  </m:oMath>
                </a14:m>
                <a:r>
                  <a:rPr lang="en-US" dirty="0">
                    <a:latin typeface="Montserrat" panose="00000500000000000000" pitchFamily="2" charset="-52"/>
                    <a:ea typeface="Cambria Math" panose="02040503050406030204" pitchFamily="18" charset="0"/>
                  </a:rPr>
                  <a:t>. </a:t>
                </a:r>
                <a:endParaRPr lang="ru-RU" dirty="0">
                  <a:latin typeface="Montserrat" panose="00000500000000000000" pitchFamily="2" charset="-52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97A31F9-D532-550A-0B39-43132AA148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815813"/>
                <a:ext cx="10778412" cy="4981748"/>
              </a:xfrm>
              <a:prstGeom prst="rect">
                <a:avLst/>
              </a:prstGeom>
              <a:blipFill>
                <a:blip r:embed="rId2"/>
                <a:stretch>
                  <a:fillRect l="-509" t="-612" r="-452" b="-1028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043731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FA9BFA-2B94-1FD2-ECA7-08DAAD6889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B75FB9F-4087-D77D-BEAA-98731653BA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9844"/>
            <a:ext cx="10451841" cy="455969"/>
          </a:xfrm>
        </p:spPr>
        <p:txBody>
          <a:bodyPr>
            <a:normAutofit/>
          </a:bodyPr>
          <a:lstStyle/>
          <a:p>
            <a:r>
              <a:rPr lang="ru-RU" dirty="0"/>
              <a:t>11. Теорема о свойствах корневых подпространств. Следствия.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3C5C4B5-92C2-B3AC-566E-7DB695B8E55B}"/>
                  </a:ext>
                </a:extLst>
              </p:cNvPr>
              <p:cNvSpPr txBox="1"/>
              <p:nvPr/>
            </p:nvSpPr>
            <p:spPr>
              <a:xfrm>
                <a:off x="838200" y="815813"/>
                <a:ext cx="10778412" cy="32152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ru-RU" b="1" dirty="0">
                    <a:latin typeface="Montserrat" panose="00000500000000000000" pitchFamily="2" charset="-52"/>
                  </a:rPr>
                  <a:t>Теорема</a:t>
                </a:r>
                <a:r>
                  <a:rPr lang="ru-RU" dirty="0">
                    <a:latin typeface="Montserrat" panose="00000500000000000000" pitchFamily="2" charset="-52"/>
                  </a:rPr>
                  <a:t> </a:t>
                </a:r>
                <a:r>
                  <a:rPr lang="en-US" dirty="0">
                    <a:latin typeface="Montserrat" panose="00000500000000000000" pitchFamily="2" charset="-52"/>
                  </a:rPr>
                  <a:t>(</a:t>
                </a:r>
                <a:r>
                  <a:rPr lang="ru-RU" dirty="0">
                    <a:latin typeface="Montserrat" panose="00000500000000000000" pitchFamily="2" charset="-52"/>
                  </a:rPr>
                  <a:t>о свойствах корневых подпространств</a:t>
                </a:r>
                <a:r>
                  <a:rPr lang="en-US" dirty="0">
                    <a:latin typeface="Montserrat" panose="00000500000000000000" pitchFamily="2" charset="-52"/>
                  </a:rPr>
                  <a:t>)</a:t>
                </a:r>
                <a:r>
                  <a:rPr lang="ru-RU" dirty="0">
                    <a:latin typeface="Montserrat" panose="00000500000000000000" pitchFamily="2" charset="-52"/>
                  </a:rPr>
                  <a:t>.</a:t>
                </a:r>
                <a:endParaRPr lang="en-US" dirty="0">
                  <a:latin typeface="Montserrat" panose="00000500000000000000" pitchFamily="2" charset="-52"/>
                </a:endParaRPr>
              </a:p>
              <a:p>
                <a:pPr marL="342900" indent="-342900" algn="just">
                  <a:buAutoNum type="arabicParenR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ru-RU" b="0" i="0" dirty="0">
                    <a:latin typeface="Montserrat" panose="00000500000000000000" pitchFamily="2" charset="-52"/>
                  </a:rPr>
                  <a:t>инвариантно</a:t>
                </a:r>
              </a:p>
              <a:p>
                <a:pPr marL="342900" indent="-342900" algn="just">
                  <a:buAutoNum type="arabicParenR"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d>
                    <m:sSub>
                      <m:sSubPr>
                        <m:ctrlPr>
                          <a:rPr lang="en-US" b="0" i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"/>
                            <m:endChr m:val="|"/>
                            <m:ctrlPr>
                              <a:rPr lang="en-US" b="0" i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ru-RU"/>
                              <m:t>​</m:t>
                            </m:r>
                          </m:e>
                        </m:d>
                      </m:e>
                      <m:sub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V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𝜆</m:t>
                            </m:r>
                          </m:sup>
                        </m:sSup>
                      </m:sub>
                    </m:sSub>
                    <m:r>
                      <a:rPr lang="ru-RU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b="0" i="0" dirty="0">
                    <a:latin typeface="Montserrat" panose="00000500000000000000" pitchFamily="2" charset="-52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US" b="0" i="0" dirty="0">
                    <a:latin typeface="Montserrat" panose="00000500000000000000" pitchFamily="2" charset="-52"/>
                  </a:rPr>
                  <a:t> </a:t>
                </a:r>
                <a:r>
                  <a:rPr lang="ru-RU" b="0" i="0" dirty="0">
                    <a:latin typeface="Montserrat" panose="00000500000000000000" pitchFamily="2" charset="-52"/>
                  </a:rPr>
                  <a:t>нильпотентный оператор</a:t>
                </a:r>
                <a:endParaRPr lang="en-US" b="0" i="0" dirty="0">
                  <a:latin typeface="Montserrat" panose="00000500000000000000" pitchFamily="2" charset="-52"/>
                </a:endParaRPr>
              </a:p>
              <a:p>
                <a:pPr marL="342900" indent="-342900" algn="just">
                  <a:buAutoNum type="arabicParenR"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𝜆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d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"/>
                            <m:endChr m:val="|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ru-RU"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</m:d>
                      </m:e>
                      <m:sub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V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𝜆</m:t>
                            </m:r>
                          </m:sup>
                        </m:sSup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dirty="0">
                    <a:latin typeface="Montserrat" panose="00000500000000000000" pitchFamily="2" charset="-52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US" b="0" i="0" dirty="0">
                    <a:latin typeface="Montserrat" panose="00000500000000000000" pitchFamily="2" charset="-52"/>
                  </a:rPr>
                  <a:t> </a:t>
                </a:r>
                <a:r>
                  <a:rPr lang="ru-RU" b="0" i="0" dirty="0">
                    <a:latin typeface="Montserrat" panose="00000500000000000000" pitchFamily="2" charset="-52"/>
                  </a:rPr>
                  <a:t>невырожден при </a:t>
                </a:r>
                <a14:m>
                  <m:oMath xmlns:m="http://schemas.openxmlformats.org/officeDocument/2006/math">
                    <m:r>
                      <a:rPr lang="ru-RU" b="0" i="1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endParaRPr lang="en-US" b="0" i="0" dirty="0">
                  <a:latin typeface="Montserrat" panose="00000500000000000000" pitchFamily="2" charset="-52"/>
                </a:endParaRPr>
              </a:p>
              <a:p>
                <a:pPr marL="342900" indent="-342900" algn="just">
                  <a:buAutoNum type="arabicParenR"/>
                </a:pPr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dim</m:t>
                        </m:r>
                      </m:fName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𝜆</m:t>
                            </m:r>
                          </m:sup>
                        </m:sSup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b="0" i="0" dirty="0">
                    <a:latin typeface="Montserrat" panose="00000500000000000000" pitchFamily="2" charset="-52"/>
                  </a:rPr>
                  <a:t> (</a:t>
                </a:r>
                <a:r>
                  <a:rPr lang="ru-RU" b="0" i="0" dirty="0">
                    <a:latin typeface="Montserrat" panose="00000500000000000000" pitchFamily="2" charset="-52"/>
                  </a:rPr>
                  <a:t>геометрический смысл алгебраической кратности</a:t>
                </a:r>
                <a:r>
                  <a:rPr lang="en-US" b="0" i="0" dirty="0">
                    <a:latin typeface="Montserrat" panose="00000500000000000000" pitchFamily="2" charset="-52"/>
                  </a:rPr>
                  <a:t>)</a:t>
                </a:r>
                <a:endParaRPr lang="ru-RU" b="0" i="0" dirty="0">
                  <a:latin typeface="Montserrat" panose="00000500000000000000" pitchFamily="2" charset="-52"/>
                </a:endParaRPr>
              </a:p>
              <a:p>
                <a:pPr algn="just"/>
                <a:endParaRPr lang="ru-RU" b="0" i="0" dirty="0">
                  <a:latin typeface="Montserrat" panose="00000500000000000000" pitchFamily="2" charset="-52"/>
                </a:endParaRPr>
              </a:p>
              <a:p>
                <a:pPr algn="just"/>
                <a:r>
                  <a:rPr lang="ru-RU" b="1" dirty="0">
                    <a:latin typeface="Montserrat" panose="00000500000000000000" pitchFamily="2" charset="-52"/>
                  </a:rPr>
                  <a:t>Доказательство</a:t>
                </a:r>
                <a:r>
                  <a:rPr lang="ru-RU" dirty="0">
                    <a:latin typeface="Montserrat" panose="00000500000000000000" pitchFamily="2" charset="-52"/>
                  </a:rPr>
                  <a:t>. Метод скипа.</a:t>
                </a:r>
              </a:p>
              <a:p>
                <a:pPr algn="just"/>
                <a:r>
                  <a:rPr lang="ru-RU" dirty="0">
                    <a:latin typeface="Montserrat" panose="00000500000000000000" pitchFamily="2" charset="-52"/>
                  </a:rPr>
                  <a:t>Лекция 2.3 (8), часть 1: в </a:t>
                </a:r>
                <a:r>
                  <a:rPr lang="ru-RU" dirty="0">
                    <a:latin typeface="Montserrat" panose="00000500000000000000" pitchFamily="2" charset="-52"/>
                    <a:hlinkClick r:id="rId2"/>
                  </a:rPr>
                  <a:t>конспекте</a:t>
                </a:r>
                <a:r>
                  <a:rPr lang="ru-RU" dirty="0">
                    <a:latin typeface="Montserrat" panose="00000500000000000000" pitchFamily="2" charset="-52"/>
                  </a:rPr>
                  <a:t> не полное, в </a:t>
                </a:r>
                <a:r>
                  <a:rPr lang="ru-RU" dirty="0">
                    <a:latin typeface="Montserrat" panose="00000500000000000000" pitchFamily="2" charset="-52"/>
                    <a:hlinkClick r:id="rId3"/>
                  </a:rPr>
                  <a:t>видео</a:t>
                </a:r>
                <a:r>
                  <a:rPr lang="ru-RU" dirty="0">
                    <a:latin typeface="Montserrat" panose="00000500000000000000" pitchFamily="2" charset="-52"/>
                  </a:rPr>
                  <a:t> лекции полностью.</a:t>
                </a:r>
              </a:p>
              <a:p>
                <a:pPr algn="just"/>
                <a:endParaRPr lang="ru-RU" dirty="0">
                  <a:latin typeface="Montserrat" panose="00000500000000000000" pitchFamily="2" charset="-52"/>
                </a:endParaRPr>
              </a:p>
              <a:p>
                <a:pPr marL="342900" indent="-342900" algn="just">
                  <a:buAutoNum type="arabicParenBoth"/>
                </a:pPr>
                <a:r>
                  <a:rPr lang="ru-RU" dirty="0">
                    <a:latin typeface="Montserrat" panose="00000500000000000000" pitchFamily="2" charset="-52"/>
                  </a:rPr>
                  <a:t>Существует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>
                    <a:latin typeface="Montserrat" panose="00000500000000000000" pitchFamily="2" charset="-52"/>
                  </a:rPr>
                  <a:t>, </a:t>
                </a:r>
                <a:r>
                  <a:rPr lang="ru-RU" dirty="0">
                    <a:latin typeface="Montserrat" panose="00000500000000000000" pitchFamily="2" charset="-52"/>
                  </a:rPr>
                  <a:t>при котором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𝜆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=0, 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и (</m:t>
                    </m:r>
                    <m:r>
                      <a:rPr lang="ru-RU" i="1" dirty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ru-RU" i="1" dirty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ru-RU" i="1" dirty="0" err="1">
                        <a:latin typeface="Cambria Math" panose="02040503050406030204" pitchFamily="18" charset="0"/>
                      </a:rPr>
                      <m:t>𝜆</m:t>
                    </m:r>
                    <m:r>
                      <a:rPr lang="ru-RU" i="1" dirty="0" err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ru-RU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b="1" dirty="0">
                    <a:latin typeface="Montserrat" panose="00000500000000000000" pitchFamily="2" charset="-52"/>
                  </a:rPr>
                  <a:t> </a:t>
                </a:r>
                <a:r>
                  <a:rPr lang="ru-RU" b="1" dirty="0">
                    <a:latin typeface="Montserrat" panose="00000500000000000000" pitchFamily="2" charset="-52"/>
                  </a:rPr>
                  <a:t>коммутируют</a:t>
                </a:r>
                <a:r>
                  <a:rPr lang="en-US" dirty="0">
                    <a:latin typeface="Montserrat" panose="00000500000000000000" pitchFamily="2" charset="-52"/>
                  </a:rPr>
                  <a:t>.</a:t>
                </a: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</m:d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</m:d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⋅0=0</m:t>
                      </m:r>
                    </m:oMath>
                  </m:oMathPara>
                </a14:m>
                <a:endParaRPr lang="en-US" dirty="0">
                  <a:latin typeface="Montserrat" panose="00000500000000000000" pitchFamily="2" charset="-52"/>
                </a:endParaRP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3C5C4B5-92C2-B3AC-566E-7DB695B8E5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815813"/>
                <a:ext cx="10778412" cy="3215239"/>
              </a:xfrm>
              <a:prstGeom prst="rect">
                <a:avLst/>
              </a:prstGeom>
              <a:blipFill>
                <a:blip r:embed="rId4"/>
                <a:stretch>
                  <a:fillRect l="-509" t="-94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BD8F417-C7D3-F9C7-2A44-EDA6B3A577C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14700" y="4784747"/>
            <a:ext cx="5257800" cy="768315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B3184CB7-4102-2C67-0401-EDD9861F8F9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3600" y="5548219"/>
            <a:ext cx="5257801" cy="1002304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639B19A-0179-F813-5B74-19CDDFA0B89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49680" y="4031052"/>
            <a:ext cx="4938324" cy="80364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A52F632-CC6D-8B57-03E9-031A5F14D03E}"/>
              </a:ext>
            </a:extLst>
          </p:cNvPr>
          <p:cNvSpPr txBox="1"/>
          <p:nvPr/>
        </p:nvSpPr>
        <p:spPr>
          <a:xfrm>
            <a:off x="838200" y="443287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  <a:endParaRPr lang="ru-RU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EFBC7E9-2348-FA09-F617-B5BE95AA53A6}"/>
              </a:ext>
            </a:extLst>
          </p:cNvPr>
          <p:cNvSpPr txBox="1"/>
          <p:nvPr/>
        </p:nvSpPr>
        <p:spPr>
          <a:xfrm>
            <a:off x="2994660" y="517888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  <a:endParaRPr lang="ru-RU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4726966-D2FA-ACBF-F788-A4EAC9CDC402}"/>
              </a:ext>
            </a:extLst>
          </p:cNvPr>
          <p:cNvSpPr txBox="1"/>
          <p:nvPr/>
        </p:nvSpPr>
        <p:spPr>
          <a:xfrm>
            <a:off x="5641914" y="618119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465865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78617D-A143-C132-353B-253FE7E052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713C7C-1CDD-B0C1-8FC9-A1ABA3B3CF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9844"/>
            <a:ext cx="10451841" cy="455969"/>
          </a:xfrm>
        </p:spPr>
        <p:txBody>
          <a:bodyPr>
            <a:normAutofit/>
          </a:bodyPr>
          <a:lstStyle/>
          <a:p>
            <a:r>
              <a:rPr lang="ru-RU" dirty="0"/>
              <a:t>11. Теорема о свойствах корневых подпространств. Следствия.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A6C1EFB-33A0-830E-0138-35A9412D1531}"/>
                  </a:ext>
                </a:extLst>
              </p:cNvPr>
              <p:cNvSpPr txBox="1"/>
              <p:nvPr/>
            </p:nvSpPr>
            <p:spPr>
              <a:xfrm>
                <a:off x="838200" y="815813"/>
                <a:ext cx="10778412" cy="54919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ru-RU" b="1" dirty="0">
                    <a:latin typeface="Montserrat" panose="00000500000000000000" pitchFamily="2" charset="-52"/>
                  </a:rPr>
                  <a:t>Теорема</a:t>
                </a:r>
                <a:r>
                  <a:rPr lang="ru-RU" dirty="0">
                    <a:latin typeface="Montserrat" panose="00000500000000000000" pitchFamily="2" charset="-52"/>
                  </a:rPr>
                  <a:t>. Корневые подпространства, отвечающие различным собственным значениями, линейно независимы.</a:t>
                </a:r>
              </a:p>
              <a:p>
                <a:pPr algn="just"/>
                <a:r>
                  <a:rPr lang="ru-RU" b="1" dirty="0">
                    <a:latin typeface="Montserrat" panose="00000500000000000000" pitchFamily="2" charset="-52"/>
                  </a:rPr>
                  <a:t>Доказательство</a:t>
                </a:r>
                <a:r>
                  <a:rPr lang="ru-RU" dirty="0">
                    <a:latin typeface="Montserrat" panose="00000500000000000000" pitchFamily="2" charset="-52"/>
                  </a:rPr>
                  <a:t>.</a:t>
                </a:r>
              </a:p>
              <a:p>
                <a:pPr algn="just"/>
                <a:r>
                  <a:rPr lang="ru-RU" i="1" dirty="0">
                    <a:latin typeface="Montserrat" panose="00000500000000000000" pitchFamily="2" charset="-52"/>
                  </a:rPr>
                  <a:t>Индукция</a:t>
                </a:r>
                <a:r>
                  <a:rPr lang="ru-RU" dirty="0">
                    <a:latin typeface="Montserrat" panose="00000500000000000000" pitchFamily="2" charset="-52"/>
                  </a:rPr>
                  <a:t> по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>
                    <a:latin typeface="Montserrat" panose="00000500000000000000" pitchFamily="2" charset="-52"/>
                  </a:rPr>
                  <a:t>. </a:t>
                </a:r>
                <a:r>
                  <a:rPr lang="ru-RU" dirty="0">
                    <a:latin typeface="Montserrat" panose="00000500000000000000" pitchFamily="2" charset="-52"/>
                  </a:rPr>
                  <a:t>При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dirty="0">
                    <a:latin typeface="Montserrat" panose="00000500000000000000" pitchFamily="2" charset="-52"/>
                  </a:rPr>
                  <a:t> </a:t>
                </a:r>
                <a:r>
                  <a:rPr lang="ru-RU" dirty="0">
                    <a:latin typeface="Montserrat" panose="00000500000000000000" pitchFamily="2" charset="-52"/>
                  </a:rPr>
                  <a:t>всего 1 подпространство.</a:t>
                </a:r>
              </a:p>
              <a:p>
                <a:pPr algn="just"/>
                <a:r>
                  <a:rPr lang="ru-RU" dirty="0">
                    <a:latin typeface="Montserrat" panose="00000500000000000000" pitchFamily="2" charset="-52"/>
                  </a:rPr>
                  <a:t>Пусть</a:t>
                </a:r>
                <a:r>
                  <a:rPr lang="en-US" dirty="0">
                    <a:latin typeface="Montserrat" panose="00000500000000000000" pitchFamily="2" charset="-5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+…+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>
                    <a:latin typeface="Montserrat" panose="00000500000000000000" pitchFamily="2" charset="-52"/>
                  </a:rPr>
                  <a:t>.</a:t>
                </a:r>
                <a:r>
                  <a:rPr lang="ru-RU" dirty="0">
                    <a:latin typeface="Montserrat" panose="00000500000000000000" pitchFamily="2" charset="-52"/>
                  </a:rPr>
                  <a:t> Применим оператор.</a:t>
                </a: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i="1">
                          <a:latin typeface="Cambria Math" panose="02040503050406030204" pitchFamily="18" charset="0"/>
                        </a:rPr>
                        <m:t>𝜑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+…+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𝜑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+…+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𝜑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+…+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𝜑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(0)</m:t>
                      </m:r>
                    </m:oMath>
                  </m:oMathPara>
                </a14:m>
                <a:endParaRPr lang="ru-RU" dirty="0">
                  <a:latin typeface="Montserrat" panose="00000500000000000000" pitchFamily="2" charset="-52"/>
                </a:endParaRPr>
              </a:p>
              <a:p>
                <a:pPr algn="just"/>
                <a:r>
                  <a:rPr lang="ru-RU" dirty="0">
                    <a:latin typeface="Montserrat" panose="00000500000000000000" pitchFamily="2" charset="-52"/>
                  </a:rPr>
                  <a:t>Вычтем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+…+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ru-RU" dirty="0">
                    <a:latin typeface="Montserrat" panose="00000500000000000000" pitchFamily="2" charset="-52"/>
                  </a:rPr>
                  <a:t> из </a:t>
                </a:r>
                <a:r>
                  <a:rPr lang="ru-RU" dirty="0">
                    <a:solidFill>
                      <a:srgbClr val="FF0000"/>
                    </a:solidFill>
                    <a:latin typeface="Montserrat" panose="00000500000000000000" pitchFamily="2" charset="-52"/>
                  </a:rPr>
                  <a:t>равенства</a:t>
                </a:r>
                <a:r>
                  <a:rPr lang="en-US" dirty="0">
                    <a:latin typeface="Montserrat" panose="00000500000000000000" pitchFamily="2" charset="-52"/>
                  </a:rPr>
                  <a:t>, </a:t>
                </a:r>
                <a:r>
                  <a:rPr lang="ru-RU" dirty="0">
                    <a:latin typeface="Montserrat" panose="00000500000000000000" pitchFamily="2" charset="-52"/>
                  </a:rPr>
                  <a:t>получим</a:t>
                </a: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+…+</m:t>
                      </m:r>
                      <m:d>
                        <m:d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>
                  <a:latin typeface="Montserrat" panose="00000500000000000000" pitchFamily="2" charset="-52"/>
                </a:endParaRPr>
              </a:p>
              <a:p>
                <a:pPr algn="just"/>
                <a:r>
                  <a:rPr lang="ru-RU" dirty="0">
                    <a:latin typeface="Montserrat" panose="00000500000000000000" pitchFamily="2" charset="-52"/>
                  </a:rPr>
                  <a:t>Пусть верно для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dirty="0">
                    <a:latin typeface="Montserrat" panose="00000500000000000000" pitchFamily="2" charset="-52"/>
                  </a:rPr>
                  <a:t>, </a:t>
                </a:r>
                <a:r>
                  <a:rPr lang="ru-RU" dirty="0">
                    <a:latin typeface="Montserrat" panose="00000500000000000000" pitchFamily="2" charset="-52"/>
                  </a:rPr>
                  <a:t>тогда</a:t>
                </a:r>
                <a:r>
                  <a:rPr lang="en-US" dirty="0">
                    <a:latin typeface="Montserrat" panose="00000500000000000000" pitchFamily="2" charset="-5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+…+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>
                    <a:latin typeface="Montserrat" panose="00000500000000000000" pitchFamily="2" charset="-52"/>
                  </a:rPr>
                  <a:t>, </a:t>
                </a:r>
                <a:r>
                  <a:rPr lang="ru-RU" dirty="0">
                    <a:latin typeface="Montserrat" panose="00000500000000000000" pitchFamily="2" charset="-52"/>
                  </a:rPr>
                  <a:t>отсюда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>
                    <a:latin typeface="Montserrat" panose="00000500000000000000" pitchFamily="2" charset="-52"/>
                  </a:rPr>
                  <a:t>. </a:t>
                </a:r>
                <a:r>
                  <a:rPr lang="ru-RU" dirty="0">
                    <a:latin typeface="Montserrat" panose="00000500000000000000" pitchFamily="2" charset="-52"/>
                  </a:rPr>
                  <a:t>Значит, верно для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>
                    <a:latin typeface="Montserrat" panose="00000500000000000000" pitchFamily="2" charset="-52"/>
                  </a:rPr>
                  <a:t>.</a:t>
                </a:r>
              </a:p>
              <a:p>
                <a:pPr algn="just"/>
                <a:endParaRPr lang="ru-RU" b="1" dirty="0">
                  <a:latin typeface="Montserrat" panose="00000500000000000000" pitchFamily="2" charset="-52"/>
                </a:endParaRPr>
              </a:p>
              <a:p>
                <a:pPr algn="just"/>
                <a:endParaRPr lang="ru-RU" b="1" dirty="0">
                  <a:latin typeface="Montserrat" panose="00000500000000000000" pitchFamily="2" charset="-52"/>
                </a:endParaRPr>
              </a:p>
              <a:p>
                <a:pPr algn="just"/>
                <a:r>
                  <a:rPr lang="ru-RU" b="1" dirty="0">
                    <a:latin typeface="Montserrat" panose="00000500000000000000" pitchFamily="2" charset="-52"/>
                  </a:rPr>
                  <a:t>Теорема</a:t>
                </a:r>
                <a:r>
                  <a:rPr lang="ru-RU" dirty="0">
                    <a:latin typeface="Montserrat" panose="00000500000000000000" pitchFamily="2" charset="-52"/>
                  </a:rPr>
                  <a:t>. Базис пространства V может быть образован объединением базисов корневых подпространств.</a:t>
                </a:r>
              </a:p>
              <a:p>
                <a:pPr algn="just"/>
                <a:r>
                  <a:rPr lang="ru-RU" b="1" dirty="0">
                    <a:latin typeface="Montserrat" panose="00000500000000000000" pitchFamily="2" charset="-52"/>
                  </a:rPr>
                  <a:t>Доказательство</a:t>
                </a:r>
                <a:r>
                  <a:rPr lang="ru-RU" dirty="0">
                    <a:latin typeface="Montserrat" panose="00000500000000000000" pitchFamily="2" charset="-52"/>
                  </a:rPr>
                  <a:t>.</a:t>
                </a:r>
              </a:p>
              <a:p>
                <a:pPr algn="just"/>
                <a:r>
                  <a:rPr lang="ru-RU" dirty="0">
                    <a:latin typeface="Montserrat" panose="00000500000000000000" pitchFamily="2" charset="-52"/>
                  </a:rPr>
                  <a:t>Корневые пространства – ЛНЗ, их сумма – прямая. </a:t>
                </a: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ru-RU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func>
                            <m:func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dim</m:t>
                              </m:r>
                            </m:fName>
                            <m:e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p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𝜆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sup>
                              </m:sSup>
                            </m:e>
                          </m:func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dim</m:t>
                          </m:r>
                        </m:fNam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</m:func>
                    </m:oMath>
                  </m:oMathPara>
                </a14:m>
                <a:endParaRPr lang="en-US" dirty="0">
                  <a:latin typeface="Montserrat" panose="00000500000000000000" pitchFamily="2" charset="-52"/>
                </a:endParaRPr>
              </a:p>
              <a:p>
                <a:pPr algn="just"/>
                <a:r>
                  <a:rPr lang="ru-RU" dirty="0">
                    <a:latin typeface="Montserrat" panose="00000500000000000000" pitchFamily="2" charset="-52"/>
                  </a:rPr>
                  <a:t>Следовательно</a:t>
                </a:r>
                <a:r>
                  <a:rPr lang="en-US" dirty="0">
                    <a:latin typeface="Montserrat" panose="00000500000000000000" pitchFamily="2" charset="-52"/>
                  </a:rPr>
                  <a:t> (p – </a:t>
                </a:r>
                <a:r>
                  <a:rPr lang="ru-RU" dirty="0">
                    <a:latin typeface="Montserrat" panose="00000500000000000000" pitchFamily="2" charset="-52"/>
                  </a:rPr>
                  <a:t>количество СЧ</a:t>
                </a:r>
                <a:r>
                  <a:rPr lang="en-US" dirty="0">
                    <a:latin typeface="Montserrat" panose="00000500000000000000" pitchFamily="2" charset="-52"/>
                  </a:rPr>
                  <a:t>)</a:t>
                </a:r>
                <a:r>
                  <a:rPr lang="ru-RU" dirty="0">
                    <a:latin typeface="Montserrat" panose="00000500000000000000" pitchFamily="2" charset="-52"/>
                  </a:rPr>
                  <a:t>,</a:t>
                </a: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p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⊕…⊕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p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</m:sup>
                      </m:sSup>
                    </m:oMath>
                  </m:oMathPara>
                </a14:m>
                <a:endParaRPr lang="en-US" dirty="0">
                  <a:latin typeface="Montserrat" panose="00000500000000000000" pitchFamily="2" charset="-52"/>
                </a:endParaRP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A6C1EFB-33A0-830E-0138-35A9412D15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815813"/>
                <a:ext cx="10778412" cy="5491953"/>
              </a:xfrm>
              <a:prstGeom prst="rect">
                <a:avLst/>
              </a:prstGeom>
              <a:blipFill>
                <a:blip r:embed="rId2"/>
                <a:stretch>
                  <a:fillRect l="-509" t="-555" r="-45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475787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AC76BF-0BC9-E7CF-7F06-2F8E405380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096E8F7-A310-3816-1ECE-8989D39922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9844"/>
            <a:ext cx="10451841" cy="455969"/>
          </a:xfrm>
        </p:spPr>
        <p:txBody>
          <a:bodyPr>
            <a:normAutofit fontScale="90000"/>
          </a:bodyPr>
          <a:lstStyle/>
          <a:p>
            <a:r>
              <a:rPr lang="ru-RU" dirty="0"/>
              <a:t>12. Структура нильпотентного оператора. Теорема о структуре нильпотентного оператора.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EE8600D-B4B0-D173-5F2C-578C8375349B}"/>
                  </a:ext>
                </a:extLst>
              </p:cNvPr>
              <p:cNvSpPr txBox="1"/>
              <p:nvPr/>
            </p:nvSpPr>
            <p:spPr>
              <a:xfrm>
                <a:off x="838200" y="815813"/>
                <a:ext cx="10778412" cy="427694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ru-RU" dirty="0">
                    <a:latin typeface="Montserrat" panose="00000500000000000000" pitchFamily="2" charset="-52"/>
                  </a:rPr>
                  <a:t>Пусть </a:t>
                </a:r>
                <a14:m>
                  <m:oMath xmlns:m="http://schemas.openxmlformats.org/officeDocument/2006/math">
                    <m:r>
                      <a:rPr lang="ru-RU" i="1" dirty="0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ru-RU" dirty="0">
                    <a:latin typeface="Montserrat" panose="00000500000000000000" pitchFamily="2" charset="-52"/>
                  </a:rPr>
                  <a:t> — </a:t>
                </a:r>
                <a:r>
                  <a:rPr lang="ru-RU" i="1" dirty="0">
                    <a:latin typeface="Montserrat" panose="00000500000000000000" pitchFamily="2" charset="-52"/>
                  </a:rPr>
                  <a:t>нильпотентный оператор</a:t>
                </a:r>
                <a:r>
                  <a:rPr lang="ru-RU" dirty="0">
                    <a:latin typeface="Montserrat" panose="00000500000000000000" pitchFamily="2" charset="-52"/>
                  </a:rPr>
                  <a:t>, то есть</a:t>
                </a:r>
                <a14:m>
                  <m:oMath xmlns:m="http://schemas.openxmlformats.org/officeDocument/2006/math">
                    <m:r>
                      <a:rPr lang="ru-RU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ru-RU" b="0" i="1" dirty="0" smtClean="0">
                        <a:latin typeface="Cambria Math" panose="02040503050406030204" pitchFamily="18" charset="0"/>
                      </a:rPr>
                      <m:t>∃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ℕ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</m:t>
                    </m:r>
                    <m:r>
                      <a:rPr lang="ru-RU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ru-RU" i="1" dirty="0" err="1" smtClean="0">
                        <a:latin typeface="Cambria Math" panose="02040503050406030204" pitchFamily="18" charset="0"/>
                      </a:rPr>
                      <m:t>𝑁𝑚</m:t>
                    </m:r>
                    <m:r>
                      <a:rPr lang="ru-RU" i="1" dirty="0" smtClean="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ru-RU" i="1" dirty="0" smtClean="0"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lang="ru-RU" dirty="0">
                    <a:latin typeface="Montserrat" panose="00000500000000000000" pitchFamily="2" charset="-52"/>
                  </a:rPr>
                  <a:t>. Наименьшее из таких m называют </a:t>
                </a:r>
                <a:r>
                  <a:rPr lang="ru-RU" b="1" dirty="0">
                    <a:latin typeface="Montserrat" panose="00000500000000000000" pitchFamily="2" charset="-52"/>
                  </a:rPr>
                  <a:t>высотой</a:t>
                </a:r>
                <a:r>
                  <a:rPr lang="en-US" dirty="0">
                    <a:latin typeface="Montserrat" panose="00000500000000000000" pitchFamily="2" charset="-52"/>
                  </a:rPr>
                  <a:t> </a:t>
                </a:r>
                <a:r>
                  <a:rPr lang="ru-RU" dirty="0">
                    <a:latin typeface="Montserrat" panose="00000500000000000000" pitchFamily="2" charset="-52"/>
                  </a:rPr>
                  <a:t>нильпотентного оператора. Для него </a:t>
                </a:r>
                <a:r>
                  <a:rPr lang="ru-RU" i="1" dirty="0">
                    <a:latin typeface="Montserrat" panose="00000500000000000000" pitchFamily="2" charset="-52"/>
                  </a:rPr>
                  <a:t>все</a:t>
                </a:r>
                <a:r>
                  <a:rPr lang="ru-RU" dirty="0">
                    <a:latin typeface="Montserrat" panose="00000500000000000000" pitchFamily="2" charset="-52"/>
                  </a:rPr>
                  <a:t> векторы </a:t>
                </a:r>
                <a14:m>
                  <m:oMath xmlns:m="http://schemas.openxmlformats.org/officeDocument/2006/math">
                    <m:r>
                      <a:rPr lang="ru-RU" i="1" dirty="0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ru-RU" dirty="0">
                    <a:latin typeface="Montserrat" panose="00000500000000000000" pitchFamily="2" charset="-52"/>
                  </a:rPr>
                  <a:t> — корневые с собственным</a:t>
                </a:r>
                <a:r>
                  <a:rPr lang="en-US" dirty="0">
                    <a:latin typeface="Montserrat" panose="00000500000000000000" pitchFamily="2" charset="-52"/>
                  </a:rPr>
                  <a:t> </a:t>
                </a:r>
                <a:r>
                  <a:rPr lang="ru-RU" dirty="0">
                    <a:latin typeface="Montserrat" panose="00000500000000000000" pitchFamily="2" charset="-52"/>
                  </a:rPr>
                  <a:t>значением </a:t>
                </a:r>
                <a14:m>
                  <m:oMath xmlns:m="http://schemas.openxmlformats.org/officeDocument/2006/math">
                    <m:r>
                      <a:rPr lang="ru-RU" i="1" dirty="0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ru-RU" dirty="0">
                    <a:latin typeface="Montserrat" panose="00000500000000000000" pitchFamily="2" charset="-52"/>
                  </a:rPr>
                  <a:t>, высоты не больше </a:t>
                </a:r>
                <a14:m>
                  <m:oMath xmlns:m="http://schemas.openxmlformats.org/officeDocument/2006/math">
                    <m:r>
                      <a:rPr lang="ru-RU" i="1" dirty="0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ru-RU" dirty="0">
                    <a:latin typeface="Montserrat" panose="00000500000000000000" pitchFamily="2" charset="-52"/>
                  </a:rPr>
                  <a:t>.</a:t>
                </a:r>
                <a:endParaRPr lang="en-US" dirty="0">
                  <a:latin typeface="Montserrat" panose="00000500000000000000" pitchFamily="2" charset="-52"/>
                </a:endParaRPr>
              </a:p>
              <a:p>
                <a:pPr algn="just"/>
                <a:endParaRPr lang="en-US" dirty="0">
                  <a:latin typeface="Montserrat" panose="00000500000000000000" pitchFamily="2" charset="-52"/>
                </a:endParaRPr>
              </a:p>
              <a:p>
                <a:pPr algn="just"/>
                <a:r>
                  <a:rPr lang="ru-RU" dirty="0">
                    <a:latin typeface="Montserrat" panose="00000500000000000000" pitchFamily="2" charset="-52"/>
                  </a:rPr>
                  <a:t>Подпространство </a:t>
                </a:r>
                <a14:m>
                  <m:oMath xmlns:m="http://schemas.openxmlformats.org/officeDocument/2006/math">
                    <m:r>
                      <a:rPr lang="ru-RU" i="1" dirty="0" smtClean="0">
                        <a:latin typeface="Cambria Math" panose="02040503050406030204" pitchFamily="18" charset="0"/>
                      </a:rPr>
                      <m:t>𝑈</m:t>
                    </m:r>
                    <m:r>
                      <a:rPr lang="ru-RU" i="1" dirty="0" smtClean="0">
                        <a:latin typeface="Cambria Math" panose="02040503050406030204" pitchFamily="18" charset="0"/>
                      </a:rPr>
                      <m:t> = ⟨</m:t>
                    </m:r>
                    <m:r>
                      <a:rPr lang="ru-RU" i="1" dirty="0" err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ru-RU" i="1" dirty="0" err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ru-RU" i="1" dirty="0" err="1" smtClean="0">
                        <a:latin typeface="Cambria Math" panose="02040503050406030204" pitchFamily="18" charset="0"/>
                      </a:rPr>
                      <m:t>𝑁𝑥</m:t>
                    </m:r>
                    <m:r>
                      <a:rPr lang="ru-RU" i="1" dirty="0" err="1" smtClean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i="1" dirty="0" err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a:rPr lang="ru-RU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ru-RU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ru-RU" i="1" dirty="0" smtClean="0">
                        <a:latin typeface="Cambria Math" panose="02040503050406030204" pitchFamily="18" charset="0"/>
                      </a:rPr>
                      <m:t>, . . . ⟩</m:t>
                    </m:r>
                  </m:oMath>
                </a14:m>
                <a:r>
                  <a:rPr lang="ru-RU" dirty="0">
                    <a:latin typeface="Montserrat" panose="00000500000000000000" pitchFamily="2" charset="-52"/>
                  </a:rPr>
                  <a:t> называется </a:t>
                </a:r>
                <a:r>
                  <a:rPr lang="ru-RU" b="1" dirty="0">
                    <a:latin typeface="Montserrat" panose="00000500000000000000" pitchFamily="2" charset="-52"/>
                  </a:rPr>
                  <a:t>циклическим подпространством </a:t>
                </a:r>
                <a:r>
                  <a:rPr lang="ru-RU" dirty="0">
                    <a:latin typeface="Montserrat" panose="00000500000000000000" pitchFamily="2" charset="-52"/>
                  </a:rPr>
                  <a:t>нильпотентного оператора N , порождённым</a:t>
                </a:r>
                <a:r>
                  <a:rPr lang="en-US" dirty="0">
                    <a:latin typeface="Montserrat" panose="00000500000000000000" pitchFamily="2" charset="-52"/>
                  </a:rPr>
                  <a:t> </a:t>
                </a:r>
                <a:r>
                  <a:rPr lang="ru-RU" dirty="0">
                    <a:latin typeface="Montserrat" panose="00000500000000000000" pitchFamily="2" charset="-52"/>
                  </a:rPr>
                  <a:t>вектором x.</a:t>
                </a:r>
                <a:endParaRPr lang="en-US" dirty="0">
                  <a:latin typeface="Montserrat" panose="00000500000000000000" pitchFamily="2" charset="-52"/>
                </a:endParaRPr>
              </a:p>
              <a:p>
                <a:pPr algn="just"/>
                <a:endParaRPr lang="en-US" dirty="0">
                  <a:latin typeface="Montserrat" panose="00000500000000000000" pitchFamily="2" charset="-52"/>
                </a:endParaRPr>
              </a:p>
              <a:p>
                <a:pPr algn="just"/>
                <a:r>
                  <a:rPr lang="ru-RU" b="1" dirty="0">
                    <a:latin typeface="Montserrat" panose="00000500000000000000" pitchFamily="2" charset="-52"/>
                  </a:rPr>
                  <a:t>Лемма</a:t>
                </a:r>
                <a:r>
                  <a:rPr lang="ru-RU" dirty="0">
                    <a:latin typeface="Montserrat" panose="00000500000000000000" pitchFamily="2" charset="-52"/>
                  </a:rPr>
                  <a:t>. Пусть </a:t>
                </a:r>
                <a14:m>
                  <m:oMath xmlns:m="http://schemas.openxmlformats.org/officeDocument/2006/math">
                    <m:r>
                      <a:rPr lang="ru-RU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ru-RU" i="1" dirty="0" smtClean="0">
                        <a:latin typeface="Cambria Math" panose="02040503050406030204" pitchFamily="18" charset="0"/>
                      </a:rPr>
                      <m:t> ∈ </m:t>
                    </m:r>
                    <m:r>
                      <a:rPr lang="ru-RU" i="1" dirty="0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ru-RU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dirty="0">
                    <a:latin typeface="Montserrat" panose="00000500000000000000" pitchFamily="2" charset="-52"/>
                  </a:rPr>
                  <a:t>— вектор высоты </a:t>
                </a:r>
                <a14:m>
                  <m:oMath xmlns:m="http://schemas.openxmlformats.org/officeDocument/2006/math">
                    <m:r>
                      <a:rPr lang="ru-RU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ru-RU" i="1" dirty="0" smtClean="0">
                        <a:latin typeface="Cambria Math" panose="02040503050406030204" pitchFamily="18" charset="0"/>
                      </a:rPr>
                      <m:t> &gt; 0 </m:t>
                    </m:r>
                  </m:oMath>
                </a14:m>
                <a:r>
                  <a:rPr lang="ru-RU" dirty="0">
                    <a:latin typeface="Montserrat" panose="00000500000000000000" pitchFamily="2" charset="-52"/>
                  </a:rPr>
                  <a:t>Тогда векторы </a:t>
                </a:r>
                <a14:m>
                  <m:oMath xmlns:m="http://schemas.openxmlformats.org/officeDocument/2006/math">
                    <m:r>
                      <a:rPr lang="ru-RU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ru-RU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ru-RU" i="1" dirty="0" smtClean="0">
                        <a:latin typeface="Cambria Math" panose="02040503050406030204" pitchFamily="18" charset="0"/>
                      </a:rPr>
                      <m:t>𝑁𝑥</m:t>
                    </m:r>
                    <m:r>
                      <a:rPr lang="ru-RU" i="1" dirty="0" smtClean="0">
                        <a:latin typeface="Cambria Math" panose="02040503050406030204" pitchFamily="18" charset="0"/>
                      </a:rPr>
                      <m:t>, . . . ,</m:t>
                    </m:r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i="1" dirty="0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a:rPr lang="ru-RU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ru-RU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ru-RU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dirty="0">
                    <a:latin typeface="Montserrat" panose="00000500000000000000" pitchFamily="2" charset="-52"/>
                  </a:rPr>
                  <a:t>линейно независимы.</a:t>
                </a:r>
                <a:endParaRPr lang="en-US" dirty="0">
                  <a:latin typeface="Montserrat" panose="00000500000000000000" pitchFamily="2" charset="-52"/>
                </a:endParaRPr>
              </a:p>
              <a:p>
                <a:pPr algn="just"/>
                <a:r>
                  <a:rPr lang="ru-RU" dirty="0">
                    <a:latin typeface="Montserrat" panose="00000500000000000000" pitchFamily="2" charset="-52"/>
                  </a:rPr>
                  <a:t>Доказательство. Индукция по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>
                    <a:latin typeface="Montserrat" panose="00000500000000000000" pitchFamily="2" charset="-52"/>
                  </a:rPr>
                  <a:t>. </a:t>
                </a:r>
                <a:r>
                  <a:rPr lang="ru-RU" dirty="0">
                    <a:latin typeface="Montserrat" panose="00000500000000000000" pitchFamily="2" charset="-52"/>
                  </a:rPr>
                  <a:t>Если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dirty="0">
                    <a:latin typeface="Montserrat" panose="00000500000000000000" pitchFamily="2" charset="-52"/>
                  </a:rPr>
                  <a:t>, </a:t>
                </a:r>
                <a:r>
                  <a:rPr lang="ru-RU" dirty="0">
                    <a:latin typeface="Montserrat" panose="00000500000000000000" pitchFamily="2" charset="-52"/>
                  </a:rPr>
                  <a:t>то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≠0</m:t>
                    </m:r>
                  </m:oMath>
                </a14:m>
                <a:r>
                  <a:rPr lang="en-US" dirty="0">
                    <a:latin typeface="Montserrat" panose="00000500000000000000" pitchFamily="2" charset="-52"/>
                  </a:rPr>
                  <a:t>.</a:t>
                </a:r>
              </a:p>
              <a:p>
                <a:pPr algn="just"/>
                <a:r>
                  <a:rPr lang="ru-RU" dirty="0">
                    <a:latin typeface="Montserrat" panose="00000500000000000000" pitchFamily="2" charset="-52"/>
                  </a:rPr>
                  <a:t>Пусть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𝑁𝑥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+…+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>
                    <a:latin typeface="Montserrat" panose="00000500000000000000" pitchFamily="2" charset="-52"/>
                  </a:rPr>
                  <a:t>.</a:t>
                </a:r>
              </a:p>
              <a:p>
                <a:pPr algn="just"/>
                <a:r>
                  <a:rPr lang="ru-RU" dirty="0">
                    <a:latin typeface="Montserrat" panose="00000500000000000000" pitchFamily="2" charset="-52"/>
                  </a:rPr>
                  <a:t>Применим оператор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dirty="0">
                    <a:latin typeface="Montserrat" panose="00000500000000000000" pitchFamily="2" charset="-52"/>
                  </a:rPr>
                  <a:t>, </a:t>
                </a:r>
                <a:r>
                  <a:rPr lang="ru-RU" dirty="0">
                    <a:latin typeface="Montserrat" panose="00000500000000000000" pitchFamily="2" charset="-52"/>
                  </a:rPr>
                  <a:t>получим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+…+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−2</m:t>
                        </m:r>
                      </m:sub>
                    </m:sSub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+0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>
                    <a:latin typeface="Montserrat" panose="00000500000000000000" pitchFamily="2" charset="-52"/>
                  </a:rPr>
                  <a:t>, </a:t>
                </a:r>
                <a:r>
                  <a:rPr lang="ru-RU" dirty="0">
                    <a:latin typeface="Montserrat" panose="00000500000000000000" pitchFamily="2" charset="-52"/>
                  </a:rPr>
                  <a:t>т.к.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ru-RU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ru-RU" dirty="0">
                    <a:latin typeface="Montserrat" panose="00000500000000000000" pitchFamily="2" charset="-52"/>
                  </a:rPr>
                  <a:t>.</a:t>
                </a:r>
              </a:p>
              <a:p>
                <a:pPr algn="just"/>
                <a:r>
                  <a:rPr lang="ru-RU" dirty="0">
                    <a:latin typeface="Montserrat" panose="00000500000000000000" pitchFamily="2" charset="-52"/>
                  </a:rPr>
                  <a:t>Пусть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𝑁𝑥</m:t>
                    </m:r>
                  </m:oMath>
                </a14:m>
                <a:r>
                  <a:rPr lang="en-US" dirty="0">
                    <a:latin typeface="Montserrat" panose="00000500000000000000" pitchFamily="2" charset="-52"/>
                  </a:rPr>
                  <a:t>, </a:t>
                </a:r>
                <a:r>
                  <a:rPr lang="ru-RU" dirty="0">
                    <a:latin typeface="Montserrat" panose="00000500000000000000" pitchFamily="2" charset="-52"/>
                  </a:rPr>
                  <a:t>его высота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dirty="0">
                    <a:latin typeface="Montserrat" panose="00000500000000000000" pitchFamily="2" charset="-52"/>
                  </a:rPr>
                  <a:t> </a:t>
                </a:r>
                <a:r>
                  <a:rPr lang="ru-RU" dirty="0">
                    <a:latin typeface="Montserrat" panose="00000500000000000000" pitchFamily="2" charset="-52"/>
                  </a:rPr>
                  <a:t>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+…+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−2</m:t>
                        </m:r>
                      </m:sub>
                    </m:sSub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ru-RU" dirty="0">
                    <a:latin typeface="Montserrat" panose="00000500000000000000" pitchFamily="2" charset="-52"/>
                  </a:rPr>
                  <a:t>.</a:t>
                </a:r>
                <a:endParaRPr lang="en-US" dirty="0">
                  <a:latin typeface="Montserrat" panose="00000500000000000000" pitchFamily="2" charset="-52"/>
                </a:endParaRPr>
              </a:p>
              <a:p>
                <a:pPr algn="just"/>
                <a:r>
                  <a:rPr lang="ru-RU" dirty="0">
                    <a:latin typeface="Montserrat" panose="00000500000000000000" pitchFamily="2" charset="-52"/>
                  </a:rPr>
                  <a:t>По предположению индукции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…,  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>
                    <a:latin typeface="Montserrat" panose="00000500000000000000" pitchFamily="2" charset="-52"/>
                  </a:rPr>
                  <a:t> – </a:t>
                </a:r>
                <a:r>
                  <a:rPr lang="ru-RU" dirty="0">
                    <a:latin typeface="Montserrat" panose="00000500000000000000" pitchFamily="2" charset="-52"/>
                  </a:rPr>
                  <a:t>ЛНЗ, отсюда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=…=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b="0" dirty="0">
                  <a:latin typeface="Montserrat" panose="00000500000000000000" pitchFamily="2" charset="-52"/>
                </a:endParaRPr>
              </a:p>
              <a:p>
                <a:pPr algn="just"/>
                <a:r>
                  <a:rPr lang="ru-RU" dirty="0">
                    <a:latin typeface="Montserrat" panose="00000500000000000000" pitchFamily="2" charset="-52"/>
                  </a:rPr>
                  <a:t>Значит,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>
                    <a:latin typeface="Montserrat" panose="00000500000000000000" pitchFamily="2" charset="-52"/>
                  </a:rPr>
                  <a:t>, </a:t>
                </a:r>
                <a:r>
                  <a:rPr lang="ru-RU" dirty="0">
                    <a:latin typeface="Montserrat" panose="00000500000000000000" pitchFamily="2" charset="-52"/>
                  </a:rPr>
                  <a:t>так как высота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>
                    <a:latin typeface="Montserrat" panose="00000500000000000000" pitchFamily="2" charset="-52"/>
                  </a:rPr>
                  <a:t> </a:t>
                </a:r>
                <a:r>
                  <a:rPr lang="ru-RU" dirty="0">
                    <a:latin typeface="Montserrat" panose="00000500000000000000" pitchFamily="2" charset="-52"/>
                  </a:rPr>
                  <a:t>равна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>
                    <a:latin typeface="Montserrat" panose="00000500000000000000" pitchFamily="2" charset="-52"/>
                  </a:rPr>
                  <a:t>, </a:t>
                </a:r>
                <a:r>
                  <a:rPr lang="ru-RU" dirty="0">
                    <a:latin typeface="Montserrat" panose="00000500000000000000" pitchFamily="2" charset="-52"/>
                  </a:rPr>
                  <a:t>то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>
                    <a:latin typeface="Montserrat" panose="00000500000000000000" pitchFamily="2" charset="-52"/>
                  </a:rPr>
                  <a:t>.</a:t>
                </a: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EE8600D-B4B0-D173-5F2C-578C837534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815813"/>
                <a:ext cx="10778412" cy="4276940"/>
              </a:xfrm>
              <a:prstGeom prst="rect">
                <a:avLst/>
              </a:prstGeom>
              <a:blipFill>
                <a:blip r:embed="rId2"/>
                <a:stretch>
                  <a:fillRect l="-509" t="-713" r="-452" b="-156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996211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E33063-9E51-A39A-21FC-E1FE9E9201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95B3FF2-36A1-00B4-7557-22F302F603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9844"/>
            <a:ext cx="10451841" cy="455969"/>
          </a:xfrm>
        </p:spPr>
        <p:txBody>
          <a:bodyPr>
            <a:normAutofit fontScale="90000"/>
          </a:bodyPr>
          <a:lstStyle/>
          <a:p>
            <a:r>
              <a:rPr lang="ru-RU" dirty="0"/>
              <a:t>12. Структура нильпотентного оператора. Теорема о структуре нильпотентного оператора.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8C88D01-4B70-A11D-9E95-029B779B0EFD}"/>
                  </a:ext>
                </a:extLst>
              </p:cNvPr>
              <p:cNvSpPr txBox="1"/>
              <p:nvPr/>
            </p:nvSpPr>
            <p:spPr>
              <a:xfrm>
                <a:off x="838200" y="815813"/>
                <a:ext cx="10778412" cy="453419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ru-RU" dirty="0">
                    <a:latin typeface="Montserrat" panose="00000500000000000000" pitchFamily="2" charset="-52"/>
                  </a:rPr>
                  <a:t>Базис </a:t>
                </a:r>
                <a14:m>
                  <m:oMath xmlns:m="http://schemas.openxmlformats.org/officeDocument/2006/math">
                    <m:r>
                      <a:rPr lang="ru-RU" i="1" dirty="0">
                        <a:latin typeface="Cambria Math" panose="02040503050406030204" pitchFamily="18" charset="0"/>
                      </a:rPr>
                      <m:t>⟨</m:t>
                    </m:r>
                    <m:r>
                      <a:rPr lang="ru-RU" i="1" dirty="0" err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ru-RU" i="1" dirty="0" err="1">
                        <a:latin typeface="Cambria Math" panose="02040503050406030204" pitchFamily="18" charset="0"/>
                      </a:rPr>
                      <m:t>,</m:t>
                    </m:r>
                    <m:r>
                      <a:rPr lang="ru-RU" i="1" dirty="0" err="1">
                        <a:latin typeface="Cambria Math" panose="02040503050406030204" pitchFamily="18" charset="0"/>
                      </a:rPr>
                      <m:t>𝑁𝑥</m:t>
                    </m:r>
                    <m:r>
                      <a:rPr lang="ru-RU" i="1" dirty="0" err="1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i="1" dirty="0" err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a:rPr lang="ru-RU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ru-RU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ru-RU" i="1" dirty="0">
                        <a:latin typeface="Cambria Math" panose="02040503050406030204" pitchFamily="18" charset="0"/>
                      </a:rPr>
                      <m:t>, . . . </m:t>
                    </m:r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ru-RU" i="1" dirty="0"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r>
                  <a:rPr lang="en-US" dirty="0">
                    <a:latin typeface="Montserrat" panose="00000500000000000000" pitchFamily="2" charset="-52"/>
                  </a:rPr>
                  <a:t> </a:t>
                </a:r>
                <a:r>
                  <a:rPr lang="ru-RU" dirty="0">
                    <a:latin typeface="Montserrat" panose="00000500000000000000" pitchFamily="2" charset="-52"/>
                  </a:rPr>
                  <a:t>называется </a:t>
                </a:r>
                <a:r>
                  <a:rPr lang="ru-RU" b="1" dirty="0">
                    <a:latin typeface="Montserrat" panose="00000500000000000000" pitchFamily="2" charset="-52"/>
                  </a:rPr>
                  <a:t>жордановой цепочкой</a:t>
                </a:r>
                <a:r>
                  <a:rPr lang="ru-RU" dirty="0">
                    <a:latin typeface="Montserrat" panose="00000500000000000000" pitchFamily="2" charset="-52"/>
                  </a:rPr>
                  <a:t>.</a:t>
                </a:r>
              </a:p>
              <a:p>
                <a:pPr algn="just"/>
                <a:endParaRPr lang="ru-RU" dirty="0">
                  <a:latin typeface="Montserrat" panose="00000500000000000000" pitchFamily="2" charset="-52"/>
                </a:endParaRPr>
              </a:p>
              <a:p>
                <a:pPr algn="just"/>
                <a:endParaRPr lang="ru-RU" dirty="0">
                  <a:latin typeface="Montserrat" panose="00000500000000000000" pitchFamily="2" charset="-52"/>
                </a:endParaRPr>
              </a:p>
              <a:p>
                <a:pPr algn="just"/>
                <a:r>
                  <a:rPr lang="ru-RU" dirty="0">
                    <a:latin typeface="Montserrat" panose="00000500000000000000" pitchFamily="2" charset="-52"/>
                  </a:rPr>
                  <a:t>Матрица </a:t>
                </a:r>
                <a:r>
                  <a:rPr lang="en-US" dirty="0">
                    <a:latin typeface="Montserrat" panose="00000500000000000000" pitchFamily="2" charset="-52"/>
                  </a:rPr>
                  <a:t>N</a:t>
                </a:r>
                <a:r>
                  <a:rPr lang="ru-RU" dirty="0">
                    <a:latin typeface="Montserrat" panose="00000500000000000000" pitchFamily="2" charset="-52"/>
                  </a:rPr>
                  <a:t> оператора </a:t>
                </a:r>
                <a:r>
                  <a:rPr lang="en-US" dirty="0">
                    <a:latin typeface="Montserrat" panose="00000500000000000000" pitchFamily="2" charset="-52"/>
                  </a:rPr>
                  <a:t>N </a:t>
                </a:r>
                <a:r>
                  <a:rPr lang="ru-RU" dirty="0">
                    <a:latin typeface="Montserrat" panose="00000500000000000000" pitchFamily="2" charset="-52"/>
                  </a:rPr>
                  <a:t>в базисе </a:t>
                </a:r>
                <a14:m>
                  <m:oMath xmlns:m="http://schemas.openxmlformats.org/officeDocument/2006/math">
                    <m:r>
                      <a:rPr lang="ru-RU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ru-RU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ru-RU" i="1" dirty="0">
                        <a:latin typeface="Cambria Math" panose="02040503050406030204" pitchFamily="18" charset="0"/>
                      </a:rPr>
                      <m:t>𝑁𝑥</m:t>
                    </m:r>
                    <m:r>
                      <a:rPr lang="ru-RU" i="1" dirty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i="1" dirty="0" err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a:rPr lang="ru-RU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ru-RU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ru-RU" i="1" dirty="0">
                        <a:latin typeface="Cambria Math" panose="02040503050406030204" pitchFamily="18" charset="0"/>
                      </a:rPr>
                      <m:t>, . . . </m:t>
                    </m:r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US" i="1" dirty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ru-RU" dirty="0">
                    <a:latin typeface="Montserrat" panose="00000500000000000000" pitchFamily="2" charset="-52"/>
                  </a:rPr>
                  <a:t> – </a:t>
                </a:r>
                <a:r>
                  <a:rPr lang="ru-RU" b="1" dirty="0">
                    <a:latin typeface="Montserrat" panose="00000500000000000000" pitchFamily="2" charset="-52"/>
                  </a:rPr>
                  <a:t>нильпотентная жорданова клетка </a:t>
                </a:r>
                <a:r>
                  <a:rPr lang="ru-RU" dirty="0">
                    <a:latin typeface="Montserrat" panose="00000500000000000000" pitchFamily="2" charset="-52"/>
                  </a:rPr>
                  <a:t>порядка </a:t>
                </a:r>
                <a:r>
                  <a:rPr lang="en-US" dirty="0">
                    <a:latin typeface="Montserrat" panose="00000500000000000000" pitchFamily="2" charset="-52"/>
                  </a:rPr>
                  <a:t>k.</a:t>
                </a:r>
              </a:p>
              <a:p>
                <a:pPr algn="just"/>
                <a:endParaRPr lang="en-US" dirty="0">
                  <a:latin typeface="Montserrat" panose="00000500000000000000" pitchFamily="2" charset="-52"/>
                </a:endParaRPr>
              </a:p>
              <a:p>
                <a:pPr algn="just"/>
                <a:endParaRPr lang="en-US" dirty="0">
                  <a:latin typeface="Montserrat" panose="00000500000000000000" pitchFamily="2" charset="-52"/>
                </a:endParaRPr>
              </a:p>
              <a:p>
                <a:pPr algn="just"/>
                <a:endParaRPr lang="en-US" dirty="0">
                  <a:latin typeface="Montserrat" panose="00000500000000000000" pitchFamily="2" charset="-52"/>
                </a:endParaRPr>
              </a:p>
              <a:p>
                <a:pPr algn="just"/>
                <a:endParaRPr lang="en-US" dirty="0">
                  <a:latin typeface="Montserrat" panose="00000500000000000000" pitchFamily="2" charset="-52"/>
                </a:endParaRPr>
              </a:p>
              <a:p>
                <a:pPr algn="just"/>
                <a:endParaRPr lang="en-US" dirty="0">
                  <a:latin typeface="Montserrat" panose="00000500000000000000" pitchFamily="2" charset="-52"/>
                </a:endParaRPr>
              </a:p>
              <a:p>
                <a:pPr algn="just"/>
                <a:endParaRPr lang="en-US" dirty="0">
                  <a:latin typeface="Montserrat" panose="00000500000000000000" pitchFamily="2" charset="-52"/>
                </a:endParaRPr>
              </a:p>
              <a:p>
                <a:pPr algn="just"/>
                <a:endParaRPr lang="en-US" dirty="0">
                  <a:latin typeface="Montserrat" panose="00000500000000000000" pitchFamily="2" charset="-52"/>
                </a:endParaRPr>
              </a:p>
              <a:p>
                <a:pPr algn="just"/>
                <a:r>
                  <a:rPr lang="ru-RU" b="1" dirty="0">
                    <a:latin typeface="Montserrat" panose="00000500000000000000" pitchFamily="2" charset="-52"/>
                  </a:rPr>
                  <a:t>Теорема</a:t>
                </a:r>
                <a:r>
                  <a:rPr lang="ru-RU" dirty="0">
                    <a:latin typeface="Montserrat" panose="00000500000000000000" pitchFamily="2" charset="-52"/>
                  </a:rPr>
                  <a:t> (основная теорема о структуре нильпотентного оператора)</a:t>
                </a:r>
                <a:r>
                  <a:rPr lang="en-US" dirty="0">
                    <a:latin typeface="Montserrat" panose="00000500000000000000" pitchFamily="2" charset="-52"/>
                  </a:rPr>
                  <a:t>.</a:t>
                </a:r>
                <a:endParaRPr lang="ru-RU" dirty="0">
                  <a:latin typeface="Montserrat" panose="00000500000000000000" pitchFamily="2" charset="-52"/>
                </a:endParaRPr>
              </a:p>
              <a:p>
                <a:pPr algn="just"/>
                <a:r>
                  <a:rPr lang="ru-RU" dirty="0">
                    <a:latin typeface="Montserrat" panose="00000500000000000000" pitchFamily="2" charset="-52"/>
                  </a:rPr>
                  <a:t>Пусть </a:t>
                </a:r>
                <a14:m>
                  <m:oMath xmlns:m="http://schemas.openxmlformats.org/officeDocument/2006/math">
                    <m:r>
                      <a:rPr lang="ru-RU" i="1" dirty="0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dirty="0">
                    <a:latin typeface="Montserrat" panose="00000500000000000000" pitchFamily="2" charset="-52"/>
                  </a:rPr>
                  <a:t> – </a:t>
                </a:r>
                <a:r>
                  <a:rPr lang="ru-RU" dirty="0">
                    <a:latin typeface="Montserrat" panose="00000500000000000000" pitchFamily="2" charset="-52"/>
                  </a:rPr>
                  <a:t>нильпотентный оператор на </a:t>
                </a:r>
                <a14:m>
                  <m:oMath xmlns:m="http://schemas.openxmlformats.org/officeDocument/2006/math">
                    <m:r>
                      <a:rPr lang="ru-RU" i="1" dirty="0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ru-RU" dirty="0">
                    <a:latin typeface="Montserrat" panose="00000500000000000000" pitchFamily="2" charset="-52"/>
                  </a:rPr>
                  <a:t> . Тогда существует разложение</a:t>
                </a:r>
                <a:r>
                  <a:rPr lang="en-US" dirty="0">
                    <a:latin typeface="Montserrat" panose="00000500000000000000" pitchFamily="2" charset="-52"/>
                  </a:rPr>
                  <a:t> </a:t>
                </a:r>
                <a:r>
                  <a:rPr lang="ru-RU" dirty="0">
                    <a:latin typeface="Montserrat" panose="00000500000000000000" pitchFamily="2" charset="-52"/>
                  </a:rPr>
                  <a:t>пространства </a:t>
                </a:r>
                <a14:m>
                  <m:oMath xmlns:m="http://schemas.openxmlformats.org/officeDocument/2006/math">
                    <m:r>
                      <a:rPr lang="ru-RU" i="1" dirty="0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ru-RU" dirty="0">
                    <a:latin typeface="Montserrat" panose="00000500000000000000" pitchFamily="2" charset="-52"/>
                  </a:rPr>
                  <a:t> в прямую сумму циклических подпространств этого оператора </a:t>
                </a:r>
                <a14:m>
                  <m:oMath xmlns:m="http://schemas.openxmlformats.org/officeDocument/2006/math">
                    <m:r>
                      <a:rPr lang="ru-RU" i="1" dirty="0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ru-RU" i="1" dirty="0" smtClean="0">
                        <a:latin typeface="Cambria Math" panose="02040503050406030204" pitchFamily="18" charset="0"/>
                      </a:rPr>
                      <m:t> = </m:t>
                    </m:r>
                    <m:nary>
                      <m:naryPr>
                        <m:chr m:val="⨁"/>
                        <m:subHide m:val="on"/>
                        <m:supHide m:val="on"/>
                        <m:ctrlP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𝑈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r>
                  <a:rPr lang="ru-RU" dirty="0">
                    <a:latin typeface="Montserrat" panose="00000500000000000000" pitchFamily="2" charset="-52"/>
                  </a:rPr>
                  <a:t>. Количество слагаемых в таком разложении равно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ru-RU" i="0" dirty="0" smtClean="0">
                            <a:latin typeface="Cambria Math" panose="02040503050406030204" pitchFamily="18" charset="0"/>
                          </a:rPr>
                          <m:t>dim</m:t>
                        </m:r>
                      </m:fName>
                      <m:e>
                        <m:func>
                          <m:func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ru-RU" dirty="0">
                                <a:latin typeface="Cambria Math" panose="02040503050406030204" pitchFamily="18" charset="0"/>
                              </a:rPr>
                              <m:t>ker</m:t>
                            </m:r>
                          </m:fName>
                          <m:e>
                            <m:r>
                              <a:rPr lang="ru-RU" i="1" dirty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</m:func>
                      </m:e>
                    </m:func>
                  </m:oMath>
                </a14:m>
                <a:r>
                  <a:rPr lang="ru-RU" dirty="0">
                    <a:latin typeface="Montserrat" panose="00000500000000000000" pitchFamily="2" charset="-52"/>
                  </a:rPr>
                  <a:t>.</a:t>
                </a: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8C88D01-4B70-A11D-9E95-029B779B0E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815813"/>
                <a:ext cx="10778412" cy="4534190"/>
              </a:xfrm>
              <a:prstGeom prst="rect">
                <a:avLst/>
              </a:prstGeom>
              <a:blipFill>
                <a:blip r:embed="rId2"/>
                <a:stretch>
                  <a:fillRect l="-509" t="-538" r="-452" b="-497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E8ACECE-F344-84F5-6DFE-6619E3F53CF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3082"/>
          <a:stretch>
            <a:fillRect/>
          </a:stretch>
        </p:blipFill>
        <p:spPr>
          <a:xfrm>
            <a:off x="4001669" y="1271782"/>
            <a:ext cx="4124901" cy="322923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66BD4159-BA1B-6CB0-B3A9-06FD3393074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6995"/>
          <a:stretch>
            <a:fillRect/>
          </a:stretch>
        </p:blipFill>
        <p:spPr>
          <a:xfrm>
            <a:off x="3545933" y="2118741"/>
            <a:ext cx="3891188" cy="1771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42144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E1D5BE-8455-A739-21A2-E5F8C7346F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256B17-110E-BD61-9940-B719F0B2D6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9844"/>
            <a:ext cx="10451841" cy="455969"/>
          </a:xfrm>
        </p:spPr>
        <p:txBody>
          <a:bodyPr>
            <a:normAutofit/>
          </a:bodyPr>
          <a:lstStyle/>
          <a:p>
            <a:r>
              <a:rPr lang="ru-RU" dirty="0"/>
              <a:t>13. Жорданов базис. Структура базиса. Диаграмма Юнга.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9858030-16DD-10CC-AD73-674695631C99}"/>
                  </a:ext>
                </a:extLst>
              </p:cNvPr>
              <p:cNvSpPr txBox="1"/>
              <p:nvPr/>
            </p:nvSpPr>
            <p:spPr>
              <a:xfrm>
                <a:off x="838200" y="815813"/>
                <a:ext cx="10778412" cy="286232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ru-RU" b="1" dirty="0">
                    <a:latin typeface="Montserrat" panose="00000500000000000000" pitchFamily="2" charset="-52"/>
                  </a:rPr>
                  <a:t>Жордановым базисом </a:t>
                </a:r>
                <a:r>
                  <a:rPr lang="ru-RU" dirty="0">
                    <a:latin typeface="Montserrat" panose="00000500000000000000" pitchFamily="2" charset="-52"/>
                  </a:rPr>
                  <a:t>пространства </a:t>
                </a:r>
                <a14:m>
                  <m:oMath xmlns:m="http://schemas.openxmlformats.org/officeDocument/2006/math">
                    <m:r>
                      <a:rPr lang="ru-RU" i="1" dirty="0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ru-RU" dirty="0">
                    <a:latin typeface="Montserrat" panose="00000500000000000000" pitchFamily="2" charset="-52"/>
                  </a:rPr>
                  <a:t> относительно оператора </a:t>
                </a:r>
                <a14:m>
                  <m:oMath xmlns:m="http://schemas.openxmlformats.org/officeDocument/2006/math">
                    <m:r>
                      <a:rPr lang="ru-RU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ru-RU" dirty="0">
                    <a:latin typeface="Montserrat" panose="00000500000000000000" pitchFamily="2" charset="-52"/>
                  </a:rPr>
                  <a:t> называется базис, построенный как совокупность жордановых цепочек всех циклических подпространств для всех корневых подпространств.</a:t>
                </a:r>
              </a:p>
              <a:p>
                <a:pPr algn="just"/>
                <a:endParaRPr lang="ru-RU" dirty="0">
                  <a:latin typeface="Montserrat" panose="00000500000000000000" pitchFamily="2" charset="-52"/>
                </a:endParaRPr>
              </a:p>
              <a:p>
                <a:pPr algn="just"/>
                <a:r>
                  <a:rPr lang="ru-RU" b="1" dirty="0">
                    <a:latin typeface="Montserrat" panose="00000500000000000000" pitchFamily="2" charset="-52"/>
                  </a:rPr>
                  <a:t>Диаграмма Юнга</a:t>
                </a:r>
                <a:r>
                  <a:rPr lang="ru-RU" dirty="0">
                    <a:latin typeface="Montserrat" panose="00000500000000000000" pitchFamily="2" charset="-52"/>
                  </a:rPr>
                  <a:t>. Способ визуально изобразить структуру нильпотентного оператора и жорданова базиса.</a:t>
                </a:r>
              </a:p>
              <a:p>
                <a:pPr algn="just"/>
                <a:r>
                  <a:rPr lang="ru-RU" i="1" dirty="0">
                    <a:latin typeface="Montserrat" panose="00000500000000000000" pitchFamily="2" charset="-52"/>
                  </a:rPr>
                  <a:t>Квадратики</a:t>
                </a:r>
                <a:r>
                  <a:rPr lang="ru-RU" dirty="0">
                    <a:latin typeface="Montserrat" panose="00000500000000000000" pitchFamily="2" charset="-52"/>
                  </a:rPr>
                  <a:t> – векторы жорданова базиса.</a:t>
                </a:r>
              </a:p>
              <a:p>
                <a:pPr algn="just"/>
                <a:r>
                  <a:rPr lang="ru-RU" i="1" dirty="0">
                    <a:latin typeface="Montserrat" panose="00000500000000000000" pitchFamily="2" charset="-52"/>
                  </a:rPr>
                  <a:t>Столбики</a:t>
                </a:r>
                <a:r>
                  <a:rPr lang="ru-RU" dirty="0">
                    <a:latin typeface="Montserrat" panose="00000500000000000000" pitchFamily="2" charset="-52"/>
                  </a:rPr>
                  <a:t> – жордановы цепочки – базисы циклических подпространств, высота их векторов равна высоте столбиков.</a:t>
                </a:r>
              </a:p>
              <a:p>
                <a:pPr algn="just"/>
                <a:r>
                  <a:rPr lang="ru-RU" i="1" dirty="0">
                    <a:latin typeface="Montserrat" panose="00000500000000000000" pitchFamily="2" charset="-52"/>
                  </a:rPr>
                  <a:t>Нижний ряд </a:t>
                </a:r>
                <a:r>
                  <a:rPr lang="ru-RU" dirty="0">
                    <a:latin typeface="Montserrat" panose="00000500000000000000" pitchFamily="2" charset="-52"/>
                  </a:rPr>
                  <a:t>– собственные векторы, если подействовать на них </a:t>
                </a:r>
                <a:r>
                  <a:rPr lang="en-US" dirty="0">
                    <a:latin typeface="Montserrat" panose="00000500000000000000" pitchFamily="2" charset="-52"/>
                  </a:rPr>
                  <a:t>N, </a:t>
                </a:r>
                <a:r>
                  <a:rPr lang="ru-RU" dirty="0">
                    <a:latin typeface="Montserrat" panose="00000500000000000000" pitchFamily="2" charset="-52"/>
                  </a:rPr>
                  <a:t>станут нулём.</a:t>
                </a: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9858030-16DD-10CC-AD73-674695631C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815813"/>
                <a:ext cx="10778412" cy="2862322"/>
              </a:xfrm>
              <a:prstGeom prst="rect">
                <a:avLst/>
              </a:prstGeom>
              <a:blipFill>
                <a:blip r:embed="rId2"/>
                <a:stretch>
                  <a:fillRect l="-509" t="-1066" r="-452" b="-277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9DBCAD8-C2CD-FBD6-266D-C528FA44D5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0957" y="3678135"/>
            <a:ext cx="1952898" cy="1047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67231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8BF8DD-B719-00D4-D482-BE5F4E5D43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E8314AB-2CA9-6B0E-7706-8DE700A151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9844"/>
            <a:ext cx="10451841" cy="455969"/>
          </a:xfrm>
        </p:spPr>
        <p:txBody>
          <a:bodyPr>
            <a:normAutofit/>
          </a:bodyPr>
          <a:lstStyle/>
          <a:p>
            <a:r>
              <a:rPr lang="ru-RU" dirty="0"/>
              <a:t>14. Жорданова клетка. Жорданов блок.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F5041D4-E5E0-8C0E-56AD-CEE5DAFB32D6}"/>
                  </a:ext>
                </a:extLst>
              </p:cNvPr>
              <p:cNvSpPr txBox="1"/>
              <p:nvPr/>
            </p:nvSpPr>
            <p:spPr>
              <a:xfrm>
                <a:off x="838200" y="1532093"/>
                <a:ext cx="10778412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ru-RU" b="1" dirty="0">
                    <a:latin typeface="Montserrat" panose="00000500000000000000" pitchFamily="2" charset="-52"/>
                  </a:rPr>
                  <a:t>Жордановой клеткой </a:t>
                </a:r>
                <a:r>
                  <a:rPr lang="ru-RU" dirty="0">
                    <a:latin typeface="Montserrat" panose="00000500000000000000" pitchFamily="2" charset="-52"/>
                  </a:rPr>
                  <a:t>называется верхнетреугольная матрица </a:t>
                </a:r>
                <a14:m>
                  <m:oMath xmlns:m="http://schemas.openxmlformats.org/officeDocument/2006/math">
                    <m:r>
                      <a:rPr lang="ru-RU" i="1" dirty="0" smtClean="0">
                        <a:latin typeface="Cambria Math" panose="02040503050406030204" pitchFamily="18" charset="0"/>
                      </a:rPr>
                      <m:t>𝐽</m:t>
                    </m:r>
                    <m:r>
                      <a:rPr lang="ru-RU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ru-RU" i="1" dirty="0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ru-RU" i="1" dirty="0" smtClean="0">
                        <a:latin typeface="Cambria Math" panose="02040503050406030204" pitchFamily="18" charset="0"/>
                      </a:rPr>
                      <m:t>) = </m:t>
                    </m:r>
                    <m:r>
                      <a:rPr lang="ru-RU" i="1" dirty="0" smtClean="0">
                        <a:latin typeface="Cambria Math" panose="02040503050406030204" pitchFamily="18" charset="0"/>
                      </a:rPr>
                      <m:t>𝐽</m:t>
                    </m:r>
                    <m:r>
                      <a:rPr lang="ru-RU" i="1" dirty="0" smtClean="0">
                        <a:latin typeface="Cambria Math" panose="02040503050406030204" pitchFamily="18" charset="0"/>
                      </a:rPr>
                      <m:t>(0) + </m:t>
                    </m:r>
                    <m:r>
                      <a:rPr lang="ru-RU" i="1" dirty="0" err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ru-RU" i="1" dirty="0" err="1" smtClean="0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ru-RU" dirty="0">
                    <a:latin typeface="Montserrat" panose="00000500000000000000" pitchFamily="2" charset="-52"/>
                  </a:rPr>
                  <a:t> соответствующая сужению линейного оператора </a:t>
                </a:r>
                <a14:m>
                  <m:oMath xmlns:m="http://schemas.openxmlformats.org/officeDocument/2006/math">
                    <m:r>
                      <a:rPr lang="ru-RU" i="1" dirty="0" smtClean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ru-RU" dirty="0">
                    <a:latin typeface="Montserrat" panose="00000500000000000000" pitchFamily="2" charset="-52"/>
                  </a:rPr>
                  <a:t> на</a:t>
                </a:r>
                <a:r>
                  <a:rPr lang="en-US" dirty="0">
                    <a:latin typeface="Montserrat" panose="00000500000000000000" pitchFamily="2" charset="-52"/>
                  </a:rPr>
                  <a:t> </a:t>
                </a:r>
                <a:r>
                  <a:rPr lang="ru-RU" dirty="0">
                    <a:latin typeface="Montserrat" panose="00000500000000000000" pitchFamily="2" charset="-52"/>
                  </a:rPr>
                  <a:t>циклическое подпространство,</a:t>
                </a:r>
                <a:r>
                  <a:rPr lang="en-US" dirty="0">
                    <a:latin typeface="Montserrat" panose="00000500000000000000" pitchFamily="2" charset="-52"/>
                  </a:rPr>
                  <a:t> </a:t>
                </a:r>
                <a:r>
                  <a:rPr lang="ru-RU" dirty="0">
                    <a:latin typeface="Montserrat" panose="00000500000000000000" pitchFamily="2" charset="-52"/>
                  </a:rPr>
                  <a:t>найденная в базисе этого циклического подпространства (жордановой цепочке).</a:t>
                </a: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F5041D4-E5E0-8C0E-56AD-CEE5DAFB32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532093"/>
                <a:ext cx="10778412" cy="923330"/>
              </a:xfrm>
              <a:prstGeom prst="rect">
                <a:avLst/>
              </a:prstGeom>
              <a:blipFill>
                <a:blip r:embed="rId2"/>
                <a:stretch>
                  <a:fillRect l="-509" t="-2632" r="-452" b="-986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C088BBB-3C4A-BCC6-D23D-900F425030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3445" y="2455423"/>
            <a:ext cx="5485110" cy="1689857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6B2C216-4A7B-93BE-8694-BC46615EF751}"/>
                  </a:ext>
                </a:extLst>
              </p:cNvPr>
              <p:cNvSpPr txBox="1"/>
              <p:nvPr/>
            </p:nvSpPr>
            <p:spPr>
              <a:xfrm>
                <a:off x="838200" y="815813"/>
                <a:ext cx="10778412" cy="67973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ru-RU" dirty="0">
                    <a:latin typeface="Montserrat" panose="00000500000000000000" pitchFamily="2" charset="-52"/>
                  </a:rPr>
                  <a:t>Пусть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𝐸𝑛𝑑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latin typeface="Montserrat" panose="00000500000000000000" pitchFamily="2" charset="-52"/>
                  </a:rPr>
                  <a:t> –</a:t>
                </a:r>
                <a:r>
                  <a:rPr lang="ru-RU" dirty="0">
                    <a:latin typeface="Montserrat" panose="00000500000000000000" pitchFamily="2" charset="-52"/>
                  </a:rPr>
                  <a:t> линейный оператор с СЗ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ru-RU" dirty="0">
                    <a:latin typeface="Montserrat" panose="00000500000000000000" pitchFamily="2" charset="-52"/>
                  </a:rPr>
                  <a:t>. Рассмотрим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𝜑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</m:d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"/>
                            <m:endChr m:val="|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ru-RU"/>
                              <m:t>​</m:t>
                            </m:r>
                          </m:e>
                        </m:d>
                      </m:e>
                      <m:sub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𝑈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𝜆</m:t>
                            </m:r>
                          </m:sup>
                        </m:sSup>
                      </m:sub>
                    </m:sSub>
                  </m:oMath>
                </a14:m>
                <a:r>
                  <a:rPr lang="en-US" dirty="0">
                    <a:latin typeface="Montserrat" panose="00000500000000000000" pitchFamily="2" charset="-52"/>
                  </a:rPr>
                  <a:t> </a:t>
                </a:r>
                <a:r>
                  <a:rPr lang="ru-RU" dirty="0">
                    <a:latin typeface="Montserrat" panose="00000500000000000000" pitchFamily="2" charset="-52"/>
                  </a:rPr>
                  <a:t>на циклическом подпространстве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𝜆</m:t>
                        </m:r>
                      </m:sup>
                    </m:sSup>
                    <m:r>
                      <a:rPr lang="ru-RU" b="0" i="1" smtClean="0">
                        <a:latin typeface="Cambria Math" panose="02040503050406030204" pitchFamily="18" charset="0"/>
                      </a:rPr>
                      <m:t>=⟨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,…,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r>
                  <a:rPr lang="en-US" dirty="0">
                    <a:latin typeface="Montserrat" panose="00000500000000000000" pitchFamily="2" charset="-52"/>
                  </a:rPr>
                  <a:t>.</a:t>
                </a:r>
                <a:endParaRPr lang="ru-RU" dirty="0">
                  <a:latin typeface="Montserrat" panose="00000500000000000000" pitchFamily="2" charset="-52"/>
                </a:endParaRP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6B2C216-4A7B-93BE-8694-BC46615EF7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815813"/>
                <a:ext cx="10778412" cy="679738"/>
              </a:xfrm>
              <a:prstGeom prst="rect">
                <a:avLst/>
              </a:prstGeom>
              <a:blipFill>
                <a:blip r:embed="rId4"/>
                <a:stretch>
                  <a:fillRect l="-509" t="-64865" r="-452" b="-5675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342A4B43-972B-6F5C-CA4B-A2DE176FD0C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53445" y="4162791"/>
            <a:ext cx="5485110" cy="479573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94CBED9-80AC-C5AC-B2DE-33F0DC897FB6}"/>
                  </a:ext>
                </a:extLst>
              </p:cNvPr>
              <p:cNvSpPr txBox="1"/>
              <p:nvPr/>
            </p:nvSpPr>
            <p:spPr>
              <a:xfrm>
                <a:off x="838200" y="4606945"/>
                <a:ext cx="10778412" cy="175432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ru-RU" b="1" dirty="0">
                    <a:latin typeface="Montserrat" panose="00000500000000000000" pitchFamily="2" charset="-52"/>
                  </a:rPr>
                  <a:t>Жордановым блоком, </a:t>
                </a:r>
                <a:r>
                  <a:rPr lang="ru-RU" dirty="0">
                    <a:latin typeface="Montserrat" panose="00000500000000000000" pitchFamily="2" charset="-52"/>
                  </a:rPr>
                  <a:t>соответствующим собственному числу </a:t>
                </a:r>
                <a14:m>
                  <m:oMath xmlns:m="http://schemas.openxmlformats.org/officeDocument/2006/math">
                    <m:r>
                      <a:rPr lang="ru-RU" i="1" dirty="0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ru-RU" dirty="0">
                    <a:latin typeface="Montserrat" panose="00000500000000000000" pitchFamily="2" charset="-52"/>
                  </a:rPr>
                  <a:t> оператора </a:t>
                </a:r>
                <a14:m>
                  <m:oMath xmlns:m="http://schemas.openxmlformats.org/officeDocument/2006/math">
                    <m:r>
                      <a:rPr lang="ru-RU" i="1" dirty="0" smtClean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ru-RU" dirty="0">
                    <a:latin typeface="Montserrat" panose="00000500000000000000" pitchFamily="2" charset="-52"/>
                  </a:rPr>
                  <a:t>, называется блочно-диагональная матрица, составленная из</a:t>
                </a:r>
                <a:r>
                  <a:rPr lang="en-US" dirty="0">
                    <a:latin typeface="Montserrat" panose="00000500000000000000" pitchFamily="2" charset="-52"/>
                  </a:rPr>
                  <a:t> </a:t>
                </a:r>
                <a:r>
                  <a:rPr lang="ru-RU" dirty="0">
                    <a:latin typeface="Montserrat" panose="00000500000000000000" pitchFamily="2" charset="-52"/>
                  </a:rPr>
                  <a:t>жордановых клеток.</a:t>
                </a:r>
              </a:p>
              <a:p>
                <a:pPr algn="just"/>
                <a:endParaRPr lang="ru-RU" dirty="0">
                  <a:latin typeface="Montserrat" panose="00000500000000000000" pitchFamily="2" charset="-52"/>
                </a:endParaRPr>
              </a:p>
              <a:p>
                <a:pPr algn="just"/>
                <a:endParaRPr lang="ru-RU" dirty="0">
                  <a:latin typeface="Montserrat" panose="00000500000000000000" pitchFamily="2" charset="-52"/>
                </a:endParaRPr>
              </a:p>
              <a:p>
                <a:pPr algn="just"/>
                <a:r>
                  <a:rPr lang="ru-RU" i="1" dirty="0">
                    <a:latin typeface="Montserrat" panose="00000500000000000000" pitchFamily="2" charset="-52"/>
                  </a:rPr>
                  <a:t>Жорданова клетка </a:t>
                </a:r>
                <a:r>
                  <a:rPr lang="ru-RU" dirty="0">
                    <a:latin typeface="Montserrat" panose="00000500000000000000" pitchFamily="2" charset="-52"/>
                  </a:rPr>
                  <a:t>= столбец диаграммы Юнга.</a:t>
                </a:r>
              </a:p>
              <a:p>
                <a:pPr algn="just"/>
                <a:r>
                  <a:rPr lang="ru-RU" i="1" dirty="0">
                    <a:latin typeface="Montserrat" panose="00000500000000000000" pitchFamily="2" charset="-52"/>
                  </a:rPr>
                  <a:t>Жорданов блок </a:t>
                </a:r>
                <a:r>
                  <a:rPr lang="ru-RU" dirty="0">
                    <a:latin typeface="Montserrat" panose="00000500000000000000" pitchFamily="2" charset="-52"/>
                  </a:rPr>
                  <a:t>= диаграмме Юнга.</a:t>
                </a: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94CBED9-80AC-C5AC-B2DE-33F0DC897F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4606945"/>
                <a:ext cx="10778412" cy="1754326"/>
              </a:xfrm>
              <a:prstGeom prst="rect">
                <a:avLst/>
              </a:prstGeom>
              <a:blipFill>
                <a:blip r:embed="rId6"/>
                <a:stretch>
                  <a:fillRect l="-509" t="-1736" r="-452" b="-486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76A8C66B-713F-3C5E-0A66-7F7092E99F1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36484" y="5253276"/>
            <a:ext cx="3319031" cy="530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95512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6AF1BF-1F9B-1675-B263-D527269372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A454D66-C9AF-5ACD-7AD4-6B427DEF47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9844"/>
            <a:ext cx="10451841" cy="455969"/>
          </a:xfrm>
        </p:spPr>
        <p:txBody>
          <a:bodyPr>
            <a:normAutofit/>
          </a:bodyPr>
          <a:lstStyle/>
          <a:p>
            <a:r>
              <a:rPr lang="ru-RU" dirty="0"/>
              <a:t>15. Жорданова нормальная форма. Структура ЖНФ.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457645D-2EC6-A033-02C5-66125758DCA5}"/>
                  </a:ext>
                </a:extLst>
              </p:cNvPr>
              <p:cNvSpPr txBox="1"/>
              <p:nvPr/>
            </p:nvSpPr>
            <p:spPr>
              <a:xfrm>
                <a:off x="838200" y="815813"/>
                <a:ext cx="10778412" cy="538121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ru-RU" b="1" dirty="0">
                    <a:latin typeface="Montserrat" panose="00000500000000000000" pitchFamily="2" charset="-52"/>
                  </a:rPr>
                  <a:t>Жордановой нормальной формой </a:t>
                </a:r>
                <a:r>
                  <a:rPr lang="ru-RU" dirty="0">
                    <a:latin typeface="Montserrat" panose="00000500000000000000" pitchFamily="2" charset="-52"/>
                  </a:rPr>
                  <a:t>оператора φ, называется блочно-диагональная матрица, составленная из жордановых блоков, соответствующих всем собственным значениям.</a:t>
                </a:r>
              </a:p>
              <a:p>
                <a:pPr algn="just"/>
                <a:endParaRPr lang="ru-RU" dirty="0">
                  <a:latin typeface="Montserrat" panose="00000500000000000000" pitchFamily="2" charset="-52"/>
                </a:endParaRPr>
              </a:p>
              <a:p>
                <a:pPr algn="just"/>
                <a:r>
                  <a:rPr lang="ru-RU" b="1" dirty="0">
                    <a:latin typeface="Montserrat" panose="00000500000000000000" pitchFamily="2" charset="-52"/>
                  </a:rPr>
                  <a:t>Теорема</a:t>
                </a:r>
                <a:r>
                  <a:rPr lang="ru-RU" dirty="0">
                    <a:latin typeface="Montserrat" panose="00000500000000000000" pitchFamily="2" charset="-52"/>
                  </a:rPr>
                  <a:t>. Если характеристический полином оператора </a:t>
                </a:r>
                <a14:m>
                  <m:oMath xmlns:m="http://schemas.openxmlformats.org/officeDocument/2006/math">
                    <m:r>
                      <a:rPr lang="ru-RU" i="1" dirty="0" smtClean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ru-RU" dirty="0">
                    <a:latin typeface="Montserrat" panose="00000500000000000000" pitchFamily="2" charset="-52"/>
                  </a:rPr>
                  <a:t> может быть представлен в виде произведения линейных множителей, существует базис (жорданов), в котором матрица оператора представляет собой жорданову нормальную форму.</a:t>
                </a:r>
              </a:p>
              <a:p>
                <a:pPr algn="just"/>
                <a:r>
                  <a:rPr lang="ru-RU" b="1" dirty="0">
                    <a:latin typeface="Montserrat" panose="00000500000000000000" pitchFamily="2" charset="-52"/>
                  </a:rPr>
                  <a:t>Доказательство</a:t>
                </a:r>
                <a:r>
                  <a:rPr lang="ru-RU" dirty="0">
                    <a:latin typeface="Montserrat" panose="00000500000000000000" pitchFamily="2" charset="-52"/>
                  </a:rPr>
                  <a:t>.</a:t>
                </a: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b="0" i="1" smtClean="0">
                          <a:latin typeface="Cambria Math" panose="02040503050406030204" pitchFamily="18" charset="0"/>
                        </a:rPr>
                        <m:t>𝜒</m:t>
                      </m:r>
                      <m:d>
                        <m:dPr>
                          <m:ctrlPr>
                            <a:rPr lang="ru-RU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⋅…⋅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</m:oMath>
                  </m:oMathPara>
                </a14:m>
                <a:endParaRPr lang="ru-RU" dirty="0">
                  <a:latin typeface="Montserrat" panose="00000500000000000000" pitchFamily="2" charset="-52"/>
                </a:endParaRPr>
              </a:p>
              <a:p>
                <a:pPr algn="just"/>
                <a:r>
                  <a:rPr lang="ru-RU" dirty="0">
                    <a:latin typeface="Montserrat" panose="00000500000000000000" pitchFamily="2" charset="-52"/>
                  </a:rPr>
                  <a:t>Тогда каждое собственное число порождает корневое подпространство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i="1" dirty="0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p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i="1" dirty="0" err="1" smtClean="0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sup>
                    </m:sSup>
                    <m:r>
                      <a:rPr lang="ru-RU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dirty="0">
                    <a:latin typeface="Montserrat" panose="00000500000000000000" pitchFamily="2" charset="-52"/>
                  </a:rPr>
                  <a:t>,</a:t>
                </a:r>
                <a:r>
                  <a:rPr lang="en-US" dirty="0">
                    <a:latin typeface="Montserrat" panose="00000500000000000000" pitchFamily="2" charset="-52"/>
                  </a:rPr>
                  <a:t> </a:t>
                </a:r>
                <a:r>
                  <a:rPr lang="ru-RU" dirty="0">
                    <a:latin typeface="Montserrat" panose="00000500000000000000" pitchFamily="2" charset="-52"/>
                  </a:rPr>
                  <a:t>сумма размерностей которых равна размерности пространства </a:t>
                </a:r>
                <a14:m>
                  <m:oMath xmlns:m="http://schemas.openxmlformats.org/officeDocument/2006/math">
                    <m:r>
                      <a:rPr lang="ru-RU" i="1" dirty="0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ru-RU" dirty="0">
                    <a:latin typeface="Montserrat" panose="00000500000000000000" pitchFamily="2" charset="-52"/>
                  </a:rPr>
                  <a:t>, а каждое из</a:t>
                </a:r>
                <a:r>
                  <a:rPr lang="en-US" dirty="0">
                    <a:latin typeface="Montserrat" panose="00000500000000000000" pitchFamily="2" charset="-52"/>
                  </a:rPr>
                  <a:t> </a:t>
                </a:r>
                <a:r>
                  <a:rPr lang="ru-RU" dirty="0">
                    <a:latin typeface="Montserrat" panose="00000500000000000000" pitchFamily="2" charset="-52"/>
                  </a:rPr>
                  <a:t>этих подпространств представляется в виде прямой суммы циклических подпространств соответствующих нильпотентных операторов.</a:t>
                </a:r>
              </a:p>
              <a:p>
                <a:pPr algn="just"/>
                <a:r>
                  <a:rPr lang="ru-RU" dirty="0">
                    <a:latin typeface="Montserrat" panose="00000500000000000000" pitchFamily="2" charset="-52"/>
                  </a:rPr>
                  <a:t>Объединение базисов в силу разложений в прямые суммы позволяет получить базис всего пространства V , при этом матрица оператора в этом базисе</a:t>
                </a:r>
                <a:r>
                  <a:rPr lang="en-US" dirty="0">
                    <a:latin typeface="Montserrat" panose="00000500000000000000" pitchFamily="2" charset="-52"/>
                  </a:rPr>
                  <a:t> </a:t>
                </a:r>
                <a:r>
                  <a:rPr lang="ru-RU" dirty="0">
                    <a:latin typeface="Montserrat" panose="00000500000000000000" pitchFamily="2" charset="-52"/>
                  </a:rPr>
                  <a:t>согласована с определением жордановой нормальной формы.</a:t>
                </a:r>
              </a:p>
              <a:p>
                <a:pPr algn="just"/>
                <a:endParaRPr lang="ru-RU" dirty="0">
                  <a:latin typeface="Montserrat" panose="00000500000000000000" pitchFamily="2" charset="-52"/>
                </a:endParaRPr>
              </a:p>
              <a:p>
                <a:pPr algn="just"/>
                <a:r>
                  <a:rPr lang="ru-RU" b="1" dirty="0">
                    <a:latin typeface="Montserrat" panose="00000500000000000000" pitchFamily="2" charset="-52"/>
                  </a:rPr>
                  <a:t>Следствие</a:t>
                </a:r>
                <a:r>
                  <a:rPr lang="ru-RU" dirty="0">
                    <a:latin typeface="Montserrat" panose="00000500000000000000" pitchFamily="2" charset="-52"/>
                  </a:rPr>
                  <a:t>. Любой оператор в комплексном линейном пространстве </a:t>
                </a:r>
                <a14:m>
                  <m:oMath xmlns:m="http://schemas.openxmlformats.org/officeDocument/2006/math">
                    <m:r>
                      <a:rPr lang="ru-RU" i="1" dirty="0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ru-RU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ru-RU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ℂ</m:t>
                    </m:r>
                    <m:r>
                      <a:rPr lang="ru-RU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dirty="0">
                    <a:latin typeface="Montserrat" panose="00000500000000000000" pitchFamily="2" charset="-52"/>
                  </a:rPr>
                  <a:t> имеет жорданову нормальную форму.</a:t>
                </a: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457645D-2EC6-A033-02C5-66125758DC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815813"/>
                <a:ext cx="10778412" cy="5381217"/>
              </a:xfrm>
              <a:prstGeom prst="rect">
                <a:avLst/>
              </a:prstGeom>
              <a:blipFill>
                <a:blip r:embed="rId2"/>
                <a:stretch>
                  <a:fillRect l="-509" t="-793" r="-452" b="-90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BD35308-E41F-AC03-EF36-BA8F261DEE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1919" y="1373330"/>
            <a:ext cx="2048161" cy="381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683836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3F666E-6733-3397-54AD-08359AB03E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71A061D-7993-6EFB-430C-7C9607A592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9844"/>
            <a:ext cx="10451841" cy="455969"/>
          </a:xfrm>
        </p:spPr>
        <p:txBody>
          <a:bodyPr>
            <a:normAutofit/>
          </a:bodyPr>
          <a:lstStyle/>
          <a:p>
            <a:r>
              <a:rPr lang="ru-RU" dirty="0"/>
              <a:t>15. Жорданова нормальная форма. Структура ЖНФ.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90C0891-4B55-9F35-1B0F-964DB44B3C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3120" y="815813"/>
            <a:ext cx="8382000" cy="5296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549544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44FF2D-054B-CB35-E524-AA0761F2A7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FA53424-7386-3C55-8919-50ACD6EC21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9844"/>
            <a:ext cx="10451841" cy="455969"/>
          </a:xfrm>
        </p:spPr>
        <p:txBody>
          <a:bodyPr>
            <a:normAutofit/>
          </a:bodyPr>
          <a:lstStyle/>
          <a:p>
            <a:r>
              <a:rPr lang="ru-RU" dirty="0"/>
              <a:t>16. Алгоритм построения жорданова базиса.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45DC470-549A-C829-4901-D8248774FE46}"/>
              </a:ext>
            </a:extLst>
          </p:cNvPr>
          <p:cNvSpPr txBox="1"/>
          <p:nvPr/>
        </p:nvSpPr>
        <p:spPr>
          <a:xfrm>
            <a:off x="838200" y="815813"/>
            <a:ext cx="1077841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b="1" dirty="0">
                <a:latin typeface="Montserrat" panose="00000500000000000000" pitchFamily="2" charset="-52"/>
              </a:rPr>
              <a:t>Путь сверху-вниз.</a:t>
            </a:r>
          </a:p>
          <a:p>
            <a:pPr algn="just"/>
            <a:r>
              <a:rPr lang="ru-RU" dirty="0">
                <a:latin typeface="Montserrat" panose="00000500000000000000" pitchFamily="2" charset="-52"/>
              </a:rPr>
              <a:t>Находим характеристический полином и спектр оператора.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1BB80FC-CAC2-8EA9-91B0-4CA6404750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462144"/>
            <a:ext cx="8049748" cy="4382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082918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D1DC5D-76DA-9E1F-C394-28B3D8468D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F68ABFA-CE99-DE1E-6442-CB981185DE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9844"/>
            <a:ext cx="10451841" cy="455969"/>
          </a:xfrm>
        </p:spPr>
        <p:txBody>
          <a:bodyPr>
            <a:normAutofit fontScale="90000"/>
          </a:bodyPr>
          <a:lstStyle/>
          <a:p>
            <a:r>
              <a:rPr lang="ru-RU" dirty="0"/>
              <a:t>17. Операторные и матричные полиномы. Связь с инвариантностью подпространств.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4EFC25A-9226-A8BD-794B-E2F2AE5C5F09}"/>
                  </a:ext>
                </a:extLst>
              </p:cNvPr>
              <p:cNvSpPr txBox="1"/>
              <p:nvPr/>
            </p:nvSpPr>
            <p:spPr>
              <a:xfrm>
                <a:off x="838200" y="815813"/>
                <a:ext cx="10778412" cy="43264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ru-RU" dirty="0">
                    <a:latin typeface="Montserrat" panose="00000500000000000000" pitchFamily="2" charset="-52"/>
                  </a:rPr>
                  <a:t>Пусть </a:t>
                </a:r>
                <a14:m>
                  <m:oMath xmlns:m="http://schemas.openxmlformats.org/officeDocument/2006/math">
                    <m:r>
                      <a:rPr lang="ru-RU" i="1" dirty="0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ru-RU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ru-RU" i="1" dirty="0" smtClean="0">
                        <a:latin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ru-RU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ru-RU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ru-RU" i="1" dirty="0" smtClean="0">
                        <a:latin typeface="Cambria Math" panose="02040503050406030204" pitchFamily="18" charset="0"/>
                      </a:rPr>
                      <m:t> + </m:t>
                    </m:r>
                    <m:sSub>
                      <m:sSubPr>
                        <m:ctrlPr>
                          <a:rPr lang="ru-RU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ru-RU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ru-RU" i="1" dirty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ru-RU" i="1" dirty="0" smtClean="0">
                        <a:latin typeface="Cambria Math" panose="02040503050406030204" pitchFamily="18" charset="0"/>
                      </a:rPr>
                      <m:t> + </m:t>
                    </m:r>
                    <m:sSub>
                      <m:sSubPr>
                        <m:ctrlPr>
                          <a:rPr lang="ru-RU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ru-RU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ru-RU" i="1" dirty="0" smtClean="0">
                        <a:latin typeface="Cambria Math" panose="02040503050406030204" pitchFamily="18" charset="0"/>
                      </a:rPr>
                      <m:t> + . . . + 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 dirty="0" err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ru-RU" i="1" dirty="0" err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i="1" dirty="0" err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  <m:r>
                      <a:rPr lang="ru-RU" i="1" dirty="0" smtClean="0">
                        <a:latin typeface="Cambria Math" panose="02040503050406030204" pitchFamily="18" charset="0"/>
                      </a:rPr>
                      <m:t> ∈ </m:t>
                    </m:r>
                    <m:r>
                      <a:rPr lang="ru-RU" i="1" dirty="0" smtClean="0">
                        <a:latin typeface="Cambria Math" panose="02040503050406030204" pitchFamily="18" charset="0"/>
                      </a:rPr>
                      <m:t>𝕂</m:t>
                    </m:r>
                    <m:r>
                      <a:rPr lang="ru-RU" i="1" dirty="0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ru-RU" i="1" dirty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ru-RU" i="1" dirty="0" smtClean="0">
                        <a:latin typeface="Cambria Math" panose="02040503050406030204" pitchFamily="18" charset="0"/>
                      </a:rPr>
                      <m:t>] </m:t>
                    </m:r>
                  </m:oMath>
                </a14:m>
                <a:r>
                  <a:rPr lang="ru-RU" dirty="0">
                    <a:latin typeface="Montserrat" panose="00000500000000000000" pitchFamily="2" charset="-52"/>
                  </a:rPr>
                  <a:t>— полином степени </a:t>
                </a:r>
                <a14:m>
                  <m:oMath xmlns:m="http://schemas.openxmlformats.org/officeDocument/2006/math">
                    <m:r>
                      <a:rPr lang="ru-RU" i="1" dirty="0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ru-RU" dirty="0">
                    <a:latin typeface="Montserrat" panose="00000500000000000000" pitchFamily="2" charset="-52"/>
                  </a:rPr>
                  <a:t> с</a:t>
                </a:r>
                <a:r>
                  <a:rPr lang="en-US" dirty="0">
                    <a:latin typeface="Montserrat" panose="00000500000000000000" pitchFamily="2" charset="-52"/>
                  </a:rPr>
                  <a:t> </a:t>
                </a:r>
                <a:r>
                  <a:rPr lang="ru-RU" dirty="0">
                    <a:latin typeface="Montserrat" panose="00000500000000000000" pitchFamily="2" charset="-52"/>
                  </a:rPr>
                  <a:t>коэффициентами из поля </a:t>
                </a:r>
                <a14:m>
                  <m:oMath xmlns:m="http://schemas.openxmlformats.org/officeDocument/2006/math">
                    <m:r>
                      <a:rPr lang="ru-RU" i="1" dirty="0">
                        <a:latin typeface="Cambria Math" panose="02040503050406030204" pitchFamily="18" charset="0"/>
                      </a:rPr>
                      <m:t>𝕂</m:t>
                    </m:r>
                  </m:oMath>
                </a14:m>
                <a:r>
                  <a:rPr lang="ru-RU" dirty="0">
                    <a:latin typeface="Montserrat" panose="00000500000000000000" pitchFamily="2" charset="-52"/>
                  </a:rPr>
                  <a:t>, а также </a:t>
                </a:r>
                <a14:m>
                  <m:oMath xmlns:m="http://schemas.openxmlformats.org/officeDocument/2006/math">
                    <m:r>
                      <a:rPr lang="ru-RU" i="1" dirty="0" smtClean="0">
                        <a:latin typeface="Cambria Math" panose="02040503050406030204" pitchFamily="18" charset="0"/>
                      </a:rPr>
                      <m:t>𝜑</m:t>
                    </m:r>
                    <m:r>
                      <a:rPr lang="ru-RU" i="1" dirty="0" smtClean="0">
                        <a:latin typeface="Cambria Math" panose="02040503050406030204" pitchFamily="18" charset="0"/>
                      </a:rPr>
                      <m:t> ∈ </m:t>
                    </m:r>
                    <m:r>
                      <a:rPr lang="ru-RU" i="1" dirty="0" smtClean="0">
                        <a:latin typeface="Cambria Math" panose="02040503050406030204" pitchFamily="18" charset="0"/>
                      </a:rPr>
                      <m:t>𝐸𝑛𝑑</m:t>
                    </m:r>
                    <m:r>
                      <a:rPr lang="ru-RU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ru-RU" i="1" dirty="0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dirty="0">
                    <a:latin typeface="Montserrat" panose="00000500000000000000" pitchFamily="2" charset="-52"/>
                  </a:rPr>
                  <a:t>, где размерность пространства</a:t>
                </a:r>
                <a:r>
                  <a:rPr lang="en-US" dirty="0">
                    <a:latin typeface="Montserrat" panose="00000500000000000000" pitchFamily="2" charset="-52"/>
                  </a:rPr>
                  <a:t> </a:t>
                </a:r>
                <a14:m>
                  <m:oMath xmlns:m="http://schemas.openxmlformats.org/officeDocument/2006/math">
                    <m:r>
                      <a:rPr lang="ru-RU" i="1" dirty="0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ru-RU" dirty="0">
                    <a:latin typeface="Montserrat" panose="00000500000000000000" pitchFamily="2" charset="-52"/>
                  </a:rPr>
                  <a:t> равна </a:t>
                </a:r>
                <a14:m>
                  <m:oMath xmlns:m="http://schemas.openxmlformats.org/officeDocument/2006/math">
                    <m:r>
                      <a:rPr lang="ru-RU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ru-RU" i="1" dirty="0" smtClean="0">
                        <a:latin typeface="Cambria Math" panose="02040503050406030204" pitchFamily="18" charset="0"/>
                      </a:rPr>
                      <m:t> =</m:t>
                    </m:r>
                    <m:func>
                      <m:func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ru-RU" i="0" dirty="0" err="1" smtClean="0">
                            <a:latin typeface="Cambria Math" panose="02040503050406030204" pitchFamily="18" charset="0"/>
                          </a:rPr>
                          <m:t>dim</m:t>
                        </m:r>
                      </m:fName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func>
                  </m:oMath>
                </a14:m>
                <a:r>
                  <a:rPr lang="ru-RU" dirty="0">
                    <a:latin typeface="Montserrat" panose="00000500000000000000" pitchFamily="2" charset="-52"/>
                  </a:rPr>
                  <a:t>.</a:t>
                </a:r>
                <a:r>
                  <a:rPr lang="en-US" dirty="0">
                    <a:latin typeface="Montserrat" panose="00000500000000000000" pitchFamily="2" charset="-52"/>
                  </a:rPr>
                  <a:t> </a:t>
                </a:r>
                <a:endParaRPr lang="ru-RU" dirty="0">
                  <a:latin typeface="Montserrat" panose="00000500000000000000" pitchFamily="2" charset="-52"/>
                </a:endParaRPr>
              </a:p>
              <a:p>
                <a:pPr algn="just"/>
                <a:r>
                  <a:rPr lang="ru-RU" dirty="0">
                    <a:latin typeface="Montserrat" panose="00000500000000000000" pitchFamily="2" charset="-52"/>
                  </a:rPr>
                  <a:t>В некотором базисе линейному оператору </a:t>
                </a:r>
                <a14:m>
                  <m:oMath xmlns:m="http://schemas.openxmlformats.org/officeDocument/2006/math">
                    <m:r>
                      <a:rPr lang="ru-RU" b="0" i="1" smtClean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en-US" dirty="0">
                    <a:latin typeface="Montserrat" panose="00000500000000000000" pitchFamily="2" charset="-52"/>
                  </a:rPr>
                  <a:t> </a:t>
                </a:r>
                <a:r>
                  <a:rPr lang="ru-RU" dirty="0">
                    <a:latin typeface="Montserrat" panose="00000500000000000000" pitchFamily="2" charset="-52"/>
                  </a:rPr>
                  <a:t>сопоставляется матрица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𝜑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i="1" dirty="0">
                            <a:latin typeface="Cambria Math" panose="02040503050406030204" pitchFamily="18" charset="0"/>
                          </a:rPr>
                          <m:t>𝕂</m:t>
                        </m:r>
                      </m:e>
                    </m:d>
                  </m:oMath>
                </a14:m>
                <a:r>
                  <a:rPr lang="en-US" dirty="0">
                    <a:latin typeface="Montserrat" panose="00000500000000000000" pitchFamily="2" charset="-52"/>
                  </a:rPr>
                  <a:t>.</a:t>
                </a:r>
              </a:p>
              <a:p>
                <a:pPr algn="just"/>
                <a:endParaRPr lang="en-US" dirty="0">
                  <a:latin typeface="Montserrat" panose="00000500000000000000" pitchFamily="2" charset="-52"/>
                </a:endParaRPr>
              </a:p>
              <a:p>
                <a:pPr algn="just"/>
                <a:r>
                  <a:rPr lang="ru-RU" b="1" dirty="0">
                    <a:latin typeface="Montserrat" panose="00000500000000000000" pitchFamily="2" charset="-52"/>
                  </a:rPr>
                  <a:t>Операторный полином </a:t>
                </a:r>
                <a:r>
                  <a:rPr lang="ru-RU" dirty="0">
                    <a:latin typeface="Montserrat" panose="00000500000000000000" pitchFamily="2" charset="-52"/>
                  </a:rPr>
                  <a:t>– линейный оператор </a:t>
                </a:r>
                <a14:m>
                  <m:oMath xmlns:m="http://schemas.openxmlformats.org/officeDocument/2006/math">
                    <m:r>
                      <a:rPr lang="ru-RU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ru-RU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ru-RU" i="1" dirty="0" smtClean="0">
                        <a:latin typeface="Cambria Math" panose="02040503050406030204" pitchFamily="18" charset="0"/>
                      </a:rPr>
                      <m:t>𝜑</m:t>
                    </m:r>
                    <m:r>
                      <a:rPr lang="ru-RU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dirty="0">
                    <a:latin typeface="Montserrat" panose="00000500000000000000" pitchFamily="2" charset="-52"/>
                  </a:rPr>
                  <a:t> такой, что</a:t>
                </a:r>
                <a:endParaRPr lang="en-US" dirty="0">
                  <a:latin typeface="Montserrat" panose="00000500000000000000" pitchFamily="2" charset="-52"/>
                </a:endParaRP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i="1" dirty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ru-RU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b="0" i="1" dirty="0" smtClean="0">
                              <a:latin typeface="Cambria Math" panose="02040503050406030204" pitchFamily="18" charset="0"/>
                            </a:rPr>
                            <m:t>𝜑</m:t>
                          </m:r>
                        </m:e>
                      </m:d>
                      <m:r>
                        <a:rPr lang="ru-RU" i="1" dirty="0"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ru-RU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 dirty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ru-RU" i="1" dirty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ru-RU" i="1" dirty="0">
                          <a:latin typeface="Cambria Math" panose="02040503050406030204" pitchFamily="18" charset="0"/>
                        </a:rPr>
                        <m:t> + </m:t>
                      </m:r>
                      <m:sSub>
                        <m:sSubPr>
                          <m:ctrlPr>
                            <a:rPr lang="ru-RU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 dirty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ru-RU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𝜑</m:t>
                      </m:r>
                      <m:r>
                        <a:rPr lang="ru-RU" i="1" dirty="0">
                          <a:latin typeface="Cambria Math" panose="02040503050406030204" pitchFamily="18" charset="0"/>
                        </a:rPr>
                        <m:t> + </m:t>
                      </m:r>
                      <m:sSub>
                        <m:sSubPr>
                          <m:ctrlPr>
                            <a:rPr lang="ru-RU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 dirty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ru-RU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p>
                        <m:sSup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𝜑</m:t>
                          </m:r>
                        </m:e>
                        <m:sup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ru-RU" i="1" dirty="0">
                          <a:latin typeface="Cambria Math" panose="02040503050406030204" pitchFamily="18" charset="0"/>
                        </a:rPr>
                        <m:t> + . . . + </m:t>
                      </m:r>
                      <m:sSub>
                        <m:sSub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 dirty="0" err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ru-RU" i="1" dirty="0" err="1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sSup>
                        <m:sSup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𝜑</m:t>
                          </m:r>
                        </m:e>
                        <m:sup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</m:sSup>
                      <m:r>
                        <a:rPr lang="ru-RU" i="1" dirty="0">
                          <a:latin typeface="Cambria Math" panose="02040503050406030204" pitchFamily="18" charset="0"/>
                        </a:rPr>
                        <m:t> ∈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𝐸𝑛𝑑</m:t>
                      </m:r>
                      <m:d>
                        <m:d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</m:d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dirty="0">
                  <a:latin typeface="Montserrat" panose="00000500000000000000" pitchFamily="2" charset="-52"/>
                </a:endParaRPr>
              </a:p>
              <a:p>
                <a:pPr algn="just"/>
                <a:r>
                  <a:rPr lang="ru-RU" dirty="0">
                    <a:latin typeface="Montserrat" panose="00000500000000000000" pitchFamily="2" charset="-52"/>
                  </a:rPr>
                  <a:t>Ему соответствует </a:t>
                </a:r>
                <a:r>
                  <a:rPr lang="ru-RU" b="1" dirty="0">
                    <a:latin typeface="Montserrat" panose="00000500000000000000" pitchFamily="2" charset="-52"/>
                  </a:rPr>
                  <a:t>матричный полином</a:t>
                </a: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i="1" dirty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ru-RU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𝜑</m:t>
                              </m:r>
                            </m:sub>
                          </m:sSub>
                        </m:e>
                      </m:d>
                      <m:r>
                        <a:rPr lang="ru-RU" i="1" dirty="0"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ru-RU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 dirty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ru-RU" i="1" dirty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ru-RU" i="1" dirty="0">
                          <a:latin typeface="Cambria Math" panose="02040503050406030204" pitchFamily="18" charset="0"/>
                        </a:rPr>
                        <m:t> + </m:t>
                      </m:r>
                      <m:sSub>
                        <m:sSubPr>
                          <m:ctrlPr>
                            <a:rPr lang="ru-RU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 dirty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ru-RU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𝜑</m:t>
                          </m:r>
                        </m:sub>
                      </m:sSub>
                      <m:r>
                        <a:rPr lang="ru-RU" i="1" dirty="0">
                          <a:latin typeface="Cambria Math" panose="02040503050406030204" pitchFamily="18" charset="0"/>
                        </a:rPr>
                        <m:t>+ </m:t>
                      </m:r>
                      <m:sSub>
                        <m:sSubPr>
                          <m:ctrlPr>
                            <a:rPr lang="ru-RU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 dirty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ru-RU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p>
                        <m:sSup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𝜑</m:t>
                              </m:r>
                            </m:sub>
                          </m:sSub>
                        </m:e>
                        <m:sup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ru-RU" i="1" dirty="0">
                          <a:latin typeface="Cambria Math" panose="02040503050406030204" pitchFamily="18" charset="0"/>
                        </a:rPr>
                        <m:t> + . . . + </m:t>
                      </m:r>
                      <m:sSub>
                        <m:sSub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 dirty="0" err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ru-RU" i="1" dirty="0" err="1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sSup>
                        <m:sSup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𝜑</m:t>
                              </m:r>
                            </m:sub>
                          </m:sSub>
                        </m:e>
                        <m:sup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</m:sSup>
                      <m:r>
                        <a:rPr lang="ru-RU" i="1" dirty="0">
                          <a:latin typeface="Cambria Math" panose="02040503050406030204" pitchFamily="18" charset="0"/>
                        </a:rPr>
                        <m:t> ∈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i="1" dirty="0">
                              <a:latin typeface="Cambria Math" panose="02040503050406030204" pitchFamily="18" charset="0"/>
                            </a:rPr>
                            <m:t>𝕂</m:t>
                          </m:r>
                        </m:e>
                      </m:d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dirty="0">
                  <a:latin typeface="Montserrat" panose="00000500000000000000" pitchFamily="2" charset="-52"/>
                </a:endParaRPr>
              </a:p>
              <a:p>
                <a:pPr algn="just"/>
                <a:endParaRPr lang="en-US" dirty="0">
                  <a:latin typeface="Montserrat" panose="00000500000000000000" pitchFamily="2" charset="-52"/>
                </a:endParaRPr>
              </a:p>
              <a:p>
                <a:pPr algn="just"/>
                <a:r>
                  <a:rPr lang="ru-RU" b="1" dirty="0">
                    <a:latin typeface="Montserrat" panose="00000500000000000000" pitchFamily="2" charset="-52"/>
                  </a:rPr>
                  <a:t>Лемма</a:t>
                </a:r>
                <a:r>
                  <a:rPr lang="ru-RU" dirty="0">
                    <a:latin typeface="Montserrat" panose="00000500000000000000" pitchFamily="2" charset="-52"/>
                  </a:rPr>
                  <a:t>. Подпространство </a:t>
                </a:r>
                <a14:m>
                  <m:oMath xmlns:m="http://schemas.openxmlformats.org/officeDocument/2006/math">
                    <m:r>
                      <a:rPr lang="ru-RU" i="1" dirty="0" smtClean="0">
                        <a:latin typeface="Cambria Math" panose="02040503050406030204" pitchFamily="18" charset="0"/>
                      </a:rPr>
                      <m:t>𝑈</m:t>
                    </m:r>
                    <m:r>
                      <a:rPr lang="ru-RU" i="1" dirty="0" smtClean="0">
                        <a:latin typeface="Cambria Math" panose="02040503050406030204" pitchFamily="18" charset="0"/>
                      </a:rPr>
                      <m:t> ⩽ </m:t>
                    </m:r>
                    <m:r>
                      <a:rPr lang="ru-RU" i="1" dirty="0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ru-RU" dirty="0">
                    <a:latin typeface="Montserrat" panose="00000500000000000000" pitchFamily="2" charset="-52"/>
                  </a:rPr>
                  <a:t>, которое инвариантно относительно</a:t>
                </a:r>
                <a:r>
                  <a:rPr lang="en-US" dirty="0">
                    <a:latin typeface="Montserrat" panose="00000500000000000000" pitchFamily="2" charset="-52"/>
                  </a:rPr>
                  <a:t> </a:t>
                </a:r>
                <a:r>
                  <a:rPr lang="ru-RU" dirty="0">
                    <a:latin typeface="Montserrat" panose="00000500000000000000" pitchFamily="2" charset="-52"/>
                  </a:rPr>
                  <a:t>оператора </a:t>
                </a:r>
                <a14:m>
                  <m:oMath xmlns:m="http://schemas.openxmlformats.org/officeDocument/2006/math">
                    <m:r>
                      <a:rPr lang="ru-RU" i="1" dirty="0" smtClean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ru-RU" dirty="0">
                    <a:latin typeface="Montserrat" panose="00000500000000000000" pitchFamily="2" charset="-52"/>
                  </a:rPr>
                  <a:t> будет также инвариантно относительно операторного полинома</a:t>
                </a:r>
                <a:r>
                  <a:rPr lang="en-US" dirty="0">
                    <a:latin typeface="Montserrat" panose="00000500000000000000" pitchFamily="2" charset="-52"/>
                  </a:rPr>
                  <a:t> </a:t>
                </a:r>
                <a14:m>
                  <m:oMath xmlns:m="http://schemas.openxmlformats.org/officeDocument/2006/math">
                    <m:r>
                      <a:rPr lang="ru-RU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ru-RU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ru-RU" i="1" dirty="0" smtClean="0">
                        <a:latin typeface="Cambria Math" panose="02040503050406030204" pitchFamily="18" charset="0"/>
                      </a:rPr>
                      <m:t>𝜑</m:t>
                    </m:r>
                    <m:r>
                      <a:rPr lang="ru-RU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dirty="0">
                    <a:latin typeface="Montserrat" panose="00000500000000000000" pitchFamily="2" charset="-52"/>
                  </a:rPr>
                  <a:t>.</a:t>
                </a:r>
              </a:p>
              <a:p>
                <a:pPr algn="just"/>
                <a:r>
                  <a:rPr lang="ru-RU" b="1" dirty="0">
                    <a:latin typeface="Montserrat" panose="00000500000000000000" pitchFamily="2" charset="-52"/>
                  </a:rPr>
                  <a:t>Доказательство</a:t>
                </a:r>
                <a:r>
                  <a:rPr lang="ru-RU" dirty="0">
                    <a:latin typeface="Montserrat" panose="00000500000000000000" pitchFamily="2" charset="-52"/>
                  </a:rPr>
                  <a:t>. Пусть </a:t>
                </a:r>
                <a14:m>
                  <m:oMath xmlns:m="http://schemas.openxmlformats.org/officeDocument/2006/math">
                    <m:r>
                      <a:rPr lang="ru-RU" i="1" dirty="0" smtClean="0">
                        <a:latin typeface="Cambria Math" panose="02040503050406030204" pitchFamily="18" charset="0"/>
                      </a:rPr>
                      <m:t>𝑈</m:t>
                    </m:r>
                    <m:r>
                      <a:rPr lang="ru-RU" i="1" dirty="0" smtClean="0">
                        <a:latin typeface="Cambria Math" panose="02040503050406030204" pitchFamily="18" charset="0"/>
                      </a:rPr>
                      <m:t> ⩽ </m:t>
                    </m:r>
                    <m:r>
                      <a:rPr lang="ru-RU" i="1" dirty="0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ru-RU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dirty="0">
                    <a:latin typeface="Montserrat" panose="00000500000000000000" pitchFamily="2" charset="-52"/>
                  </a:rPr>
                  <a:t>такое, что </a:t>
                </a:r>
                <a14:m>
                  <m:oMath xmlns:m="http://schemas.openxmlformats.org/officeDocument/2006/math">
                    <m:r>
                      <a:rPr lang="ru-RU" i="1" dirty="0" smtClean="0">
                        <a:latin typeface="Cambria Math" panose="02040503050406030204" pitchFamily="18" charset="0"/>
                      </a:rPr>
                      <m:t>𝜑</m:t>
                    </m:r>
                    <m:r>
                      <a:rPr lang="ru-RU" i="1" dirty="0" smtClean="0">
                        <a:latin typeface="Cambria Math" panose="02040503050406030204" pitchFamily="18" charset="0"/>
                      </a:rPr>
                      <m:t>𝑈</m:t>
                    </m:r>
                    <m:r>
                      <a:rPr lang="ru-RU" i="1" dirty="0" smtClean="0">
                        <a:latin typeface="Cambria Math" panose="02040503050406030204" pitchFamily="18" charset="0"/>
                      </a:rPr>
                      <m:t> ⩽ </m:t>
                    </m:r>
                    <m:r>
                      <a:rPr lang="ru-RU" i="1" dirty="0" smtClean="0">
                        <a:latin typeface="Cambria Math" panose="02040503050406030204" pitchFamily="18" charset="0"/>
                      </a:rPr>
                      <m:t>𝑈</m:t>
                    </m:r>
                  </m:oMath>
                </a14:m>
                <a:r>
                  <a:rPr lang="ru-RU" dirty="0">
                    <a:latin typeface="Montserrat" panose="00000500000000000000" pitchFamily="2" charset="-52"/>
                  </a:rPr>
                  <a:t>. Откуда следует, что подпространство </a:t>
                </a:r>
                <a14:m>
                  <m:oMath xmlns:m="http://schemas.openxmlformats.org/officeDocument/2006/math">
                    <m:r>
                      <a:rPr lang="ru-RU" i="1" dirty="0" smtClean="0">
                        <a:latin typeface="Cambria Math" panose="02040503050406030204" pitchFamily="18" charset="0"/>
                      </a:rPr>
                      <m:t>𝑈</m:t>
                    </m:r>
                  </m:oMath>
                </a14:m>
                <a:r>
                  <a:rPr lang="ru-RU" dirty="0">
                    <a:latin typeface="Montserrat" panose="00000500000000000000" pitchFamily="2" charset="-52"/>
                  </a:rPr>
                  <a:t> будет обладать тем же свойством относительно любой степени</a:t>
                </a:r>
                <a:r>
                  <a:rPr lang="en-US" dirty="0">
                    <a:latin typeface="Montserrat" panose="00000500000000000000" pitchFamily="2" charset="-52"/>
                  </a:rPr>
                  <a:t> </a:t>
                </a:r>
                <a:r>
                  <a:rPr lang="ru-RU" dirty="0">
                    <a:latin typeface="Montserrat" panose="00000500000000000000" pitchFamily="2" charset="-52"/>
                  </a:rPr>
                  <a:t>оператора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i="1" dirty="0" smtClean="0"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  <m:sup>
                        <m:r>
                          <a:rPr lang="ru-RU" i="1" dirty="0" err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ru-RU" i="1" dirty="0" err="1" smtClean="0">
                        <a:latin typeface="Cambria Math" panose="02040503050406030204" pitchFamily="18" charset="0"/>
                      </a:rPr>
                      <m:t>𝑈</m:t>
                    </m:r>
                    <m:r>
                      <a:rPr lang="ru-RU" i="1" dirty="0" smtClean="0">
                        <a:latin typeface="Cambria Math" panose="02040503050406030204" pitchFamily="18" charset="0"/>
                      </a:rPr>
                      <m:t> ⩽ </m:t>
                    </m:r>
                    <m:r>
                      <a:rPr lang="ru-RU" i="1" dirty="0" smtClean="0">
                        <a:latin typeface="Cambria Math" panose="02040503050406030204" pitchFamily="18" charset="0"/>
                      </a:rPr>
                      <m:t>𝑈</m:t>
                    </m:r>
                  </m:oMath>
                </a14:m>
                <a:r>
                  <a:rPr lang="ru-RU" dirty="0">
                    <a:latin typeface="Montserrat" panose="00000500000000000000" pitchFamily="2" charset="-52"/>
                  </a:rPr>
                  <a:t>. Так как операторный полином </a:t>
                </a:r>
                <a14:m>
                  <m:oMath xmlns:m="http://schemas.openxmlformats.org/officeDocument/2006/math">
                    <m:r>
                      <a:rPr lang="ru-RU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ru-RU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ru-RU" i="1" dirty="0" smtClean="0">
                        <a:latin typeface="Cambria Math" panose="02040503050406030204" pitchFamily="18" charset="0"/>
                      </a:rPr>
                      <m:t>𝜑</m:t>
                    </m:r>
                    <m:r>
                      <a:rPr lang="ru-RU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dirty="0">
                    <a:latin typeface="Montserrat" panose="00000500000000000000" pitchFamily="2" charset="-52"/>
                  </a:rPr>
                  <a:t> определяется линейной</a:t>
                </a:r>
                <a:r>
                  <a:rPr lang="en-US" dirty="0">
                    <a:latin typeface="Montserrat" panose="00000500000000000000" pitchFamily="2" charset="-52"/>
                  </a:rPr>
                  <a:t> </a:t>
                </a:r>
                <a:r>
                  <a:rPr lang="ru-RU" dirty="0">
                    <a:latin typeface="Montserrat" panose="00000500000000000000" pitchFamily="2" charset="-52"/>
                  </a:rPr>
                  <a:t>комбинацией степеней оператора </a:t>
                </a:r>
                <a14:m>
                  <m:oMath xmlns:m="http://schemas.openxmlformats.org/officeDocument/2006/math">
                    <m:r>
                      <a:rPr lang="ru-RU" i="1" dirty="0" smtClean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ru-RU" dirty="0">
                    <a:latin typeface="Montserrat" panose="00000500000000000000" pitchFamily="2" charset="-52"/>
                  </a:rPr>
                  <a:t>, то и подпространство </a:t>
                </a:r>
                <a14:m>
                  <m:oMath xmlns:m="http://schemas.openxmlformats.org/officeDocument/2006/math">
                    <m:r>
                      <a:rPr lang="ru-RU" i="1" dirty="0" smtClean="0">
                        <a:latin typeface="Cambria Math" panose="02040503050406030204" pitchFamily="18" charset="0"/>
                      </a:rPr>
                      <m:t>𝑈</m:t>
                    </m:r>
                  </m:oMath>
                </a14:m>
                <a:r>
                  <a:rPr lang="ru-RU" dirty="0">
                    <a:latin typeface="Montserrat" panose="00000500000000000000" pitchFamily="2" charset="-52"/>
                  </a:rPr>
                  <a:t> будет инвариантно</a:t>
                </a:r>
                <a:r>
                  <a:rPr lang="en-US" dirty="0">
                    <a:latin typeface="Montserrat" panose="00000500000000000000" pitchFamily="2" charset="-52"/>
                  </a:rPr>
                  <a:t> </a:t>
                </a:r>
                <a:r>
                  <a:rPr lang="ru-RU" dirty="0">
                    <a:latin typeface="Montserrat" panose="00000500000000000000" pitchFamily="2" charset="-52"/>
                  </a:rPr>
                  <a:t>относительно </a:t>
                </a:r>
                <a14:m>
                  <m:oMath xmlns:m="http://schemas.openxmlformats.org/officeDocument/2006/math">
                    <m:r>
                      <a:rPr lang="ru-RU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ru-RU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ru-RU" i="1" dirty="0" smtClean="0">
                        <a:latin typeface="Cambria Math" panose="02040503050406030204" pitchFamily="18" charset="0"/>
                      </a:rPr>
                      <m:t>𝜑</m:t>
                    </m:r>
                    <m:r>
                      <a:rPr lang="ru-RU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dirty="0">
                    <a:latin typeface="Montserrat" panose="00000500000000000000" pitchFamily="2" charset="-52"/>
                  </a:rPr>
                  <a:t>.</a:t>
                </a: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4EFC25A-9226-A8BD-794B-E2F2AE5C5F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815813"/>
                <a:ext cx="10778412" cy="4326441"/>
              </a:xfrm>
              <a:prstGeom prst="rect">
                <a:avLst/>
              </a:prstGeom>
              <a:blipFill>
                <a:blip r:embed="rId2"/>
                <a:stretch>
                  <a:fillRect l="-509" t="-704" r="-452" b="-140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6458505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82ED7D-8BAF-B25E-70D9-3E499E6339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5B2D673-21BD-E2C1-CB32-CBA4DC9DCE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9844"/>
            <a:ext cx="10451841" cy="455969"/>
          </a:xfrm>
        </p:spPr>
        <p:txBody>
          <a:bodyPr>
            <a:normAutofit/>
          </a:bodyPr>
          <a:lstStyle/>
          <a:p>
            <a:r>
              <a:rPr lang="ru-RU" dirty="0"/>
              <a:t>18. Аннулирующий полином. Теорема Гамильтона-Кэли.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C7B0979-7D7C-BDAB-EAEC-E8CCD72867ED}"/>
                  </a:ext>
                </a:extLst>
              </p:cNvPr>
              <p:cNvSpPr txBox="1"/>
              <p:nvPr/>
            </p:nvSpPr>
            <p:spPr>
              <a:xfrm>
                <a:off x="838200" y="815813"/>
                <a:ext cx="10778412" cy="56189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ru-RU" b="1" dirty="0">
                    <a:latin typeface="Montserrat" panose="00000500000000000000" pitchFamily="2" charset="-52"/>
                  </a:rPr>
                  <a:t>Аннулирующим полиномом </a:t>
                </a:r>
                <a:r>
                  <a:rPr lang="ru-RU" dirty="0">
                    <a:latin typeface="Montserrat" panose="00000500000000000000" pitchFamily="2" charset="-52"/>
                  </a:rPr>
                  <a:t>оператора называют полином</a:t>
                </a:r>
                <a14:m>
                  <m:oMath xmlns:m="http://schemas.openxmlformats.org/officeDocument/2006/math">
                    <m:r>
                      <a:rPr lang="ru-RU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ru-RU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ru-RU" i="1" dirty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ru-RU" i="1" dirty="0">
                        <a:latin typeface="Cambria Math" panose="02040503050406030204" pitchFamily="18" charset="0"/>
                      </a:rPr>
                      <m:t>)∈</m:t>
                    </m:r>
                    <m:r>
                      <a:rPr lang="ru-RU" i="1" dirty="0">
                        <a:latin typeface="Cambria Math" panose="02040503050406030204" pitchFamily="18" charset="0"/>
                      </a:rPr>
                      <m:t>𝕂</m:t>
                    </m:r>
                    <m:r>
                      <a:rPr lang="ru-RU" i="1" dirty="0">
                        <a:latin typeface="Cambria Math" panose="02040503050406030204" pitchFamily="18" charset="0"/>
                      </a:rPr>
                      <m:t>[</m:t>
                    </m:r>
                    <m:r>
                      <a:rPr lang="ru-RU" i="1" dirty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ru-RU" i="1" dirty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ru-RU" dirty="0">
                    <a:latin typeface="Montserrat" panose="00000500000000000000" pitchFamily="2" charset="-52"/>
                  </a:rPr>
                  <a:t>такой, что соответствующий ему операторный полином равен нулевому оператору:</a:t>
                </a:r>
                <a:endParaRPr lang="en-US" dirty="0">
                  <a:latin typeface="Montserrat" panose="00000500000000000000" pitchFamily="2" charset="-52"/>
                </a:endParaRP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𝜑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ru-RU" dirty="0">
                          <a:latin typeface="Cambria Math" panose="02040503050406030204" pitchFamily="18" charset="0"/>
                        </a:rPr>
                        <m:t>Θ</m:t>
                      </m:r>
                    </m:oMath>
                  </m:oMathPara>
                </a14:m>
                <a:endParaRPr lang="en-US" dirty="0">
                  <a:latin typeface="Montserrat" panose="00000500000000000000" pitchFamily="2" charset="-52"/>
                </a:endParaRPr>
              </a:p>
              <a:p>
                <a:pPr algn="just"/>
                <a:r>
                  <a:rPr lang="ru-RU" b="1" dirty="0">
                    <a:latin typeface="Montserrat" panose="00000500000000000000" pitchFamily="2" charset="-52"/>
                  </a:rPr>
                  <a:t>Теорема</a:t>
                </a:r>
                <a:r>
                  <a:rPr lang="ru-RU" dirty="0">
                    <a:latin typeface="Montserrat" panose="00000500000000000000" pitchFamily="2" charset="-52"/>
                  </a:rPr>
                  <a:t> (Гамильтона-Кэли).</a:t>
                </a:r>
              </a:p>
              <a:p>
                <a:pPr algn="just"/>
                <a:r>
                  <a:rPr lang="ru-RU" dirty="0">
                    <a:latin typeface="Montserrat" panose="00000500000000000000" pitchFamily="2" charset="-52"/>
                  </a:rPr>
                  <a:t>Характеристический полином </a:t>
                </a:r>
                <a14:m>
                  <m:oMath xmlns:m="http://schemas.openxmlformats.org/officeDocument/2006/math">
                    <m:r>
                      <a:rPr lang="ru-RU" i="1" dirty="0" smtClean="0">
                        <a:latin typeface="Cambria Math" panose="02040503050406030204" pitchFamily="18" charset="0"/>
                      </a:rPr>
                      <m:t>𝜒</m:t>
                    </m:r>
                    <m:r>
                      <a:rPr lang="ru-RU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ru-RU" i="1" dirty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ru-RU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dirty="0">
                    <a:latin typeface="Montserrat" panose="00000500000000000000" pitchFamily="2" charset="-52"/>
                  </a:rPr>
                  <a:t> является аннулирующим полиномом.</a:t>
                </a: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i="1" dirty="0" smtClean="0">
                          <a:latin typeface="Cambria Math" panose="02040503050406030204" pitchFamily="18" charset="0"/>
                        </a:rPr>
                        <m:t>𝜒</m:t>
                      </m:r>
                      <m:r>
                        <a:rPr lang="ru-RU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ru-RU" i="1" dirty="0" smtClean="0">
                          <a:latin typeface="Cambria Math" panose="02040503050406030204" pitchFamily="18" charset="0"/>
                        </a:rPr>
                        <m:t>𝜑</m:t>
                      </m:r>
                      <m:r>
                        <a:rPr lang="ru-RU" i="1" dirty="0" smtClean="0">
                          <a:latin typeface="Cambria Math" panose="02040503050406030204" pitchFamily="18" charset="0"/>
                        </a:rPr>
                        <m:t>) = </m:t>
                      </m:r>
                      <m:r>
                        <m:rPr>
                          <m:sty m:val="p"/>
                        </m:rPr>
                        <a:rPr lang="ru-RU" i="0" dirty="0" smtClean="0">
                          <a:latin typeface="Cambria Math" panose="02040503050406030204" pitchFamily="18" charset="0"/>
                        </a:rPr>
                        <m:t>Θ</m:t>
                      </m:r>
                    </m:oMath>
                  </m:oMathPara>
                </a14:m>
                <a:endParaRPr lang="ru-RU" dirty="0">
                  <a:latin typeface="Montserrat" panose="00000500000000000000" pitchFamily="2" charset="-52"/>
                </a:endParaRPr>
              </a:p>
              <a:p>
                <a:pPr algn="just"/>
                <a:r>
                  <a:rPr lang="ru-RU" b="1" dirty="0">
                    <a:latin typeface="Montserrat" panose="00000500000000000000" pitchFamily="2" charset="-52"/>
                  </a:rPr>
                  <a:t>Доказательство</a:t>
                </a:r>
                <a:r>
                  <a:rPr lang="ru-RU" dirty="0">
                    <a:latin typeface="Montserrat" panose="00000500000000000000" pitchFamily="2" charset="-52"/>
                  </a:rPr>
                  <a:t>. В поле </a:t>
                </a:r>
                <a14:m>
                  <m:oMath xmlns:m="http://schemas.openxmlformats.org/officeDocument/2006/math">
                    <m:r>
                      <a:rPr lang="ru-R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𝕂</m:t>
                    </m:r>
                    <m:r>
                      <a:rPr lang="ru-R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ru-R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ℂ</m:t>
                    </m:r>
                  </m:oMath>
                </a14:m>
                <a:r>
                  <a:rPr lang="ru-RU" dirty="0">
                    <a:latin typeface="Montserrat" panose="00000500000000000000" pitchFamily="2" charset="-52"/>
                  </a:rPr>
                  <a:t> характеристический полином всегда раскладывается на линейные сомножители, поэтому рассмотрение в этом поле.</a:t>
                </a: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i="1" dirty="0">
                          <a:latin typeface="Cambria Math" panose="02040503050406030204" pitchFamily="18" charset="0"/>
                        </a:rPr>
                        <m:t>𝜒</m:t>
                      </m:r>
                      <m:d>
                        <m:dPr>
                          <m:ctrlPr>
                            <a:rPr lang="ru-RU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i="1" dirty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ru-RU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ru-RU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u-RU" b="0" i="1" dirty="0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</m:e>
                        <m:sup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sSup>
                        <m:sSup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  <m:sub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p>
                      </m:sSup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⋅…⋅</m:t>
                      </m:r>
                      <m:sSup>
                        <m:sSup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  <m:sub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</m:sup>
                      </m:sSup>
                    </m:oMath>
                  </m:oMathPara>
                </a14:m>
                <a:endParaRPr lang="en-US" dirty="0">
                  <a:latin typeface="Montserrat" panose="00000500000000000000" pitchFamily="2" charset="-52"/>
                </a:endParaRP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i="1" dirty="0">
                          <a:latin typeface="Cambria Math" panose="02040503050406030204" pitchFamily="18" charset="0"/>
                        </a:rPr>
                        <m:t>𝜒</m:t>
                      </m:r>
                      <m:d>
                        <m:dPr>
                          <m:ctrlPr>
                            <a:rPr lang="ru-RU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i="1" dirty="0">
                              <a:latin typeface="Cambria Math" panose="02040503050406030204" pitchFamily="18" charset="0"/>
                            </a:rPr>
                            <m:t>𝜑</m:t>
                          </m:r>
                        </m:e>
                      </m:d>
                      <m:r>
                        <a:rPr lang="ru-RU" i="1" dirty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ru-RU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u-RU" i="1" dirty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</m:e>
                        <m:sup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sSup>
                        <m:sSup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u-RU" i="1" dirty="0">
                                  <a:latin typeface="Cambria Math" panose="02040503050406030204" pitchFamily="18" charset="0"/>
                                </a:rPr>
                                <m:t>𝜑</m:t>
                              </m:r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  <m:sub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𝐼𝑑</m:t>
                              </m:r>
                            </m:e>
                          </m:d>
                        </m:e>
                        <m:sup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p>
                      </m:sSup>
                      <m:r>
                        <a:rPr lang="en-US" i="1" dirty="0">
                          <a:latin typeface="Cambria Math" panose="02040503050406030204" pitchFamily="18" charset="0"/>
                        </a:rPr>
                        <m:t>⋅…⋅</m:t>
                      </m:r>
                      <m:sSup>
                        <m:sSup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u-RU" i="1" dirty="0">
                                  <a:latin typeface="Cambria Math" panose="02040503050406030204" pitchFamily="18" charset="0"/>
                                </a:rPr>
                                <m:t>𝜑</m:t>
                              </m:r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  <m:sub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sub>
                              </m:s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𝐼𝑑</m:t>
                              </m:r>
                            </m:e>
                          </m:d>
                        </m:e>
                        <m:sup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</m:sup>
                      </m:sSup>
                    </m:oMath>
                  </m:oMathPara>
                </a14:m>
                <a:endParaRPr lang="ru-RU" dirty="0">
                  <a:latin typeface="Montserrat" panose="00000500000000000000" pitchFamily="2" charset="-52"/>
                </a:endParaRPr>
              </a:p>
              <a:p>
                <a:pPr algn="just"/>
                <a:r>
                  <a:rPr lang="ru-RU" dirty="0">
                    <a:latin typeface="Montserrat" panose="00000500000000000000" pitchFamily="2" charset="-52"/>
                  </a:rPr>
                  <a:t>Произвольный оператор порождает разложение пространства в прямую сумму инвариантных подпространств такого типа</a:t>
                </a: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⊕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⊕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…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⊕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  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func>
                            <m:func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ker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𝜑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𝜆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⋅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𝐼𝑑</m:t>
                                  </m:r>
                                </m:e>
                              </m:d>
                            </m:e>
                          </m:func>
                        </m:e>
                        <m:sup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sup>
                      </m:sSup>
                    </m:oMath>
                  </m:oMathPara>
                </a14:m>
                <a:endParaRPr lang="ru-RU" dirty="0">
                  <a:latin typeface="Montserrat" panose="00000500000000000000" pitchFamily="2" charset="-52"/>
                </a:endParaRPr>
              </a:p>
              <a:p>
                <a:pPr algn="just"/>
                <a:r>
                  <a:rPr lang="ru-RU" dirty="0">
                    <a:latin typeface="Montserrat" panose="00000500000000000000" pitchFamily="2" charset="-52"/>
                  </a:rPr>
                  <a:t>Корневые пространства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ru-RU" dirty="0">
                    <a:latin typeface="Montserrat" panose="00000500000000000000" pitchFamily="2" charset="-52"/>
                  </a:rPr>
                  <a:t> инвариантны относительно </a:t>
                </a:r>
                <a14:m>
                  <m:oMath xmlns:m="http://schemas.openxmlformats.org/officeDocument/2006/math">
                    <m:r>
                      <a:rPr lang="ru-RU" b="0" i="1" smtClean="0">
                        <a:latin typeface="Cambria Math" panose="02040503050406030204" pitchFamily="18" charset="0"/>
                      </a:rPr>
                      <m:t>𝜑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ru-RU" b="0" i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ru-RU" dirty="0">
                    <a:latin typeface="Montserrat" panose="00000500000000000000" pitchFamily="2" charset="-52"/>
                  </a:rPr>
                  <a:t> При этом сужение </a:t>
                </a:r>
                <a14:m>
                  <m:oMath xmlns:m="http://schemas.openxmlformats.org/officeDocument/2006/math">
                    <m:r>
                      <a:rPr lang="ru-RU" b="0" i="1" smtClean="0">
                        <a:latin typeface="Cambria Math" panose="02040503050406030204" pitchFamily="18" charset="0"/>
                      </a:rPr>
                      <m:t>𝜑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"/>
                            <m:endChr m:val="|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ru-RU"/>
                              <m:t>​</m:t>
                            </m:r>
                          </m:e>
                        </m:d>
                      </m:e>
                      <m:sub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ru-RU" dirty="0">
                    <a:latin typeface="Montserrat" panose="00000500000000000000" pitchFamily="2" charset="-52"/>
                  </a:rPr>
                  <a:t> определяется через нильпотентный оператор.</a:t>
                </a: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𝜒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𝜑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⋅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𝐼𝑑</m:t>
                              </m:r>
                            </m:e>
                          </m:d>
                        </m:e>
                        <m:sup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p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sup>
                      </m:s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u-RU">
                                  <a:latin typeface="Cambria Math" panose="02040503050406030204" pitchFamily="18" charset="0"/>
                                </a:rPr>
                                <m:t>​</m:t>
                              </m:r>
                            </m:e>
                          </m:d>
                        </m:e>
                        <m: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ru-RU" dirty="0">
                  <a:latin typeface="Montserrat" panose="00000500000000000000" pitchFamily="2" charset="-52"/>
                </a:endParaRPr>
              </a:p>
              <a:p>
                <a:pPr algn="just"/>
                <a:r>
                  <a:rPr lang="ru-RU" dirty="0">
                    <a:latin typeface="Montserrat" panose="00000500000000000000" pitchFamily="2" charset="-52"/>
                  </a:rPr>
                  <a:t>Так как высота любого вектора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i="1" dirty="0" err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err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i="1" dirty="0" err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>
                    <a:latin typeface="Montserrat" panose="00000500000000000000" pitchFamily="2" charset="-52"/>
                  </a:rPr>
                  <a:t> </a:t>
                </a:r>
                <a:r>
                  <a:rPr lang="ru-RU" dirty="0">
                    <a:latin typeface="Montserrat" panose="00000500000000000000" pitchFamily="2" charset="-52"/>
                  </a:rPr>
                  <a:t>нильпотентный оператор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dirty="0">
                    <a:latin typeface="Montserrat" panose="00000500000000000000" pitchFamily="2" charset="-52"/>
                  </a:rPr>
                  <a:t>в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ru-RU" dirty="0">
                    <a:latin typeface="Montserrat" panose="00000500000000000000" pitchFamily="2" charset="-52"/>
                  </a:rPr>
                  <a:t> обнуляет сужения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𝜑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𝜆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⋅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𝐼𝑑</m:t>
                            </m:r>
                          </m:e>
                        </m:d>
                      </m:e>
                      <m:sup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sup>
                    </m:sSup>
                    <m:r>
                      <a:rPr lang="en-US" i="1" dirty="0">
                        <a:latin typeface="Cambria Math" panose="02040503050406030204" pitchFamily="18" charset="0"/>
                      </a:rPr>
                      <m:t>= </m:t>
                    </m:r>
                    <m:r>
                      <m:rPr>
                        <m:sty m:val="p"/>
                      </m:rPr>
                      <a:rPr lang="el-GR" i="0" dirty="0"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lang="en-US" dirty="0">
                    <a:latin typeface="Montserrat" panose="00000500000000000000" pitchFamily="2" charset="-52"/>
                  </a:rPr>
                  <a:t>.</a:t>
                </a:r>
                <a:endParaRPr lang="ru-RU" dirty="0">
                  <a:latin typeface="Montserrat" panose="00000500000000000000" pitchFamily="2" charset="-52"/>
                </a:endParaRPr>
              </a:p>
              <a:p>
                <a:pPr algn="just"/>
                <a:r>
                  <a:rPr lang="ru-RU" dirty="0">
                    <a:latin typeface="Montserrat" panose="00000500000000000000" pitchFamily="2" charset="-52"/>
                  </a:rPr>
                  <a:t>А значит, и весь полином </a:t>
                </a:r>
                <a14:m>
                  <m:oMath xmlns:m="http://schemas.openxmlformats.org/officeDocument/2006/math">
                    <m:r>
                      <a:rPr lang="ru-RU" b="0" i="1" smtClean="0">
                        <a:latin typeface="Cambria Math" panose="02040503050406030204" pitchFamily="18" charset="0"/>
                      </a:rPr>
                      <m:t>𝜒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𝜑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ru-RU" i="1">
                        <a:latin typeface="Cambria Math" panose="02040503050406030204" pitchFamily="18" charset="0"/>
                      </a:rPr>
                      <m:t>𝜒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</m:d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"/>
                            <m:endChr m:val="|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ru-RU"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</m:d>
                      </m:e>
                      <m: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l-GR" dirty="0"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lang="en-US" dirty="0">
                    <a:latin typeface="Montserrat" panose="00000500000000000000" pitchFamily="2" charset="-52"/>
                  </a:rPr>
                  <a:t>.</a:t>
                </a: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C7B0979-7D7C-BDAB-EAEC-E8CCD72867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815813"/>
                <a:ext cx="10778412" cy="5618974"/>
              </a:xfrm>
              <a:prstGeom prst="rect">
                <a:avLst/>
              </a:prstGeom>
              <a:blipFill>
                <a:blip r:embed="rId2"/>
                <a:stretch>
                  <a:fillRect l="-509" t="-542" r="-452" b="-1084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9433360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2E5D4E-E270-2B1E-3DE0-EB59C3DB6C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0D3DC4F-E173-98EF-6EBE-ED0C0FBD82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9844"/>
            <a:ext cx="10451841" cy="455969"/>
          </a:xfrm>
        </p:spPr>
        <p:txBody>
          <a:bodyPr>
            <a:normAutofit/>
          </a:bodyPr>
          <a:lstStyle/>
          <a:p>
            <a:r>
              <a:rPr lang="ru-RU" dirty="0"/>
              <a:t>19. Функциональное исчисление диагонализируемых операторов.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FE6811C-A42F-1E9F-A18F-0DDDACC01AC3}"/>
                  </a:ext>
                </a:extLst>
              </p:cNvPr>
              <p:cNvSpPr txBox="1"/>
              <p:nvPr/>
            </p:nvSpPr>
            <p:spPr>
              <a:xfrm>
                <a:off x="838200" y="815813"/>
                <a:ext cx="10778412" cy="594759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ru-RU" b="1" dirty="0">
                    <a:latin typeface="Montserrat" panose="00000500000000000000" pitchFamily="2" charset="-52"/>
                  </a:rPr>
                  <a:t>Лемма</a:t>
                </a:r>
                <a:r>
                  <a:rPr lang="ru-RU" dirty="0">
                    <a:latin typeface="Montserrat" panose="00000500000000000000" pitchFamily="2" charset="-52"/>
                  </a:rPr>
                  <a:t>. Пусть </a:t>
                </a:r>
                <a14:m>
                  <m:oMath xmlns:m="http://schemas.openxmlformats.org/officeDocument/2006/math">
                    <m:r>
                      <a:rPr lang="ru-RU" b="0" i="1" smtClean="0">
                        <a:latin typeface="Cambria Math" panose="02040503050406030204" pitchFamily="18" charset="0"/>
                      </a:rPr>
                      <m:t>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𝐸𝑛𝑑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latin typeface="Montserrat" panose="00000500000000000000" pitchFamily="2" charset="-52"/>
                  </a:rPr>
                  <a:t> </a:t>
                </a:r>
                <a:r>
                  <a:rPr lang="ru-RU" dirty="0">
                    <a:latin typeface="Montserrat" panose="00000500000000000000" pitchFamily="2" charset="-52"/>
                  </a:rPr>
                  <a:t>и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en-US" dirty="0">
                    <a:latin typeface="Montserrat" panose="00000500000000000000" pitchFamily="2" charset="-52"/>
                  </a:rPr>
                  <a:t> – </a:t>
                </a:r>
                <a:r>
                  <a:rPr lang="ru-RU" dirty="0">
                    <a:latin typeface="Montserrat" panose="00000500000000000000" pitchFamily="2" charset="-52"/>
                  </a:rPr>
                  <a:t>диагонализируем. Для произвольной степени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ℕ</m:t>
                    </m:r>
                  </m:oMath>
                </a14:m>
                <a:endParaRPr lang="en-US" dirty="0">
                  <a:latin typeface="Montserrat" panose="00000500000000000000" pitchFamily="2" charset="-52"/>
                </a:endParaRP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𝜑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p>
                        <m:e>
                          <m:sSubSup>
                            <m:sSub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𝒫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ru-RU" b="0" i="1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US" dirty="0">
                  <a:latin typeface="Montserrat" panose="00000500000000000000" pitchFamily="2" charset="-52"/>
                </a:endParaRPr>
              </a:p>
              <a:p>
                <a:pPr algn="just"/>
                <a:r>
                  <a:rPr lang="ru-RU" dirty="0">
                    <a:latin typeface="Montserrat" panose="00000500000000000000" pitchFamily="2" charset="-52"/>
                  </a:rPr>
                  <a:t>где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𝒫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ru-RU" dirty="0">
                    <a:latin typeface="Montserrat" panose="00000500000000000000" pitchFamily="2" charset="-52"/>
                  </a:rPr>
                  <a:t> - спектральные проекторы на подпространства, соответствующие СЧ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>
                    <a:latin typeface="Montserrat" panose="00000500000000000000" pitchFamily="2" charset="-52"/>
                  </a:rPr>
                  <a:t>.</a:t>
                </a:r>
              </a:p>
              <a:p>
                <a:pPr algn="just"/>
                <a:r>
                  <a:rPr lang="ru-RU" b="1" dirty="0">
                    <a:latin typeface="Montserrat" panose="00000500000000000000" pitchFamily="2" charset="-52"/>
                  </a:rPr>
                  <a:t>Доказательство</a:t>
                </a:r>
                <a:r>
                  <a:rPr lang="ru-RU" dirty="0">
                    <a:latin typeface="Montserrat" panose="00000500000000000000" pitchFamily="2" charset="-52"/>
                  </a:rPr>
                  <a:t>. Индукция по </a:t>
                </a:r>
                <a:r>
                  <a:rPr lang="en-US" dirty="0">
                    <a:latin typeface="Montserrat" panose="00000500000000000000" pitchFamily="2" charset="-52"/>
                  </a:rPr>
                  <a:t>m. </a:t>
                </a:r>
                <a:r>
                  <a:rPr lang="ru-RU" dirty="0">
                    <a:latin typeface="Montserrat" panose="00000500000000000000" pitchFamily="2" charset="-52"/>
                  </a:rPr>
                  <a:t>В случае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dirty="0">
                    <a:latin typeface="Montserrat" panose="00000500000000000000" pitchFamily="2" charset="-52"/>
                  </a:rPr>
                  <a:t> – </a:t>
                </a:r>
                <a:r>
                  <a:rPr lang="ru-RU" dirty="0">
                    <a:latin typeface="Montserrat" panose="00000500000000000000" pitchFamily="2" charset="-52"/>
                  </a:rPr>
                  <a:t>спектральное разложение.</a:t>
                </a:r>
                <a:endParaRPr lang="en-US" dirty="0">
                  <a:latin typeface="Montserrat" panose="00000500000000000000" pitchFamily="2" charset="-52"/>
                </a:endParaRPr>
              </a:p>
              <a:p>
                <a:pPr algn="just"/>
                <a:r>
                  <a:rPr lang="ru-RU" dirty="0">
                    <a:latin typeface="Montserrat" panose="00000500000000000000" pitchFamily="2" charset="-52"/>
                  </a:rPr>
                  <a:t>Пусть верно для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dirty="0">
                    <a:latin typeface="Montserrat" panose="00000500000000000000" pitchFamily="2" charset="-52"/>
                  </a:rPr>
                  <a:t>. </a:t>
                </a:r>
                <a:r>
                  <a:rPr lang="ru-RU" dirty="0">
                    <a:latin typeface="Montserrat" panose="00000500000000000000" pitchFamily="2" charset="-52"/>
                  </a:rPr>
                  <a:t>При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 dirty="0">
                    <a:latin typeface="Montserrat" panose="00000500000000000000" pitchFamily="2" charset="-52"/>
                  </a:rPr>
                  <a:t> (</a:t>
                </a:r>
                <a:r>
                  <a:rPr lang="ru-RU" dirty="0">
                    <a:latin typeface="Montserrat" panose="00000500000000000000" pitchFamily="2" charset="-52"/>
                  </a:rPr>
                  <a:t>помня</a:t>
                </a:r>
                <a:r>
                  <a:rPr lang="en-US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𝒫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𝒫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>
                    <a:latin typeface="Montserrat" panose="00000500000000000000" pitchFamily="2" charset="-52"/>
                  </a:rPr>
                  <a:t> </a:t>
                </a:r>
                <a:r>
                  <a:rPr lang="ru-RU" dirty="0">
                    <a:latin typeface="Montserrat" panose="00000500000000000000" pitchFamily="2" charset="-52"/>
                  </a:rPr>
                  <a:t>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𝒫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𝒫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>
                    <a:latin typeface="Montserrat" panose="00000500000000000000" pitchFamily="2" charset="-52"/>
                  </a:rPr>
                  <a:t>, </a:t>
                </a:r>
                <a:r>
                  <a:rPr lang="ru-RU" dirty="0">
                    <a:latin typeface="Montserrat" panose="00000500000000000000" pitchFamily="2" charset="-52"/>
                  </a:rPr>
                  <a:t>если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dirty="0">
                    <a:latin typeface="Montserrat" panose="00000500000000000000" pitchFamily="2" charset="-52"/>
                  </a:rPr>
                  <a:t>):</a:t>
                </a:r>
                <a:endParaRPr lang="ru-RU" dirty="0">
                  <a:latin typeface="Montserrat" panose="00000500000000000000" pitchFamily="2" charset="-52"/>
                </a:endParaRP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ru-RU" b="0" i="1" smtClean="0">
                              <a:latin typeface="Cambria Math" panose="02040503050406030204" pitchFamily="18" charset="0"/>
                            </a:rPr>
                            <m:t>𝜑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𝜑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∘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𝜑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p>
                            <m:e>
                              <m:sSubSup>
                                <m:sSub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p>
                              </m:sSubSup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𝒫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∘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𝒫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p>
                            <m:e>
                              <m:sSubSup>
                                <m:sSub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p>
                              </m:sSubSup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𝒫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∘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𝒫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nary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</m:sup>
                        <m:e>
                          <m:sSubSup>
                            <m:sSub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𝒫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dirty="0">
                  <a:latin typeface="Montserrat" panose="00000500000000000000" pitchFamily="2" charset="-52"/>
                </a:endParaRPr>
              </a:p>
              <a:p>
                <a:pPr algn="just"/>
                <a:r>
                  <a:rPr lang="en-US" b="1" dirty="0">
                    <a:latin typeface="Montserrat" panose="00000500000000000000" pitchFamily="2" charset="-52"/>
                  </a:rPr>
                  <a:t>NB</a:t>
                </a:r>
                <a:r>
                  <a:rPr lang="en-US" dirty="0">
                    <a:latin typeface="Montserrat" panose="00000500000000000000" pitchFamily="2" charset="-52"/>
                  </a:rPr>
                  <a:t>.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𝐼𝑑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sup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𝒫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endParaRPr lang="en-US" dirty="0">
                  <a:latin typeface="Montserrat" panose="00000500000000000000" pitchFamily="2" charset="-52"/>
                </a:endParaRPr>
              </a:p>
              <a:p>
                <a:pPr algn="just"/>
                <a:endParaRPr lang="en-US" dirty="0">
                  <a:latin typeface="Montserrat" panose="00000500000000000000" pitchFamily="2" charset="-52"/>
                </a:endParaRPr>
              </a:p>
              <a:p>
                <a:pPr algn="just"/>
                <a:r>
                  <a:rPr lang="ru-RU" b="1" dirty="0">
                    <a:latin typeface="Montserrat" panose="00000500000000000000" pitchFamily="2" charset="-52"/>
                  </a:rPr>
                  <a:t>Следствие</a:t>
                </a:r>
                <a:r>
                  <a:rPr lang="ru-RU" dirty="0">
                    <a:latin typeface="Montserrat" panose="00000500000000000000" pitchFamily="2" charset="-52"/>
                  </a:rPr>
                  <a:t>. Для операторного полинома от диагонализируемого оператора</a:t>
                </a:r>
                <a:r>
                  <a:rPr lang="en-US" dirty="0">
                    <a:latin typeface="Montserrat" panose="00000500000000000000" pitchFamily="2" charset="-52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ru-RU" dirty="0">
                    <a:latin typeface="Montserrat" panose="00000500000000000000" pitchFamily="2" charset="-52"/>
                  </a:rPr>
                  <a:t> справедливо</a:t>
                </a: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1">
                          <a:latin typeface="Cambria Math" panose="02040503050406030204" pitchFamily="18" charset="0"/>
                        </a:rPr>
                        <m:t>p</m:t>
                      </m:r>
                      <m:r>
                        <a:rPr lang="ru-RU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𝜑</m:t>
                      </m:r>
                      <m:r>
                        <a:rPr lang="ru-RU" i="1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</m:sup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𝒫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dirty="0">
                  <a:latin typeface="Montserrat" panose="00000500000000000000" pitchFamily="2" charset="-52"/>
                </a:endParaRPr>
              </a:p>
              <a:p>
                <a:pPr algn="just"/>
                <a:r>
                  <a:rPr lang="ru-RU" b="1" dirty="0">
                    <a:latin typeface="Montserrat" panose="00000500000000000000" pitchFamily="2" charset="-52"/>
                  </a:rPr>
                  <a:t>Доказательство</a:t>
                </a:r>
                <a:r>
                  <a:rPr lang="ru-RU" dirty="0">
                    <a:latin typeface="Montserrat" panose="00000500000000000000" pitchFamily="2" charset="-52"/>
                  </a:rPr>
                  <a:t>.</a:t>
                </a: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1"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𝜑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</m:sup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𝜑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</m:e>
                      </m:nary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</m:sup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nary>
                            <m:naryPr>
                              <m:chr m:val="∑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p>
                            <m:e>
                              <m:sSubSup>
                                <m:sSub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p>
                              </m:sSubSup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𝒫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e>
                      </m:nary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</m:sup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=0</m:t>
                                  </m:r>
                                </m:sub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sup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  <m:sSubSup>
                                    <m:sSub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𝜆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p>
                                  </m:sSubSup>
                                </m:e>
                              </m:nary>
                            </m:e>
                          </m:d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𝒫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</m:sup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𝒫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dirty="0">
                  <a:latin typeface="Montserrat" panose="00000500000000000000" pitchFamily="2" charset="-52"/>
                </a:endParaRPr>
              </a:p>
              <a:p>
                <a:pPr algn="just"/>
                <a:endParaRPr lang="en-US" dirty="0">
                  <a:latin typeface="Montserrat" panose="00000500000000000000" pitchFamily="2" charset="-52"/>
                </a:endParaRP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FE6811C-A42F-1E9F-A18F-0DDDACC01A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815813"/>
                <a:ext cx="10778412" cy="5947590"/>
              </a:xfrm>
              <a:prstGeom prst="rect">
                <a:avLst/>
              </a:prstGeom>
              <a:blipFill>
                <a:blip r:embed="rId2"/>
                <a:stretch>
                  <a:fillRect l="-509" t="-51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7681966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471AA9-8F30-7EF1-8251-E0446F3D6F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B2A2733-7337-4298-0132-FE08D719F1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9844"/>
            <a:ext cx="10451841" cy="455969"/>
          </a:xfrm>
        </p:spPr>
        <p:txBody>
          <a:bodyPr>
            <a:normAutofit/>
          </a:bodyPr>
          <a:lstStyle/>
          <a:p>
            <a:r>
              <a:rPr lang="ru-RU" dirty="0"/>
              <a:t>19. Функциональное исчисление диагонализируемых операторов.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5F30DB2-C947-25DC-499D-069A626C6D2A}"/>
                  </a:ext>
                </a:extLst>
              </p:cNvPr>
              <p:cNvSpPr txBox="1"/>
              <p:nvPr/>
            </p:nvSpPr>
            <p:spPr>
              <a:xfrm>
                <a:off x="838200" y="815813"/>
                <a:ext cx="10778412" cy="316965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ru-RU" dirty="0">
                    <a:latin typeface="Montserrat" panose="00000500000000000000" pitchFamily="2" charset="-52"/>
                  </a:rPr>
                  <a:t>Рассмотрим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𝜑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𝑑𝑖𝑎𝑔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{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dirty="0">
                    <a:latin typeface="Montserrat" panose="00000500000000000000" pitchFamily="2" charset="-52"/>
                  </a:rPr>
                  <a:t>, </a:t>
                </a:r>
                <a:r>
                  <a:rPr lang="ru-RU" dirty="0">
                    <a:latin typeface="Montserrat" panose="00000500000000000000" pitchFamily="2" charset="-52"/>
                  </a:rPr>
                  <a:t>где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ru-RU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ru-R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𝕂</m:t>
                    </m:r>
                  </m:oMath>
                </a14:m>
                <a:r>
                  <a:rPr lang="en-US" dirty="0">
                    <a:latin typeface="Montserrat" panose="00000500000000000000" pitchFamily="2" charset="-52"/>
                  </a:rPr>
                  <a:t> </a:t>
                </a:r>
                <a:r>
                  <a:rPr lang="ru-RU" dirty="0">
                    <a:latin typeface="Montserrat" panose="00000500000000000000" pitchFamily="2" charset="-52"/>
                  </a:rPr>
                  <a:t>не обязательно различные.</a:t>
                </a:r>
              </a:p>
              <a:p>
                <a:pPr algn="just"/>
                <a:endParaRPr lang="ru-RU" dirty="0">
                  <a:latin typeface="Montserrat" panose="00000500000000000000" pitchFamily="2" charset="-52"/>
                </a:endParaRPr>
              </a:p>
              <a:p>
                <a:pPr algn="just"/>
                <a:r>
                  <a:rPr lang="ru-RU" dirty="0">
                    <a:latin typeface="Montserrat" panose="00000500000000000000" pitchFamily="2" charset="-52"/>
                  </a:rPr>
                  <a:t>  </a:t>
                </a:r>
              </a:p>
              <a:p>
                <a:pPr algn="just"/>
                <a:endParaRPr lang="ru-RU" dirty="0">
                  <a:latin typeface="Montserrat" panose="00000500000000000000" pitchFamily="2" charset="-52"/>
                </a:endParaRPr>
              </a:p>
              <a:p>
                <a:pPr algn="just"/>
                <a:endParaRPr lang="ru-RU" dirty="0">
                  <a:latin typeface="Montserrat" panose="00000500000000000000" pitchFamily="2" charset="-52"/>
                </a:endParaRPr>
              </a:p>
              <a:p>
                <a:pPr algn="just"/>
                <a:endParaRPr lang="ru-RU" dirty="0">
                  <a:latin typeface="Montserrat" panose="00000500000000000000" pitchFamily="2" charset="-52"/>
                </a:endParaRPr>
              </a:p>
              <a:p>
                <a:pPr algn="just"/>
                <a:endParaRPr lang="ru-RU" dirty="0">
                  <a:latin typeface="Montserrat" panose="00000500000000000000" pitchFamily="2" charset="-52"/>
                </a:endParaRPr>
              </a:p>
              <a:p>
                <a:pPr algn="just"/>
                <a:endParaRPr lang="ru-RU" dirty="0">
                  <a:latin typeface="Montserrat" panose="00000500000000000000" pitchFamily="2" charset="-52"/>
                </a:endParaRPr>
              </a:p>
              <a:p>
                <a:pPr algn="just"/>
                <a:r>
                  <a:rPr lang="ru-RU" dirty="0">
                    <a:latin typeface="Montserrat" panose="00000500000000000000" pitchFamily="2" charset="-52"/>
                  </a:rPr>
                  <a:t>Если задать сходящуюся аналитическую функцию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dirty="0">
                    <a:latin typeface="Montserrat" panose="00000500000000000000" pitchFamily="2" charset="-52"/>
                  </a:rPr>
                  <a:t> </a:t>
                </a:r>
                <a:r>
                  <a:rPr lang="ru-RU" dirty="0">
                    <a:latin typeface="Montserrat" panose="00000500000000000000" pitchFamily="2" charset="-52"/>
                  </a:rPr>
                  <a:t>степенным рядом, то для неё будет справедливо:</a:t>
                </a:r>
                <a:endParaRPr lang="en-US" dirty="0">
                  <a:latin typeface="Montserrat" panose="00000500000000000000" pitchFamily="2" charset="-52"/>
                </a:endParaRPr>
              </a:p>
              <a:p>
                <a:pPr algn="just"/>
                <a:endParaRPr lang="en-US" dirty="0">
                  <a:latin typeface="Montserrat" panose="00000500000000000000" pitchFamily="2" charset="-52"/>
                </a:endParaRP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5F30DB2-C947-25DC-499D-069A626C6D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815813"/>
                <a:ext cx="10778412" cy="3169650"/>
              </a:xfrm>
              <a:prstGeom prst="rect">
                <a:avLst/>
              </a:prstGeom>
              <a:blipFill>
                <a:blip r:embed="rId2"/>
                <a:stretch>
                  <a:fillRect l="-509" t="-769" r="-45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7AE04EC-E2A9-C4BB-AA75-E29B659EC9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8149" y="1271781"/>
            <a:ext cx="5395702" cy="1727757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1F398ED4-C9DB-6B04-E688-DAA74351216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9361" b="12158"/>
          <a:stretch>
            <a:fillRect/>
          </a:stretch>
        </p:blipFill>
        <p:spPr>
          <a:xfrm>
            <a:off x="1745102" y="3718902"/>
            <a:ext cx="8638036" cy="1445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55105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1D2ECB-EF38-D34F-4163-7F771A9104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05D7A7-811F-B17C-860F-9600109D48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9844"/>
            <a:ext cx="10451841" cy="455969"/>
          </a:xfrm>
        </p:spPr>
        <p:txBody>
          <a:bodyPr>
            <a:normAutofit/>
          </a:bodyPr>
          <a:lstStyle/>
          <a:p>
            <a:r>
              <a:rPr lang="ru-RU" dirty="0"/>
              <a:t>20. Функциональное исчисление ЖНФ.</a:t>
            </a:r>
            <a:endParaRPr lang="ru-RU" dirty="0">
              <a:effectLst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C98C661-9E24-8585-D52B-EA893F72C9E2}"/>
                  </a:ext>
                </a:extLst>
              </p:cNvPr>
              <p:cNvSpPr txBox="1"/>
              <p:nvPr/>
            </p:nvSpPr>
            <p:spPr>
              <a:xfrm>
                <a:off x="838200" y="815813"/>
                <a:ext cx="10778412" cy="53876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ru-RU" dirty="0">
                    <a:latin typeface="Montserrat" panose="00000500000000000000" pitchFamily="2" charset="-52"/>
                  </a:rPr>
                  <a:t>Рассмотрим жорданов базис, тогда пространство в нём можно разложить как прямую сумму корневых, отвечающих СЧ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err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i="1" dirty="0" err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ru-RU" dirty="0">
                    <a:latin typeface="Montserrat" panose="00000500000000000000" pitchFamily="2" charset="-52"/>
                  </a:rPr>
                  <a:t>:</a:t>
                </a:r>
              </a:p>
              <a:p>
                <a:pPr algn="just"/>
                <a:endParaRPr lang="ru-RU" dirty="0">
                  <a:latin typeface="Montserrat" panose="00000500000000000000" pitchFamily="2" charset="-52"/>
                </a:endParaRPr>
              </a:p>
              <a:p>
                <a:pPr algn="just"/>
                <a:endParaRPr lang="ru-RU" dirty="0">
                  <a:latin typeface="Montserrat" panose="00000500000000000000" pitchFamily="2" charset="-52"/>
                </a:endParaRPr>
              </a:p>
              <a:p>
                <a:pPr algn="just"/>
                <a:r>
                  <a:rPr lang="ru-RU" dirty="0">
                    <a:latin typeface="Montserrat" panose="00000500000000000000" pitchFamily="2" charset="-52"/>
                  </a:rPr>
                  <a:t>А каждое корневое в прямую сумму циклических:</a:t>
                </a: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⨁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⨁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…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⨁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ru-RU" dirty="0">
                  <a:latin typeface="Montserrat" panose="00000500000000000000" pitchFamily="2" charset="-52"/>
                </a:endParaRPr>
              </a:p>
              <a:p>
                <a:pPr algn="just"/>
                <a:r>
                  <a:rPr lang="ru-RU" dirty="0">
                    <a:latin typeface="Montserrat" panose="00000500000000000000" pitchFamily="2" charset="-52"/>
                  </a:rPr>
                  <a:t>Каждое </a:t>
                </a:r>
                <a:r>
                  <a:rPr lang="ru-RU" i="1" dirty="0">
                    <a:latin typeface="Montserrat" panose="00000500000000000000" pitchFamily="2" charset="-52"/>
                  </a:rPr>
                  <a:t>циклическое</a:t>
                </a:r>
                <a:r>
                  <a:rPr lang="ru-RU" dirty="0">
                    <a:latin typeface="Montserrat" panose="00000500000000000000" pitchFamily="2" charset="-52"/>
                  </a:rPr>
                  <a:t> подпространство отвечает жордановой </a:t>
                </a:r>
                <a:r>
                  <a:rPr lang="ru-RU" i="1" dirty="0">
                    <a:latin typeface="Montserrat" panose="00000500000000000000" pitchFamily="2" charset="-52"/>
                  </a:rPr>
                  <a:t>клетке</a:t>
                </a:r>
                <a:r>
                  <a:rPr lang="ru-RU" dirty="0">
                    <a:latin typeface="Montserrat" panose="00000500000000000000" pitchFamily="2" charset="-52"/>
                  </a:rPr>
                  <a:t>, а каждое </a:t>
                </a:r>
                <a:r>
                  <a:rPr lang="ru-RU" i="1" dirty="0">
                    <a:latin typeface="Montserrat" panose="00000500000000000000" pitchFamily="2" charset="-52"/>
                  </a:rPr>
                  <a:t>корневое</a:t>
                </a:r>
                <a:r>
                  <a:rPr lang="ru-RU" dirty="0">
                    <a:latin typeface="Montserrat" panose="00000500000000000000" pitchFamily="2" charset="-52"/>
                  </a:rPr>
                  <a:t> – жорданову </a:t>
                </a:r>
                <a:r>
                  <a:rPr lang="ru-RU" i="1" dirty="0">
                    <a:latin typeface="Montserrat" panose="00000500000000000000" pitchFamily="2" charset="-52"/>
                  </a:rPr>
                  <a:t>блоку</a:t>
                </a:r>
                <a:r>
                  <a:rPr lang="ru-RU" dirty="0">
                    <a:latin typeface="Montserrat" panose="00000500000000000000" pitchFamily="2" charset="-52"/>
                  </a:rPr>
                  <a:t>.</a:t>
                </a:r>
              </a:p>
              <a:p>
                <a:pPr algn="just"/>
                <a:r>
                  <a:rPr lang="ru-RU" dirty="0">
                    <a:latin typeface="Montserrat" panose="00000500000000000000" pitchFamily="2" charset="-52"/>
                  </a:rPr>
                  <a:t>Пусть в</a:t>
                </a:r>
                <a:r>
                  <a:rPr lang="en-US" dirty="0">
                    <a:latin typeface="Montserrat" panose="00000500000000000000" pitchFamily="2" charset="-5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>
                    <a:latin typeface="Montserrat" panose="00000500000000000000" pitchFamily="2" charset="-52"/>
                  </a:rPr>
                  <a:t> </a:t>
                </a:r>
                <a:r>
                  <a:rPr lang="ru-RU" dirty="0">
                    <a:latin typeface="Montserrat" panose="00000500000000000000" pitchFamily="2" charset="-52"/>
                  </a:rPr>
                  <a:t>действует сужение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"/>
                            <m:endChr m:val="|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ru-RU"/>
                              <m:t>​</m:t>
                            </m:r>
                          </m:e>
                        </m:d>
                      </m:e>
                      <m:sub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𝑈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sub>
                        </m:sSub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𝐼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𝜑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𝐼𝑑</m:t>
                        </m:r>
                      </m:e>
                    </m:d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"/>
                            <m:endChr m:val="|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ru-RU"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</m:d>
                      </m:e>
                      <m: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𝑈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sub>
                        </m:sSub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  <m:sSub>
                      <m:sSubPr>
                        <m:ctrlPr>
                          <a:rPr lang="en-US" i="1"/>
                        </m:ctrlPr>
                      </m:sSubPr>
                      <m:e>
                        <m:d>
                          <m:dPr>
                            <m:begChr m:val=""/>
                            <m:endChr m:val="|"/>
                            <m:ctrlPr>
                              <a:rPr lang="en-US" i="1"/>
                            </m:ctrlPr>
                          </m:dPr>
                          <m:e>
                            <m:r>
                              <a:rPr lang="ru-RU"/>
                              <m:t>​</m:t>
                            </m:r>
                          </m:e>
                        </m:d>
                      </m:e>
                      <m:sub>
                        <m:sSub>
                          <m:sSubPr>
                            <m:ctrlPr>
                              <a:rPr lang="en-US" i="1"/>
                            </m:ctrlPr>
                          </m:sSubPr>
                          <m:e>
                            <m:r>
                              <a:rPr lang="en-US" i="1"/>
                              <m:t>𝑈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/>
                                  <m:t>𝑖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sub>
                        </m:sSub>
                      </m:sub>
                    </m:sSub>
                  </m:oMath>
                </a14:m>
                <a:r>
                  <a:rPr lang="en-US" dirty="0">
                    <a:latin typeface="Montserrat" panose="00000500000000000000" pitchFamily="2" charset="-52"/>
                  </a:rPr>
                  <a:t>.</a:t>
                </a: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𝜑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𝐼𝑑</m:t>
                          </m:r>
                        </m:e>
                      </m:d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u-RU">
                                  <a:latin typeface="Cambria Math" panose="02040503050406030204" pitchFamily="18" charset="0"/>
                                </a:rPr>
                                <m:t>​</m:t>
                              </m:r>
                            </m:e>
                          </m:d>
                        </m:e>
                        <m: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ru-RU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ru-RU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…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ru-RU" dirty="0">
                  <a:latin typeface="Montserrat" panose="00000500000000000000" pitchFamily="2" charset="-52"/>
                </a:endParaRPr>
              </a:p>
              <a:p>
                <a:pPr algn="just"/>
                <a:r>
                  <a:rPr lang="ru-RU" b="1" dirty="0">
                    <a:latin typeface="Montserrat" panose="00000500000000000000" pitchFamily="2" charset="-52"/>
                  </a:rPr>
                  <a:t>Теорема</a:t>
                </a:r>
                <a:r>
                  <a:rPr lang="ru-RU" dirty="0">
                    <a:latin typeface="Montserrat" panose="00000500000000000000" pitchFamily="2" charset="-52"/>
                  </a:rPr>
                  <a:t>. Пусть 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 panose="02040503050406030204" pitchFamily="18" charset="0"/>
                      </a:rPr>
                      <m:t>𝜑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𝐸𝑛𝑑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dirty="0">
                    <a:latin typeface="Montserrat" panose="00000500000000000000" pitchFamily="2" charset="-52"/>
                  </a:rPr>
                  <a:t>, для которого существует полный набор СЧ, т.е. такой, что сумма кратностей равна размерности пространства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ru-RU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p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dim</m:t>
                        </m:r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func>
                  </m:oMath>
                </a14:m>
                <a:r>
                  <a:rPr lang="en-US" dirty="0">
                    <a:latin typeface="Montserrat" panose="00000500000000000000" pitchFamily="2" charset="-52"/>
                  </a:rPr>
                  <a:t>. </a:t>
                </a:r>
                <a:r>
                  <a:rPr lang="ru-RU" dirty="0">
                    <a:latin typeface="Montserrat" panose="00000500000000000000" pitchFamily="2" charset="-52"/>
                  </a:rPr>
                  <a:t>Тогда</a:t>
                </a: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𝜑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sup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𝜑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</m:sub>
                              </m:sSub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𝒫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</m:sub>
                              </m:sSub>
                            </m:e>
                          </m:nary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</m:sup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</m:sub>
                              </m:sSub>
                            </m:e>
                          </m:d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𝒫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sub>
                          </m:sSub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US" b="0" dirty="0">
                  <a:latin typeface="Montserrat" panose="00000500000000000000" pitchFamily="2" charset="-52"/>
                  <a:ea typeface="Cambria Math" panose="02040503050406030204" pitchFamily="18" charset="0"/>
                </a:endParaRPr>
              </a:p>
              <a:p>
                <a:pPr algn="just"/>
                <a:r>
                  <a:rPr lang="ru-RU" dirty="0">
                    <a:latin typeface="Montserrat" panose="00000500000000000000" pitchFamily="2" charset="-52"/>
                  </a:rPr>
                  <a:t>где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𝒫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ru-RU" dirty="0">
                    <a:latin typeface="Montserrat" panose="00000500000000000000" pitchFamily="2" charset="-52"/>
                  </a:rPr>
                  <a:t> - проекторы на циклические подпространства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ru-RU" dirty="0">
                    <a:latin typeface="Montserrat" panose="00000500000000000000" pitchFamily="2" charset="-52"/>
                  </a:rPr>
                  <a:t>, 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𝜑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"/>
                            <m:endChr m:val="|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ru-RU"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</m:d>
                      </m:e>
                      <m: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𝑈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sub>
                        </m:sSub>
                      </m:sub>
                    </m:sSub>
                  </m:oMath>
                </a14:m>
                <a:r>
                  <a:rPr lang="en-US" dirty="0">
                    <a:latin typeface="Montserrat" panose="00000500000000000000" pitchFamily="2" charset="-52"/>
                  </a:rPr>
                  <a:t>.</a:t>
                </a:r>
              </a:p>
              <a:p>
                <a:pPr algn="just"/>
                <a:r>
                  <a:rPr lang="ru-RU" b="1" dirty="0">
                    <a:latin typeface="Montserrat" panose="00000500000000000000" pitchFamily="2" charset="-52"/>
                  </a:rPr>
                  <a:t>Доказательство</a:t>
                </a:r>
                <a:r>
                  <a:rPr lang="ru-RU" dirty="0">
                    <a:latin typeface="Montserrat" panose="00000500000000000000" pitchFamily="2" charset="-52"/>
                  </a:rPr>
                  <a:t>. Аналогично спектральной теореме.</a:t>
                </a:r>
              </a:p>
              <a:p>
                <a:pPr algn="just"/>
                <a:endParaRPr lang="ru-RU" dirty="0">
                  <a:latin typeface="Montserrat" panose="00000500000000000000" pitchFamily="2" charset="-52"/>
                </a:endParaRP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C98C661-9E24-8585-D52B-EA893F72C9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815813"/>
                <a:ext cx="10778412" cy="5387629"/>
              </a:xfrm>
              <a:prstGeom prst="rect">
                <a:avLst/>
              </a:prstGeom>
              <a:blipFill>
                <a:blip r:embed="rId2"/>
                <a:stretch>
                  <a:fillRect l="-509" t="-566" r="-452" b="-33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8857676A-0530-FC6C-9CDE-2552769888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3977" y="1452028"/>
            <a:ext cx="6480285" cy="455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070082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58CBD6-02D5-4B1A-D74C-3F447DFA06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2B86F2B-9302-3C3C-31B1-26EBD8868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9844"/>
            <a:ext cx="10451841" cy="455969"/>
          </a:xfrm>
        </p:spPr>
        <p:txBody>
          <a:bodyPr>
            <a:normAutofit/>
          </a:bodyPr>
          <a:lstStyle/>
          <a:p>
            <a:r>
              <a:rPr lang="ru-RU" dirty="0"/>
              <a:t>20. Функциональное исчисление ЖНФ.</a:t>
            </a:r>
            <a:endParaRPr lang="ru-RU" dirty="0">
              <a:effectLst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02CFF78-807D-0B07-486F-CFF27062CAD5}"/>
              </a:ext>
            </a:extLst>
          </p:cNvPr>
          <p:cNvSpPr txBox="1"/>
          <p:nvPr/>
        </p:nvSpPr>
        <p:spPr>
          <a:xfrm>
            <a:off x="838200" y="815813"/>
            <a:ext cx="1077841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dirty="0">
                <a:latin typeface="Montserrat" panose="00000500000000000000" pitchFamily="2" charset="-52"/>
              </a:rPr>
              <a:t>Оператор в базисе, согласованном с ними, принимает вид блочно-диагональной матрицы, где каждый блок представляет собой жорданову клетку (матрицу сужения оператора на циклическое подпространство), а совокупность жордановых клеток образует жорданов блок. Иными словами, мы в любом случае имеем блочно-диагональную матрицу. 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F6D9DC7-0FDC-48D9-1B31-9D43D4E4577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1902"/>
          <a:stretch>
            <a:fillRect/>
          </a:stretch>
        </p:blipFill>
        <p:spPr>
          <a:xfrm>
            <a:off x="960119" y="2293141"/>
            <a:ext cx="10271761" cy="3863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346954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F42A63-F6DF-34A3-520C-F1EAEE12CB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C9CE7CF-E9DF-1E9B-D843-526A2DCF1F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9844"/>
            <a:ext cx="10451841" cy="455969"/>
          </a:xfrm>
        </p:spPr>
        <p:txBody>
          <a:bodyPr>
            <a:normAutofit/>
          </a:bodyPr>
          <a:lstStyle/>
          <a:p>
            <a:r>
              <a:rPr lang="ru-RU" dirty="0"/>
              <a:t>20. Функциональное исчисление ЖНФ.</a:t>
            </a:r>
            <a:endParaRPr lang="ru-RU" dirty="0">
              <a:effectLst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CC8B1C7-31DF-0F7A-A143-85E272583BA6}"/>
              </a:ext>
            </a:extLst>
          </p:cNvPr>
          <p:cNvSpPr txBox="1"/>
          <p:nvPr/>
        </p:nvSpPr>
        <p:spPr>
          <a:xfrm>
            <a:off x="838200" y="815813"/>
            <a:ext cx="1077841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dirty="0">
                <a:latin typeface="Montserrat" panose="00000500000000000000" pitchFamily="2" charset="-52"/>
              </a:rPr>
              <a:t>Из этих утверждений следует, что при рассмотрении аналитических функций от операторов и их жордановых форм достаточно ограничиться построением действия функции на одну жорданову клетку или, что тоже самое, на сужение оператора на циклическое подпространство). 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B97F72C5-CA0E-28F5-E960-E7C7BDD518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283" y="2016142"/>
            <a:ext cx="10095433" cy="3272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706394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D3698F-01B0-2CE4-5CED-BBAA60449B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4DF40DD-5A06-EA7B-FA5F-961AAFE1C8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9844"/>
            <a:ext cx="10451841" cy="455969"/>
          </a:xfrm>
        </p:spPr>
        <p:txBody>
          <a:bodyPr>
            <a:normAutofit/>
          </a:bodyPr>
          <a:lstStyle/>
          <a:p>
            <a:r>
              <a:rPr lang="ru-RU" dirty="0"/>
              <a:t>20. Функциональное исчисление ЖНФ.</a:t>
            </a:r>
            <a:endParaRPr lang="ru-RU" dirty="0">
              <a:effectLst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9EAE969-51A0-6429-8C14-75D9547E4120}"/>
              </a:ext>
            </a:extLst>
          </p:cNvPr>
          <p:cNvSpPr txBox="1"/>
          <p:nvPr/>
        </p:nvSpPr>
        <p:spPr>
          <a:xfrm>
            <a:off x="838200" y="815813"/>
            <a:ext cx="1077841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dirty="0">
                <a:latin typeface="Montserrat" panose="00000500000000000000" pitchFamily="2" charset="-52"/>
              </a:rPr>
              <a:t>В жордановом базисе каждая жорданова клетка, соответствующая сужению на циклическое подпространство вычисляется как 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24C2D27-8EB7-9923-8EC5-ACA15929389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768"/>
          <a:stretch>
            <a:fillRect/>
          </a:stretch>
        </p:blipFill>
        <p:spPr>
          <a:xfrm>
            <a:off x="1929156" y="1462144"/>
            <a:ext cx="8596499" cy="181356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6F073F76-D368-A309-A765-D4F19F79FF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428999"/>
            <a:ext cx="10802968" cy="2613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030231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0F6D41-CB85-09D2-00CE-60C4A9E216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453A5AFB-45C2-B939-03D8-5AF24707FCE1}"/>
              </a:ext>
            </a:extLst>
          </p:cNvPr>
          <p:cNvSpPr txBox="1"/>
          <p:nvPr/>
        </p:nvSpPr>
        <p:spPr>
          <a:xfrm>
            <a:off x="3049386" y="139530"/>
            <a:ext cx="60932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400" b="1" dirty="0">
                <a:solidFill>
                  <a:schemeClr val="accent1"/>
                </a:solidFill>
                <a:latin typeface="Montserrat" panose="00000500000000000000" pitchFamily="2" charset="-52"/>
              </a:rPr>
              <a:t>3 раздел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A4FBEBE-FE4D-F957-57DC-1949B7A25949}"/>
              </a:ext>
            </a:extLst>
          </p:cNvPr>
          <p:cNvSpPr txBox="1"/>
          <p:nvPr/>
        </p:nvSpPr>
        <p:spPr>
          <a:xfrm>
            <a:off x="637591" y="605231"/>
            <a:ext cx="10916817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1. Метрическое и нормированное пространство. Определения, примеры. Связь.</a:t>
            </a:r>
          </a:p>
          <a:p>
            <a:r>
              <a:rPr lang="ru-RU" dirty="0"/>
              <a:t>2. Евклидово пространство. Скалярное произведение. Матрица </a:t>
            </a:r>
            <a:r>
              <a:rPr lang="ru-RU" dirty="0" err="1"/>
              <a:t>Грама</a:t>
            </a:r>
            <a:r>
              <a:rPr lang="ru-RU" dirty="0"/>
              <a:t>.</a:t>
            </a:r>
          </a:p>
          <a:p>
            <a:r>
              <a:rPr lang="ru-RU" dirty="0"/>
              <a:t>3. Неравенство Шварца. Критерий линейной зависимости.</a:t>
            </a:r>
          </a:p>
          <a:p>
            <a:r>
              <a:rPr lang="ru-RU" dirty="0"/>
              <a:t>4. Построение нормированного пространства из евклидова.</a:t>
            </a:r>
          </a:p>
          <a:p>
            <a:r>
              <a:rPr lang="ru-RU" dirty="0"/>
              <a:t>5. Ортогональность. Линейная независимость. Теорема Пифагора.</a:t>
            </a:r>
          </a:p>
          <a:p>
            <a:r>
              <a:rPr lang="ru-RU" dirty="0"/>
              <a:t>6. Процесс ортогонализации. Свойства относительно норм.</a:t>
            </a:r>
          </a:p>
          <a:p>
            <a:r>
              <a:rPr lang="ru-RU" dirty="0"/>
              <a:t>7. Ортогональные (ортонормированные) базисы. Вид скалярного произведения и матрицы </a:t>
            </a:r>
            <a:r>
              <a:rPr lang="ru-RU" dirty="0" err="1"/>
              <a:t>Грама</a:t>
            </a:r>
            <a:r>
              <a:rPr lang="ru-RU" dirty="0"/>
              <a:t>.</a:t>
            </a:r>
          </a:p>
          <a:p>
            <a:r>
              <a:rPr lang="ru-RU" dirty="0"/>
              <a:t>8. Ортогональность подпространств. Ортогональная сумма подпространств.</a:t>
            </a:r>
          </a:p>
          <a:p>
            <a:r>
              <a:rPr lang="ru-RU" dirty="0"/>
              <a:t>9. Ортогональный проектор. Задача о перпендикуляре.</a:t>
            </a:r>
          </a:p>
          <a:p>
            <a:r>
              <a:rPr lang="ru-RU" dirty="0"/>
              <a:t>10. Эрмитово сопряженный оператор и его матрица.</a:t>
            </a:r>
          </a:p>
          <a:p>
            <a:r>
              <a:rPr lang="ru-RU" dirty="0"/>
              <a:t>11. Самосопряженный и эрмитов оператор. Свойства собственных чисел и собственных векторов.</a:t>
            </a:r>
          </a:p>
          <a:p>
            <a:r>
              <a:rPr lang="ru-RU" dirty="0"/>
              <a:t>12. </a:t>
            </a:r>
            <a:r>
              <a:rPr lang="ru-RU" dirty="0" err="1"/>
              <a:t>Диагонализируемость</a:t>
            </a:r>
            <a:r>
              <a:rPr lang="ru-RU" dirty="0"/>
              <a:t> эрмитова оператора. Спектральная теорема.</a:t>
            </a:r>
          </a:p>
          <a:p>
            <a:r>
              <a:rPr lang="ru-RU" dirty="0"/>
              <a:t>13. Унитарный и ортогональный операторы. Свойства.</a:t>
            </a:r>
          </a:p>
          <a:p>
            <a:r>
              <a:rPr lang="ru-RU" dirty="0"/>
              <a:t>14. Определитель унитарного оператора. Матрица унитарного оператора.</a:t>
            </a:r>
          </a:p>
          <a:p>
            <a:r>
              <a:rPr lang="ru-RU" dirty="0"/>
              <a:t>15. Спектральные свойства унитарного оператора.</a:t>
            </a:r>
          </a:p>
          <a:p>
            <a:r>
              <a:rPr lang="ru-RU" dirty="0"/>
              <a:t>16. Нормальный вид квадратичной формы.</a:t>
            </a:r>
          </a:p>
          <a:p>
            <a:r>
              <a:rPr lang="ru-RU" dirty="0"/>
              <a:t>17. Сигнатура и </a:t>
            </a:r>
            <a:r>
              <a:rPr lang="ru-RU" dirty="0" err="1"/>
              <a:t>знакоопределенность</a:t>
            </a:r>
            <a:r>
              <a:rPr lang="ru-RU" dirty="0"/>
              <a:t> квадратичной формы.</a:t>
            </a:r>
          </a:p>
          <a:p>
            <a:r>
              <a:rPr lang="ru-RU" dirty="0"/>
              <a:t>18. Критерий Сильвестра.</a:t>
            </a:r>
          </a:p>
          <a:p>
            <a:r>
              <a:rPr lang="ru-RU" dirty="0"/>
              <a:t>19. Билинейные и квадратичные формы в евклидовом пространстве.</a:t>
            </a:r>
          </a:p>
          <a:p>
            <a:r>
              <a:rPr lang="ru-RU" dirty="0"/>
              <a:t>20. Метод Лагранжа диагонализации квадратичных форм.</a:t>
            </a:r>
          </a:p>
          <a:p>
            <a:r>
              <a:rPr lang="ru-RU" dirty="0"/>
              <a:t>21. Метод Якоби диагонализации квадратичных форм.</a:t>
            </a:r>
          </a:p>
          <a:p>
            <a:r>
              <a:rPr lang="ru-RU" dirty="0"/>
              <a:t>22. Одновременная диагонализация двух квадратичных форм.</a:t>
            </a:r>
          </a:p>
        </p:txBody>
      </p:sp>
    </p:spTree>
    <p:extLst>
      <p:ext uri="{BB962C8B-B14F-4D97-AF65-F5344CB8AC3E}">
        <p14:creationId xmlns:p14="http://schemas.microsoft.com/office/powerpoint/2010/main" val="312182409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463D64-F6F0-6818-37F2-19A5C575C1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Заключение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53DCECD-1EA2-5A0B-A6A1-9FA73D246F9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sz="1800" b="1" dirty="0">
                <a:effectLst/>
                <a:ea typeface="Arial" panose="020B0604020202020204" pitchFamily="34" charset="0"/>
                <a:cs typeface="Arial" panose="020B0604020202020204" pitchFamily="34" charset="0"/>
              </a:rPr>
              <a:t>Авторы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800" b="1" i="1" dirty="0">
                <a:effectLst/>
                <a:ea typeface="Arial" panose="020B0604020202020204" pitchFamily="34" charset="0"/>
                <a:cs typeface="Arial" panose="020B0604020202020204" pitchFamily="34" charset="0"/>
              </a:rPr>
              <a:t>Сакулин Иван Михайлович </a:t>
            </a:r>
            <a:r>
              <a:rPr lang="en-US" sz="1800" b="1" i="1" dirty="0">
                <a:effectLst/>
                <a:ea typeface="Arial" panose="020B0604020202020204" pitchFamily="34" charset="0"/>
                <a:cs typeface="Arial" panose="020B0604020202020204" pitchFamily="34" charset="0"/>
              </a:rPr>
              <a:t>K</a:t>
            </a:r>
            <a:r>
              <a:rPr lang="ru-RU" sz="1800" b="1" i="1" dirty="0">
                <a:effectLst/>
                <a:ea typeface="Arial" panose="020B0604020202020204" pitchFamily="34" charset="0"/>
                <a:cs typeface="Arial" panose="020B0604020202020204" pitchFamily="34" charset="0"/>
              </a:rPr>
              <a:t>3121</a:t>
            </a:r>
          </a:p>
          <a:p>
            <a:endParaRPr lang="en-US" b="1" i="1" dirty="0">
              <a:ea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dirty="0"/>
              <a:t>Распространяется по лицензии </a:t>
            </a:r>
            <a:r>
              <a:rPr lang="en-US" b="1" dirty="0">
                <a:hlinkClick r:id="rId2"/>
              </a:rPr>
              <a:t>WTFPL</a:t>
            </a:r>
            <a:endParaRPr lang="en-US" b="1" i="1" dirty="0">
              <a:ea typeface="Arial" panose="020B0604020202020204" pitchFamily="34" charset="0"/>
              <a:cs typeface="Arial" panose="020B0604020202020204" pitchFamily="34" charset="0"/>
            </a:endParaRPr>
          </a:p>
          <a:p>
            <a:endParaRPr lang="ru-RU" b="1" i="1" dirty="0">
              <a:ea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sz="1800" b="1" dirty="0">
                <a:effectLst/>
                <a:ea typeface="Arial" panose="020B0604020202020204" pitchFamily="34" charset="0"/>
                <a:cs typeface="Arial" panose="020B0604020202020204" pitchFamily="34" charset="0"/>
              </a:rPr>
              <a:t>Отказ от ответственности </a:t>
            </a:r>
          </a:p>
          <a:p>
            <a:r>
              <a:rPr lang="ru-RU" i="1" dirty="0">
                <a:ea typeface="Arial" panose="020B0604020202020204" pitchFamily="34" charset="0"/>
                <a:cs typeface="Arial" panose="020B0604020202020204" pitchFamily="34" charset="0"/>
              </a:rPr>
              <a:t>А</a:t>
            </a:r>
            <a:r>
              <a:rPr lang="ru-RU" sz="1800" i="1" dirty="0">
                <a:effectLst/>
                <a:ea typeface="Arial" panose="020B0604020202020204" pitchFamily="34" charset="0"/>
                <a:cs typeface="Arial" panose="020B0604020202020204" pitchFamily="34" charset="0"/>
              </a:rPr>
              <a:t>втор предоставляет собственные доказательства «как есть», не даёт гарантий их правильности и не несёт ответственности за допущенные ошибки. Мяу =)</a:t>
            </a:r>
            <a:r>
              <a:rPr lang="en-US" sz="1800" i="1" dirty="0">
                <a:effectLst/>
                <a:ea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ru-RU" sz="1800" dirty="0">
              <a:effectLst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843988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6142</TotalTime>
  <Words>4078</Words>
  <Application>Microsoft Office PowerPoint</Application>
  <PresentationFormat>Широкоэкранный</PresentationFormat>
  <Paragraphs>357</Paragraphs>
  <Slides>32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32</vt:i4>
      </vt:variant>
    </vt:vector>
  </HeadingPairs>
  <TitlesOfParts>
    <vt:vector size="37" baseType="lpstr">
      <vt:lpstr>Arial</vt:lpstr>
      <vt:lpstr>Calibri</vt:lpstr>
      <vt:lpstr>Cambria Math</vt:lpstr>
      <vt:lpstr>Montserrat</vt:lpstr>
      <vt:lpstr>Тема Office</vt:lpstr>
      <vt:lpstr>Презентация PowerPoint</vt:lpstr>
      <vt:lpstr>1. Ядро и образ линейного отображения. Примеры.</vt:lpstr>
      <vt:lpstr>1. Ядро и образ линейного отображения. Примеры.</vt:lpstr>
      <vt:lpstr>2. Теорема о ядре и образе (о ранге и дефекте).</vt:lpstr>
      <vt:lpstr>3. Алгебра эндоморфизмов.</vt:lpstr>
      <vt:lpstr>3. Алгебра эндоморфизмов.</vt:lpstr>
      <vt:lpstr>4. Определитель оператора. Инвариантность определителя. Обратимость оператора.</vt:lpstr>
      <vt:lpstr>5. Инвариантное подпространство. Матрица оператора в базисе, согласованном с инвариантными подпространствами.</vt:lpstr>
      <vt:lpstr>6. Собственные векторы, значения. Собственное подпространство.</vt:lpstr>
      <vt:lpstr>7. Характеристический полином. Спектр оператора.</vt:lpstr>
      <vt:lpstr>8. Линейная независимость собственных подпространств. Оператор с простым спектром.</vt:lpstr>
      <vt:lpstr>9. Собственный базис и диагонализуемость. Критерий.</vt:lpstr>
      <vt:lpstr>10. Корневые векторы и корневые подпространства. Определения, примеры.</vt:lpstr>
      <vt:lpstr>11. Теорема о свойствах корневых подпространств. Следствия.</vt:lpstr>
      <vt:lpstr>11. Теорема о свойствах корневых подпространств. Следствия.</vt:lpstr>
      <vt:lpstr>12. Структура нильпотентного оператора. Теорема о структуре нильпотентного оператора.</vt:lpstr>
      <vt:lpstr>12. Структура нильпотентного оператора. Теорема о структуре нильпотентного оператора.</vt:lpstr>
      <vt:lpstr>13. Жорданов базис. Структура базиса. Диаграмма Юнга.</vt:lpstr>
      <vt:lpstr>14. Жорданова клетка. Жорданов блок.</vt:lpstr>
      <vt:lpstr>15. Жорданова нормальная форма. Структура ЖНФ.</vt:lpstr>
      <vt:lpstr>15. Жорданова нормальная форма. Структура ЖНФ.</vt:lpstr>
      <vt:lpstr>16. Алгоритм построения жорданова базиса.</vt:lpstr>
      <vt:lpstr>17. Операторные и матричные полиномы. Связь с инвариантностью подпространств.</vt:lpstr>
      <vt:lpstr>18. Аннулирующий полином. Теорема Гамильтона-Кэли.</vt:lpstr>
      <vt:lpstr>19. Функциональное исчисление диагонализируемых операторов.</vt:lpstr>
      <vt:lpstr>19. Функциональное исчисление диагонализируемых операторов.</vt:lpstr>
      <vt:lpstr>20. Функциональное исчисление ЖНФ.</vt:lpstr>
      <vt:lpstr>20. Функциональное исчисление ЖНФ.</vt:lpstr>
      <vt:lpstr>20. Функциональное исчисление ЖНФ.</vt:lpstr>
      <vt:lpstr>20. Функциональное исчисление ЖНФ.</vt:lpstr>
      <vt:lpstr>Презентация PowerPoint</vt:lpstr>
      <vt:lpstr>Заключение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27. СЛАУ. Метод обратной матрицы.</dc:title>
  <dc:creator>Сакулин Иван Михайлович;astro_soup@niuitmo.ru</dc:creator>
  <cp:lastModifiedBy>Сакулин Иван Михайлович</cp:lastModifiedBy>
  <cp:revision>199</cp:revision>
  <dcterms:created xsi:type="dcterms:W3CDTF">2024-10-17T09:39:49Z</dcterms:created>
  <dcterms:modified xsi:type="dcterms:W3CDTF">2025-06-16T00:01:45Z</dcterms:modified>
</cp:coreProperties>
</file>