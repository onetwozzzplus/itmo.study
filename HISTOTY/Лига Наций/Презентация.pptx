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28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geneva.org/ru/about/league-of-nations/at-work" TargetMode="External"/><Relationship Id="rId3" Type="http://schemas.openxmlformats.org/officeDocument/2006/relationships/hyperlink" Target="https://bigenc.ru/c/liga-natsii-8c7fe5" TargetMode="External"/><Relationship Id="rId7" Type="http://schemas.openxmlformats.org/officeDocument/2006/relationships/hyperlink" Target="https://www.ungeneva.org/ru/about/league-of-nations/organs" TargetMode="External"/><Relationship Id="rId2" Type="http://schemas.openxmlformats.org/officeDocument/2006/relationships/hyperlink" Target="https://www.britannica.com/topic/League-of-Natio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geneva.org/ru/about/league-of-nations/background" TargetMode="External"/><Relationship Id="rId11" Type="http://schemas.openxmlformats.org/officeDocument/2006/relationships/hyperlink" Target="https://lib.rosdiplom.ru/library/prosmotr.aspx?id=494455" TargetMode="External"/><Relationship Id="rId5" Type="http://schemas.openxmlformats.org/officeDocument/2006/relationships/hyperlink" Target="https://www.ungeneva.org/ru/about/league-of-nations/covenant" TargetMode="External"/><Relationship Id="rId10" Type="http://schemas.openxmlformats.org/officeDocument/2006/relationships/hyperlink" Target="https://spravochnick.ru/mezhdunarodnye_otnosheniya/vozniknovenie_i_nachalnaya_deyatelnost_ligi_naciy/" TargetMode="External"/><Relationship Id="rId4" Type="http://schemas.openxmlformats.org/officeDocument/2006/relationships/hyperlink" Target="https://www.ungeneva.org/ru/about/league-of-nations/overview" TargetMode="External"/><Relationship Id="rId9" Type="http://schemas.openxmlformats.org/officeDocument/2006/relationships/hyperlink" Target="https://ru.wikipedia.org/wiki/&#1051;&#1080;&#1075;&#1072;_&#1053;&#1072;&#1094;&#1080;&#1081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CF89D35-D879-4DD9-62AD-1226602AF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8" t="12601" r="23612" b="11408"/>
          <a:stretch/>
        </p:blipFill>
        <p:spPr bwMode="auto">
          <a:xfrm>
            <a:off x="1077688" y="1535007"/>
            <a:ext cx="5076246" cy="484781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6552335" y="2928131"/>
            <a:ext cx="8110725" cy="84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5550"/>
              </a:lnSpc>
              <a:buNone/>
            </a:pPr>
            <a:r>
              <a:rPr lang="en-US" sz="9600" b="1" dirty="0">
                <a:solidFill>
                  <a:srgbClr val="1B1B27"/>
                </a:solidFill>
                <a:latin typeface="Alexandria" panose="020B0604020202020204" charset="-78"/>
                <a:ea typeface="Alexandria" pitchFamily="34" charset="-122"/>
                <a:cs typeface="Alexandria" panose="020B0604020202020204" charset="-78"/>
              </a:rPr>
              <a:t>Лига Наций</a:t>
            </a:r>
            <a:endParaRPr lang="en-US" sz="9600" b="1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52335" y="3958913"/>
            <a:ext cx="7131008" cy="1723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Лига Наций, созданная после Первой мировой войны, была первой международной организацией, призванной предотвращать войны через коллективную безопасность и дипломатический диалог.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  <a:cs typeface="Alexandria" panose="020B0604020202020204" charset="-78"/>
              </a:rPr>
              <a:t>Основан</a:t>
            </a:r>
            <a:r>
              <a:rPr lang="ru-RU" b="1" dirty="0">
                <a:solidFill>
                  <a:srgbClr val="333333"/>
                </a:solidFill>
                <a:latin typeface="YS Text"/>
                <a:cs typeface="Alexandria" panose="020B0604020202020204" charset="-78"/>
              </a:rPr>
              <a:t>а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  <a:cs typeface="Alexandria" panose="020B0604020202020204" charset="-78"/>
              </a:rPr>
              <a:t>: 10 января 1920 года. 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  <a:cs typeface="Alexandria" panose="020B0604020202020204" charset="-78"/>
              </a:rPr>
              <a:t>Упразднена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  <a:cs typeface="Alexandria" panose="020B0604020202020204" charset="-78"/>
              </a:rPr>
              <a:t>: 18 апреля 1946 года.</a:t>
            </a:r>
          </a:p>
          <a:p>
            <a:pPr marL="0" indent="0">
              <a:lnSpc>
                <a:spcPts val="2850"/>
              </a:lnSpc>
              <a:buNone/>
            </a:pPr>
            <a:endParaRPr lang="en-US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60199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058" y="562366"/>
            <a:ext cx="61299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Создание Лиги Наций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06669" y="1576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Причины создания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506669" y="2050937"/>
            <a:ext cx="68085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Масштабные разрушения и жертвы Первой мировой войны заставили мировых лидеров искать механизмы предотвращения будущих конфликтов.</a:t>
            </a:r>
            <a:endParaRPr lang="en-US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48540" y="38208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Роль США</a:t>
            </a:r>
            <a:endParaRPr lang="en-US" sz="2200" b="1" dirty="0"/>
          </a:p>
        </p:txBody>
      </p:sp>
      <p:sp>
        <p:nvSpPr>
          <p:cNvPr id="6" name="Text 4"/>
          <p:cNvSpPr/>
          <p:nvPr/>
        </p:nvSpPr>
        <p:spPr>
          <a:xfrm>
            <a:off x="3910935" y="4408715"/>
            <a:ext cx="3110447" cy="3593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В 1918 году президент США </a:t>
            </a:r>
            <a:r>
              <a:rPr lang="en-US" sz="2200" b="1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Вудро Вильсон </a:t>
            </a: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предложил «Четырнадцать пунктов», проект мирного договора, предусматривающий создание «общего объединения </a:t>
            </a:r>
            <a:r>
              <a:rPr lang="en-US" sz="2200" dirty="0" err="1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наций</a:t>
            </a: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».</a:t>
            </a:r>
            <a:endParaRPr lang="en-US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96D1392-AB88-7AF0-AD7C-98D458C62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69" y="3792066"/>
            <a:ext cx="3249967" cy="4209723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326A8AD5-4B4D-BBEE-F9C8-416AFEB57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019" y="556040"/>
            <a:ext cx="6354954" cy="647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CD4A883-43DC-47F4-0F4C-60C245EC0E44}"/>
              </a:ext>
            </a:extLst>
          </p:cNvPr>
          <p:cNvSpPr/>
          <p:nvPr/>
        </p:nvSpPr>
        <p:spPr>
          <a:xfrm>
            <a:off x="8627412" y="7295332"/>
            <a:ext cx="4511645" cy="373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ru-RU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Потери в Первой Мировой Войне</a:t>
            </a:r>
            <a:endParaRPr lang="en-US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84913" y="3867926"/>
            <a:ext cx="558272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Пакт Лиги Наций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784913" y="4923538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73270" y="5007239"/>
            <a:ext cx="12561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510598" y="4923538"/>
            <a:ext cx="5198389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Коллективная</a:t>
            </a: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безопасность</a:t>
            </a:r>
            <a:r>
              <a:rPr lang="ru-RU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(статья 10)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6784913" y="5527314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38146" y="5611015"/>
            <a:ext cx="19597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10599" y="5527314"/>
            <a:ext cx="5492302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Мирное </a:t>
            </a: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разрешение</a:t>
            </a: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споров</a:t>
            </a:r>
            <a:r>
              <a:rPr lang="ru-RU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(статьи 12-15)</a:t>
            </a:r>
            <a:endParaRPr lang="en-US" sz="2150" dirty="0"/>
          </a:p>
        </p:txBody>
      </p:sp>
      <p:sp>
        <p:nvSpPr>
          <p:cNvPr id="12" name="Shape 9"/>
          <p:cNvSpPr/>
          <p:nvPr/>
        </p:nvSpPr>
        <p:spPr>
          <a:xfrm>
            <a:off x="6784913" y="6131090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7432" y="6214791"/>
            <a:ext cx="19728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510599" y="6131090"/>
            <a:ext cx="4490817" cy="502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Сокращение</a:t>
            </a: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2150" dirty="0" err="1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вооружений</a:t>
            </a:r>
            <a:r>
              <a:rPr lang="ru-RU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(статья 8)</a:t>
            </a:r>
            <a:endParaRPr lang="en-US" sz="21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B751B7F-2B1C-0FE9-FB67-A0202EECF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0543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91108A11-A515-0824-D710-B50915D3AE69}"/>
              </a:ext>
            </a:extLst>
          </p:cNvPr>
          <p:cNvSpPr/>
          <p:nvPr/>
        </p:nvSpPr>
        <p:spPr>
          <a:xfrm>
            <a:off x="6784913" y="1336648"/>
            <a:ext cx="558272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ru-RU" sz="4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Версальский договор </a:t>
            </a:r>
            <a:endParaRPr lang="en-US" sz="43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D126C58-6292-13B2-752C-1C889B772777}"/>
              </a:ext>
            </a:extLst>
          </p:cNvPr>
          <p:cNvSpPr/>
          <p:nvPr/>
        </p:nvSpPr>
        <p:spPr>
          <a:xfrm>
            <a:off x="7876817" y="2392260"/>
            <a:ext cx="4719418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ru-RU" sz="2150" b="1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Образование Лиги Наций </a:t>
            </a:r>
            <a:r>
              <a:rPr lang="ru-RU" sz="215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(1 статья)</a:t>
            </a:r>
            <a:endParaRPr lang="en-US" sz="2150" dirty="0"/>
          </a:p>
        </p:txBody>
      </p:sp>
      <p:sp>
        <p:nvSpPr>
          <p:cNvPr id="28" name="Стрелка: изогнутая вверх 27">
            <a:extLst>
              <a:ext uri="{FF2B5EF4-FFF2-40B4-BE49-F238E27FC236}">
                <a16:creationId xmlns:a16="http://schemas.microsoft.com/office/drawing/2014/main" id="{86438176-37CA-5F19-8A96-013EA9D8B067}"/>
              </a:ext>
            </a:extLst>
          </p:cNvPr>
          <p:cNvSpPr/>
          <p:nvPr/>
        </p:nvSpPr>
        <p:spPr>
          <a:xfrm rot="5400000">
            <a:off x="7062505" y="2041347"/>
            <a:ext cx="734728" cy="632024"/>
          </a:xfrm>
          <a:prstGeom prst="bent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F3E6BD-6131-F487-C0B5-88A7D17DCACE}"/>
              </a:ext>
            </a:extLst>
          </p:cNvPr>
          <p:cNvSpPr txBox="1"/>
          <p:nvPr/>
        </p:nvSpPr>
        <p:spPr>
          <a:xfrm>
            <a:off x="7668119" y="2806448"/>
            <a:ext cx="5198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Лига Наций начала свою работу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января 1920 г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844034" y="6922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Мандатная система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597848" y="1550032"/>
            <a:ext cx="6377110" cy="1976939"/>
          </a:xfrm>
          <a:prstGeom prst="roundRect">
            <a:avLst>
              <a:gd name="adj" fmla="val 46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2281" y="1784466"/>
            <a:ext cx="33145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Управление колониями</a:t>
            </a:r>
            <a:endParaRPr lang="en-US" sz="2200" b="1" dirty="0"/>
          </a:p>
        </p:txBody>
      </p:sp>
      <p:sp>
        <p:nvSpPr>
          <p:cNvPr id="8" name="Text 4"/>
          <p:cNvSpPr/>
          <p:nvPr/>
        </p:nvSpPr>
        <p:spPr>
          <a:xfrm>
            <a:off x="832282" y="2274884"/>
            <a:ext cx="5983188" cy="169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Мандатная система предусматривала управление бывшими колониями Германии и Османской империи под «опекой» императивных властей.</a:t>
            </a:r>
            <a:endParaRPr lang="en-US" sz="20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198242" y="1550032"/>
            <a:ext cx="6834312" cy="1976939"/>
          </a:xfrm>
          <a:prstGeom prst="roundRect">
            <a:avLst>
              <a:gd name="adj" fmla="val 46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10892" y="1784466"/>
            <a:ext cx="2878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Деление на категории</a:t>
            </a:r>
            <a:endParaRPr lang="en-US" sz="2200" b="1" dirty="0"/>
          </a:p>
        </p:txBody>
      </p:sp>
      <p:sp>
        <p:nvSpPr>
          <p:cNvPr id="11" name="Text 7"/>
          <p:cNvSpPr/>
          <p:nvPr/>
        </p:nvSpPr>
        <p:spPr>
          <a:xfrm>
            <a:off x="7410893" y="2274884"/>
            <a:ext cx="64792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Колонии делились на 3 категории A</a:t>
            </a:r>
            <a:r>
              <a:rPr lang="ru-RU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, </a:t>
            </a:r>
            <a:r>
              <a:rPr lang="en-US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B</a:t>
            </a:r>
            <a:r>
              <a:rPr lang="ru-RU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 и </a:t>
            </a:r>
            <a:r>
              <a:rPr lang="en-US" sz="20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C по территориальному признаку и распределялись между Великобританией, Францией, Японией и другими.</a:t>
            </a:r>
            <a:endParaRPr lang="en-US" sz="20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C2BB59AB-75C7-A436-2956-429CE39A3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1" t="20739" r="-454" b="13967"/>
          <a:stretch/>
        </p:blipFill>
        <p:spPr bwMode="auto">
          <a:xfrm>
            <a:off x="2852526" y="3761405"/>
            <a:ext cx="8662184" cy="39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154317"/>
            <a:ext cx="65155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Членство в Лиге Наций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441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Вошли</a:t>
            </a:r>
            <a:endParaRPr lang="en-US" sz="2200" b="1" dirty="0"/>
          </a:p>
        </p:txBody>
      </p:sp>
      <p:sp>
        <p:nvSpPr>
          <p:cNvPr id="6" name="Text 2"/>
          <p:cNvSpPr/>
          <p:nvPr/>
        </p:nvSpPr>
        <p:spPr>
          <a:xfrm>
            <a:off x="6280190" y="4060865"/>
            <a:ext cx="36080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Первыми членами Лиги стали 42 государства, включая Великобританию, Францию, Италию, Японию, Швейцарию, Швецию и Норвегию.</a:t>
            </a:r>
            <a:endParaRPr lang="en-US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8" name="Text 3"/>
          <p:cNvSpPr/>
          <p:nvPr/>
        </p:nvSpPr>
        <p:spPr>
          <a:xfrm>
            <a:off x="10228421" y="3438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Не вошли</a:t>
            </a:r>
            <a:endParaRPr lang="en-US" sz="2200" b="1" dirty="0"/>
          </a:p>
        </p:txBody>
      </p:sp>
      <p:sp>
        <p:nvSpPr>
          <p:cNvPr id="9" name="Text 4"/>
          <p:cNvSpPr/>
          <p:nvPr/>
        </p:nvSpPr>
        <p:spPr>
          <a:xfrm>
            <a:off x="10228421" y="4006215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anose="020B0604020202020204" charset="-78"/>
                <a:ea typeface="Nobile" pitchFamily="34" charset="-122"/>
                <a:cs typeface="Alexandria" panose="020B0604020202020204" charset="-78"/>
              </a:rPr>
              <a:t>В Лигу не вошли Германия, СССР и США.</a:t>
            </a:r>
            <a:endParaRPr lang="en-US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326C259F-7891-700F-14B2-B4EA7B13F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5" r="25359"/>
          <a:stretch/>
        </p:blipFill>
        <p:spPr bwMode="auto">
          <a:xfrm>
            <a:off x="0" y="0"/>
            <a:ext cx="5323981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58679"/>
            <a:ext cx="62398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Структура Лиги Наций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0134" y="2247781"/>
            <a:ext cx="1276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Ассамблея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Все члены Лиги (до 58 стран) имели один голос, решения принимались единогласно.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4415" y="4144447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Совет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Состоял из 4 постоянных членов (Великобритания, Франция, Италия, Япония) и 4 временных членов, которые менялись каждый год.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558915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63190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701" y="6404015"/>
            <a:ext cx="20038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6290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Секретариат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781086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Административный орган Лиги Наций.</a:t>
            </a:r>
            <a:endParaRPr lang="en-US" sz="175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EE4F18-3303-70DF-E3E7-898AB094E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90" y="4521517"/>
            <a:ext cx="5215923" cy="332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5537682-C768-66A9-F4BC-FF953D0D6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90" y="436311"/>
            <a:ext cx="5215923" cy="390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771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Работа Лиги Наций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260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52888"/>
            <a:ext cx="41101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Вступление Германии и СССР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4330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Германия вступила в 1926 году, а СССР в 1934 году.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86958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513773"/>
            <a:ext cx="3491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Территориальные споры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004191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Лига успешно разрешила споры об Аландских островах и Верхней Силезии, но не смогла предотвратить оккупацию Маньчжурии Японией.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9713"/>
            <a:ext cx="1134070" cy="20327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546527"/>
            <a:ext cx="2863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Военные конфликты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036945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Лига предотвратила эскалацию Греко-болгарского конфликта, но не смогла остановить Итало-эфиопскую войну.</a:t>
            </a:r>
            <a:endParaRPr lang="en-US" sz="1750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AB39D381-F722-7F89-66D7-83CCD2950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987" y="0"/>
            <a:ext cx="5459413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3B3DD9-C34D-41C7-FAEB-182BA02CF0B1}"/>
              </a:ext>
            </a:extLst>
          </p:cNvPr>
          <p:cNvSpPr txBox="1"/>
          <p:nvPr/>
        </p:nvSpPr>
        <p:spPr>
          <a:xfrm>
            <a:off x="5513387" y="732814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Польский плакат с плебисцита </a:t>
            </a:r>
          </a:p>
          <a:p>
            <a:r>
              <a:rPr lang="ru-RU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в Верхней Силезии в 1921 году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322"/>
            <a:ext cx="68751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Достижения Лиги Наций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7824"/>
            <a:ext cx="3785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Запрет химического оружия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2573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Женевский протокол 1925 года запретил использование химического и бактериологического оружия.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7854" y="4194453"/>
            <a:ext cx="10632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4067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Разоружение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2897148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Конференция по разоружению 1932–1934 годов провалилась из-за споров между Францией и Германией.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6984" y="3243382"/>
            <a:ext cx="16585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4688919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Борьба с незаконным оборотом оружия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533668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Конвенции 1920-х годов регулировали торговлю оружием, но не остановили поставки в конфликтные зоны.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0734" y="5969556"/>
            <a:ext cx="16692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199"/>
            <a:ext cx="8908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Другие достижения Лиги Наций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60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3973" y="1995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Работа ВОЗ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2486025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Организация здравоохранения Лиги боролась с тифом, малярией, стандартизировала вакцины.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07574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4134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Борьба с опиумом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3566160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Постоянный центральный 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опи</a:t>
            </a:r>
            <a:r>
              <a:rPr lang="ru-RU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й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ный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совет контролировал производство и распределение опиума.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15587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415" y="4155877"/>
            <a:ext cx="3402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Борьба с работорговлей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464629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Комиссия по рабству добилась запрета принудительного труда в Африке.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814513" y="523601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4695" y="5236012"/>
            <a:ext cx="28963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Борьба с беженцами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24695" y="5726430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Нансеновские паспорта легализовали статус 450 тыс. беженцев.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474232" y="631614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415" y="6316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Права женщин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415" y="680656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Комитет по статусу женщин исследовал дискриминацию, но не добился значимых реформ.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3039" y="859631"/>
            <a:ext cx="7670721" cy="591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Причины провала Лиги Наций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23040" y="1785224"/>
            <a:ext cx="7670721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7846338" y="2646998"/>
            <a:ext cx="442400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Отсутствие механизмов принуждения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223040" y="3056573"/>
            <a:ext cx="7670721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Лига не имела собственных вооруженных сил и не могла эффективно реагировать на агрессию.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23040" y="3776187"/>
            <a:ext cx="7670721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8449628" y="4637962"/>
            <a:ext cx="3217426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Отсутствие великих держав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223040" y="5047537"/>
            <a:ext cx="7670721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США и СССР не были членами Лиги, что лишило ее влияния на мировую ситуацию.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22979" y="6195891"/>
            <a:ext cx="7670721" cy="136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Несмотря на провал в предотвращении Второй мировой войны, Лига Наций заложила основы международного сотрудничества. Ее структуры и идеи стали фундаментом для современных институтов, таких как ООН.</a:t>
            </a:r>
            <a:endParaRPr lang="en-US" sz="20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6F6D8A7-5222-B5CB-412B-440FFD11D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5480691" cy="755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31D805-4817-D19B-582D-438AC8FC3B6B}"/>
              </a:ext>
            </a:extLst>
          </p:cNvPr>
          <p:cNvSpPr txBox="1"/>
          <p:nvPr/>
        </p:nvSpPr>
        <p:spPr>
          <a:xfrm>
            <a:off x="0" y="7559574"/>
            <a:ext cx="5401340" cy="670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Плакат Виктора Дени «Капиталисты всех стран, соединяйтесь!»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1920 года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47CB5-2987-D420-FAD2-4346B992035D}"/>
              </a:ext>
            </a:extLst>
          </p:cNvPr>
          <p:cNvSpPr txBox="1"/>
          <p:nvPr/>
        </p:nvSpPr>
        <p:spPr>
          <a:xfrm>
            <a:off x="1504507" y="1182656"/>
            <a:ext cx="11621385" cy="586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</a:pPr>
            <a:r>
              <a:rPr lang="ru-RU" sz="3200" b="1" kern="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Источники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Более-менее официальные: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Британская Энциклопедия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://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.</a:t>
            </a:r>
            <a:r>
              <a:rPr lang="en-US" sz="1800" u="sng" kern="100" dirty="0" err="1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britannica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.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com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topic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League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-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of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-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Alexandria" panose="020B0604020202020204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Nations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Большая Российская Энциклопедия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https://bigenc.ru/c/liga-natsii-8c7fe5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Сайт ООН: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Лига Наций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https://www.ungeneva.org/ru/about/league-of-nations/overview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Пакт Лиги Наций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https://www.ungeneva.org/ru/about/league-of-nations/covenant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Исторический контекст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https://www.ungeneva.org/ru/about/league-of-nations/background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Органы Лиги Наций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https://www.ungeneva.org/ru/about/league-of-nations/organs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работе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https://www.ungeneva.org/ru/about/league-of-nations/at-work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Менее доверяемые: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Википедия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https://ru.wikipedia.org/wiki/Лига_Наций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Реферат 1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https://spravochnick.ru/mezhdunarodnye_otnosheniya/vozniknovenie_i_nachalnaya_deyatelnost_ligi_naciy/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Реферат 2 </a:t>
            </a:r>
            <a:r>
              <a:rPr lang="ru-RU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https://lib.rosdiplom.ru/library/prosmotr.aspx?id=494455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94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745</Words>
  <Application>Microsoft Office PowerPoint</Application>
  <PresentationFormat>Произвольный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Alexandria</vt:lpstr>
      <vt:lpstr>Arial</vt:lpstr>
      <vt:lpstr>Calibri</vt:lpstr>
      <vt:lpstr>Calibri Light</vt:lpstr>
      <vt:lpstr>Nobile</vt:lpstr>
      <vt:lpstr>YS Text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Сакулин Иван Михайлович</cp:lastModifiedBy>
  <cp:revision>9</cp:revision>
  <dcterms:created xsi:type="dcterms:W3CDTF">2025-02-26T22:16:27Z</dcterms:created>
  <dcterms:modified xsi:type="dcterms:W3CDTF">2025-02-26T23:20:15Z</dcterms:modified>
</cp:coreProperties>
</file>