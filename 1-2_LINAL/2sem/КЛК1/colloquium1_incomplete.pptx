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0" r:id="rId2"/>
    <p:sldId id="373" r:id="rId3"/>
    <p:sldId id="288" r:id="rId4"/>
    <p:sldId id="374" r:id="rId5"/>
    <p:sldId id="375" r:id="rId6"/>
    <p:sldId id="376" r:id="rId7"/>
    <p:sldId id="377" r:id="rId8"/>
    <p:sldId id="378" r:id="rId9"/>
    <p:sldId id="34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1" id="{46648782-208C-4E43-81D5-4FCFBB8A826F}">
          <p14:sldIdLst>
            <p14:sldId id="370"/>
            <p14:sldId id="373"/>
          </p14:sldIdLst>
        </p14:section>
        <p14:section name="1. Линейные формы. Определения, примеры. Коэффициенты линейных форм." id="{C640DAE5-BE41-4D52-A789-16594E4D66F4}">
          <p14:sldIdLst>
            <p14:sldId id="288"/>
            <p14:sldId id="374"/>
          </p14:sldIdLst>
        </p14:section>
        <p14:section name="2. Операции с линейными формами. Сопряженное пространство." id="{04B81B61-9B00-4FE3-8606-105BA077E4DF}">
          <p14:sldIdLst>
            <p14:sldId id="375"/>
            <p14:sldId id="376"/>
          </p14:sldIdLst>
        </p14:section>
        <p14:section name="3. Базис сопряженного пространства. Сопряженные базисы." id="{ECE088BD-C1D4-4956-A998-AF65FDAF4EF7}">
          <p14:sldIdLst>
            <p14:sldId id="377"/>
            <p14:sldId id="378"/>
          </p14:sldIdLst>
        </p14:section>
        <p14:section name="Заключение" id="{F4C5AA9B-ADCD-4085-9250-C5C13B05B0AD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кулин Иван Михайлович" initials="ИС" lastIdx="1" clrIdx="0">
    <p:extLst>
      <p:ext uri="{19B8F6BF-5375-455C-9EA6-DF929625EA0E}">
        <p15:presenceInfo xmlns:p15="http://schemas.microsoft.com/office/powerpoint/2012/main" userId="S::467335@niuitmo.ru::2ada3b6c-9e85-46e2-97b7-45503d450a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0B1CE-915D-4149-B695-7B879756429B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37531-5FC0-4CCC-88D2-19A12055DA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03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8079E-93DE-0857-86AC-50E52B37B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12377"/>
            <a:ext cx="10515600" cy="149469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3800">
                <a:solidFill>
                  <a:srgbClr val="FF0000"/>
                </a:solidFill>
              </a:defRPr>
            </a:lvl1pPr>
          </a:lstStyle>
          <a:p>
            <a:r>
              <a:rPr lang="ru-RU" dirty="0"/>
              <a:t>Раздел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6BFB70-59B6-B46C-893C-7FDE431F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ED35FA-D424-7356-B686-2CBC83B7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AD3294-ED42-2AC0-AE3B-6F73E0DF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09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E63BAE85-386A-72A1-CFF0-60F24378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C41EFB-6D05-D9D1-E90C-FB13BC19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0B6CCE-6B0F-C248-2C90-45317C1C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F856680-7865-C22D-A182-81D866819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9678"/>
            <a:ext cx="10515600" cy="4559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u="none">
                <a:solidFill>
                  <a:srgbClr val="FF0000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en-US" dirty="0"/>
              <a:t>1. </a:t>
            </a:r>
            <a:r>
              <a:rPr lang="ru-RU" dirty="0"/>
              <a:t>Вопрос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BCB8928-A971-9146-97EC-32B875868E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993775"/>
            <a:ext cx="10515600" cy="51960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buNone/>
              <a:defRPr sz="1800" b="0"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5012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1F5E966-471F-C86C-96E7-FFEFDB180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2C947-0B0D-400B-B67A-9D87DBCB2F86}" type="datetimeFigureOut">
              <a:rPr lang="ru-RU" smtClean="0"/>
              <a:t>30.03.2025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B7B99-2F5D-4908-B16D-0D02CC552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00948-8112-9A12-F87F-CE974F9F0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37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WTFP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0B9DFC-A32E-29A4-58C4-B83EB6ABAECA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Список вопросов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1 / </a:t>
            </a:r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71580-8B91-8A10-DCDD-3E357E076805}"/>
              </a:ext>
            </a:extLst>
          </p:cNvPr>
          <p:cNvSpPr txBox="1"/>
          <p:nvPr/>
        </p:nvSpPr>
        <p:spPr>
          <a:xfrm>
            <a:off x="604934" y="601195"/>
            <a:ext cx="109821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 Линейные формы. Определения, примеры. Коэффициенты линейных форм.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 Операции с линейными формами. Сопряженное пространство.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3 Базис сопряженного пространства. Сопряженные базисы.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4 Преобразование базиса сопряженного пространства и коэффициентов форм при преобразованиях базиса.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5 Изоморфизм сопряженных пространств. Второе сопряженное пространство.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6 Билинейные формы. Определения, примеры.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7 Операции с билинейными формами. Линейное пространство билинейных форм.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8 Симметричные и антисимметричные билинейные формы.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9 Коэффициенты билинейной формы. Матрица билинейной формы.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10 Изоморфизм пространства билинейных форм и пространства матриц.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11 Преобразование матрицы билинейной формы при преобразовании базиса.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12 Квадратичные формы. Определения, свойства.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13 Построение билинейной формы из квадратичной. Свойства операции.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14 Полилинейные формы. Основные определения и примеры.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15 Действия с полилинейными формами: сложение и умножение на скаляр.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16 Соглашение о немом суммировании. Принципы, применение.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17 Действия с полилинейными формами: произведение ПЛФ.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18 Свойства произведения полилинейных форм.</a:t>
            </a:r>
          </a:p>
        </p:txBody>
      </p:sp>
    </p:spTree>
    <p:extLst>
      <p:ext uri="{BB962C8B-B14F-4D97-AF65-F5344CB8AC3E}">
        <p14:creationId xmlns:p14="http://schemas.microsoft.com/office/powerpoint/2010/main" val="318352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155F-C27A-AA12-BB07-0B969340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20C1DE-6668-71D9-CDC8-1F647CD5B61B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Список вопросов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1 / </a:t>
            </a:r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C61BB-2139-F60D-0437-CB1957360619}"/>
              </a:ext>
            </a:extLst>
          </p:cNvPr>
          <p:cNvSpPr txBox="1"/>
          <p:nvPr/>
        </p:nvSpPr>
        <p:spPr>
          <a:xfrm>
            <a:off x="604934" y="601195"/>
            <a:ext cx="109821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19 Тензор ПЛФ. Определение. Эквивалентность между ПЛФ и ее тензором в паре базисов.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20 Закон преобразования компонент тензора при замене базиса.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21 Операция свертки ПЛФ и тензора.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22 Символ Кронекера и его связь со скалярным произведением.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23 Символ Леви-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Чивита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. Определение, свойства.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24 Связь символа Леви-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Чивита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с векторным и смешанным произведением.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25 Связь символа Леви-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Чивита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с определителями матриц.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26 Линейные отображения. Основные определения, примеры.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27 Матрица линейного отображения.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28 Линейное пространство линейных отображений.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29 Изоморфизм линейных пространств линейных отображений и матриц.</a:t>
            </a:r>
          </a:p>
          <a:p>
            <a:pPr algn="l">
              <a:buNone/>
            </a:pP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30 Композиция линейных отображений и связь с матричными операциями.</a:t>
            </a:r>
          </a:p>
          <a:p>
            <a:pPr algn="l"/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31 Преобразование матрицы линейного оператора при преобразовании базиса.</a:t>
            </a:r>
          </a:p>
        </p:txBody>
      </p:sp>
    </p:spTree>
    <p:extLst>
      <p:ext uri="{BB962C8B-B14F-4D97-AF65-F5344CB8AC3E}">
        <p14:creationId xmlns:p14="http://schemas.microsoft.com/office/powerpoint/2010/main" val="135591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C440F-E5E6-4660-0AE7-1BF1AF08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1. Линейные формы. Определения, примеры. Коэффициенты линейных форм.</a:t>
            </a:r>
            <a:b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</a:br>
            <a:endParaRPr lang="ru-RU" sz="1800" b="1" i="0" u="none" strike="noStrike" dirty="0">
              <a:solidFill>
                <a:srgbClr val="FF0000"/>
              </a:solidFill>
              <a:effectLst/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A344D-6A98-537F-65DA-E813D9F28182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499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Montserrat" panose="00000500000000000000" pitchFamily="2" charset="-52"/>
                  </a:rPr>
                  <a:t>Опр. </a:t>
                </a:r>
                <a:r>
                  <a:rPr lang="ru-RU" b="1" dirty="0">
                    <a:latin typeface="Montserrat" panose="00000500000000000000" pitchFamily="2" charset="-52"/>
                  </a:rPr>
                  <a:t>Линейной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:r>
                  <a:rPr lang="ru-RU" b="1" dirty="0">
                    <a:latin typeface="Montserrat" panose="00000500000000000000" pitchFamily="2" charset="-52"/>
                  </a:rPr>
                  <a:t>формой</a:t>
                </a:r>
                <a:r>
                  <a:rPr lang="ru-RU" dirty="0">
                    <a:latin typeface="Montserrat" panose="00000500000000000000" pitchFamily="2" charset="-52"/>
                  </a:rPr>
                  <a:t> на пространстве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nor/>
                          </m:rPr>
                          <a:rPr lang="ru-RU"/>
                          <m:t>𝕂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/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называется такая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ru-RU"/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ru-RU"/>
                      <m:t>𝕂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выполняется: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b="1" dirty="0">
                    <a:latin typeface="Montserrat" panose="00000500000000000000" pitchFamily="2" charset="-52"/>
                  </a:rPr>
                  <a:t>Аддитивность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b="1" dirty="0">
                    <a:latin typeface="Montserrat" panose="00000500000000000000" pitchFamily="2" charset="-52"/>
                  </a:rPr>
                  <a:t>Однородность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i="1" dirty="0">
                    <a:latin typeface="Montserrat" panose="00000500000000000000" pitchFamily="2" charset="-52"/>
                  </a:rPr>
                  <a:t>То есть функционал, обладающий линейностью по аргументу.</a:t>
                </a:r>
                <a:endParaRPr lang="en-US" i="1" dirty="0">
                  <a:latin typeface="Montserrat" panose="00000500000000000000" pitchFamily="2" charset="-52"/>
                </a:endParaRPr>
              </a:p>
              <a:p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en-US" dirty="0">
                    <a:latin typeface="Montserrat" panose="00000500000000000000" pitchFamily="2" charset="-52"/>
                  </a:rPr>
                  <a:t>NB. </a:t>
                </a:r>
                <a:r>
                  <a:rPr lang="ru-RU" dirty="0">
                    <a:latin typeface="Montserrat" panose="00000500000000000000" pitchFamily="2" charset="-52"/>
                  </a:rPr>
                  <a:t>Образом линейной комбинации векторов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будет линейная комбинация образов векторов: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Примеры</a:t>
                </a:r>
              </a:p>
              <a:p>
                <a:pPr marL="342900" indent="-342900">
                  <a:buAutoNum type="arabicParenR"/>
                </a:pPr>
                <a:r>
                  <a:rPr lang="ru-RU" dirty="0">
                    <a:latin typeface="Montserrat" panose="00000500000000000000" pitchFamily="2" charset="-52"/>
                  </a:rPr>
                  <a:t>Первая компонента вектора: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342900" indent="-342900">
                  <a:buAutoNum type="arabicParenR"/>
                </a:pPr>
                <a:r>
                  <a:rPr lang="ru-RU" dirty="0">
                    <a:latin typeface="Montserrat" panose="00000500000000000000" pitchFamily="2" charset="-52"/>
                  </a:rPr>
                  <a:t>Скалярное произведение на фиксированный вектор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342900" indent="-342900">
                  <a:buAutoNum type="arabicParenR"/>
                </a:pPr>
                <a:r>
                  <a:rPr lang="ru-RU" dirty="0">
                    <a:latin typeface="Montserrat" panose="00000500000000000000" pitchFamily="2" charset="-52"/>
                  </a:rPr>
                  <a:t>След матрицы – сумма элементов на главное диагонали: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ru-RU"/>
                      <m:t>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342900" indent="-342900">
                  <a:buAutoNum type="arabicParenR"/>
                </a:pPr>
                <a:r>
                  <a:rPr lang="ru-RU" dirty="0">
                    <a:latin typeface="Montserrat" panose="00000500000000000000" pitchFamily="2" charset="-52"/>
                  </a:rPr>
                  <a:t>В пространстве полиномов степени не выше </a:t>
                </a:r>
                <a:r>
                  <a:rPr lang="en-US" dirty="0">
                    <a:latin typeface="Montserrat" panose="00000500000000000000" pitchFamily="2" charset="-52"/>
                  </a:rPr>
                  <a:t>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pPr marL="342900" indent="-342900">
                  <a:buAutoNum type="arabicParenR"/>
                </a:pPr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A344D-6A98-537F-65DA-E813D9F28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4994381"/>
              </a:xfrm>
              <a:prstGeom prst="rect">
                <a:avLst/>
              </a:prstGeom>
              <a:blipFill>
                <a:blip r:embed="rId2"/>
                <a:stretch>
                  <a:fillRect l="-509" t="-4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02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CB86-3234-9B87-97E8-D0D227A5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69851-6028-9234-DD03-B0885D6C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 fontScale="90000"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1. Линейные формы. Определения, примеры. Коэффициенты линейных форм.</a:t>
            </a:r>
            <a:b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</a:br>
            <a:endParaRPr lang="ru-RU" sz="1800" b="1" i="0" u="none" strike="noStrike" dirty="0">
              <a:solidFill>
                <a:srgbClr val="FF0000"/>
              </a:solidFill>
              <a:effectLst/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1FFD0F-426B-16A4-0C6A-6D289FE6E9F0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3342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Montserrat" panose="00000500000000000000" pitchFamily="2" charset="-52"/>
                  </a:rPr>
                  <a:t>Пример</a:t>
                </a:r>
                <a:r>
                  <a:rPr lang="ru-RU" dirty="0">
                    <a:latin typeface="Montserrat" panose="00000500000000000000" pitchFamily="2" charset="-52"/>
                  </a:rPr>
                  <a:t>. Любую форму можно задать так: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.</a:t>
                </a:r>
                <a:endParaRPr lang="ru-RU" dirty="0">
                  <a:latin typeface="Montserrat" panose="00000500000000000000" pitchFamily="2" charset="-5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Опр. </a:t>
                </a:r>
                <a:r>
                  <a:rPr lang="ru-RU" b="1" dirty="0">
                    <a:latin typeface="Montserrat" panose="00000500000000000000" pitchFamily="2" charset="-52"/>
                  </a:rPr>
                  <a:t>Коэффициентами</a:t>
                </a:r>
                <a:r>
                  <a:rPr lang="ru-RU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линейной формы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называются значения этой линейной формы на базисных векторах пространства.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 – конечномерное линейное пространство с базисом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ru-RU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 err="1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</m:oMath>
                </a14:m>
                <a:r>
                  <a:rPr lang="ru-RU" dirty="0">
                    <a:latin typeface="Montserrat" panose="00000500000000000000" pitchFamily="2" charset="-52"/>
                  </a:rPr>
                  <a:t>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b="1" dirty="0">
                    <a:latin typeface="Montserrat" panose="00000500000000000000" pitchFamily="2" charset="-52"/>
                  </a:rPr>
                  <a:t>Теорема</a:t>
                </a:r>
                <a:r>
                  <a:rPr lang="ru-RU" dirty="0">
                    <a:latin typeface="Montserrat" panose="00000500000000000000" pitchFamily="2" charset="-52"/>
                  </a:rPr>
                  <a:t>. Задание линейной формы эквивалентно заданию ее значений на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базисных формах, т.е. заданию ее коэффициентов.</a:t>
                </a:r>
              </a:p>
              <a:p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1FFD0F-426B-16A4-0C6A-6D289FE6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3342582"/>
              </a:xfrm>
              <a:prstGeom prst="rect">
                <a:avLst/>
              </a:prstGeom>
              <a:blipFill>
                <a:blip r:embed="rId2"/>
                <a:stretch>
                  <a:fillRect l="-509" t="-7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9D880E-4B8B-5793-BA8A-251C8963A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3"/>
          <a:stretch/>
        </p:blipFill>
        <p:spPr>
          <a:xfrm>
            <a:off x="2098293" y="4003964"/>
            <a:ext cx="7995413" cy="249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9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52A7-E333-B09E-D697-5AE09E79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614CA-D024-A188-3CAD-B65FCD09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2. Операции с линейными формами. Сопряженное пространство.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3E0AD6-272C-ADA3-ABE3-E55FF400197B}"/>
                  </a:ext>
                </a:extLst>
              </p:cNvPr>
              <p:cNvSpPr txBox="1"/>
              <p:nvPr/>
            </p:nvSpPr>
            <p:spPr>
              <a:xfrm>
                <a:off x="838200" y="933061"/>
                <a:ext cx="1077841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Montserrat" panose="00000500000000000000" pitchFamily="2" charset="-52"/>
                  </a:rPr>
                  <a:t>Опр. Линейные формы f и g будем называть </a:t>
                </a:r>
                <a:r>
                  <a:rPr lang="ru-RU" b="1" dirty="0">
                    <a:latin typeface="Montserrat" panose="00000500000000000000" pitchFamily="2" charset="-52"/>
                  </a:rPr>
                  <a:t>равными</a:t>
                </a:r>
                <a:r>
                  <a:rPr lang="ru-RU" dirty="0">
                    <a:latin typeface="Montserrat" panose="00000500000000000000" pitchFamily="2" charset="-52"/>
                  </a:rPr>
                  <a:t>, если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⇔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latin typeface="Montserrat" panose="00000500000000000000" pitchFamily="2" charset="-52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Опр</a:t>
                </a:r>
                <a:r>
                  <a:rPr lang="en-US" dirty="0">
                    <a:latin typeface="Montserrat" panose="00000500000000000000" pitchFamily="2" charset="-52"/>
                  </a:rPr>
                  <a:t>. </a:t>
                </a:r>
                <a:r>
                  <a:rPr lang="ru-RU" dirty="0">
                    <a:latin typeface="Montserrat" panose="00000500000000000000" pitchFamily="2" charset="-52"/>
                  </a:rPr>
                  <a:t>Линейная форма θ называется </a:t>
                </a:r>
                <a:r>
                  <a:rPr lang="ru-RU" b="1" dirty="0">
                    <a:latin typeface="Montserrat" panose="00000500000000000000" pitchFamily="2" charset="-52"/>
                  </a:rPr>
                  <a:t>нулевой (нуль-формой)</a:t>
                </a:r>
                <a:r>
                  <a:rPr lang="ru-RU" dirty="0">
                    <a:latin typeface="Montserrat" panose="00000500000000000000" pitchFamily="2" charset="-52"/>
                  </a:rPr>
                  <a:t>,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если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3E0AD6-272C-ADA3-ABE3-E55FF4001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33061"/>
                <a:ext cx="10778412" cy="1200329"/>
              </a:xfrm>
              <a:prstGeom prst="rect">
                <a:avLst/>
              </a:prstGeom>
              <a:blipFill>
                <a:blip r:embed="rId2"/>
                <a:stretch>
                  <a:fillRect l="-509" t="-20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3443E9-2797-4C65-3DDF-164CBE16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451"/>
          <a:stretch/>
        </p:blipFill>
        <p:spPr>
          <a:xfrm>
            <a:off x="838200" y="2139909"/>
            <a:ext cx="9872982" cy="32648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D58D53-BEF7-F617-8EFA-3A8994D7F0E0}"/>
                  </a:ext>
                </a:extLst>
              </p:cNvPr>
              <p:cNvSpPr txBox="1"/>
              <p:nvPr/>
            </p:nvSpPr>
            <p:spPr>
              <a:xfrm>
                <a:off x="838200" y="5404757"/>
                <a:ext cx="10778412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Montserrat" panose="00000500000000000000" pitchFamily="2" charset="-52"/>
                  </a:rPr>
                  <a:t>Однородности: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D58D53-BEF7-F617-8EFA-3A8994D7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04757"/>
                <a:ext cx="10778412" cy="681982"/>
              </a:xfrm>
              <a:prstGeom prst="rect">
                <a:avLst/>
              </a:prstGeom>
              <a:blipFill>
                <a:blip r:embed="rId4"/>
                <a:stretch>
                  <a:fillRect l="-509" t="-4505" b="-54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68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F34E-1B78-80DF-9026-D07D8F59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3B8B8-8668-D7AD-83E2-AF2F45D9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2. Операции с линейными формами. Сопряженное пространство.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D9A989-B62F-5645-3471-0FC160304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47646"/>
            <a:ext cx="10376649" cy="1779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018D12-4A50-B999-9591-CD4D81068631}"/>
                  </a:ext>
                </a:extLst>
              </p:cNvPr>
              <p:cNvSpPr txBox="1"/>
              <p:nvPr/>
            </p:nvSpPr>
            <p:spPr>
              <a:xfrm>
                <a:off x="838200" y="2747018"/>
                <a:ext cx="10778412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Montserrat" panose="00000500000000000000" pitchFamily="2" charset="-52"/>
                  </a:rPr>
                  <a:t>Однородности: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Аддитивность: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018D12-4A50-B999-9591-CD4D81068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47018"/>
                <a:ext cx="10778412" cy="717632"/>
              </a:xfrm>
              <a:prstGeom prst="rect">
                <a:avLst/>
              </a:prstGeom>
              <a:blipFill>
                <a:blip r:embed="rId3"/>
                <a:stretch>
                  <a:fillRect l="-509" t="-1709" b="-11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817FBF-8363-715E-1956-8BC60FE01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28708"/>
            <a:ext cx="10376649" cy="16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1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24CA-DC46-BDC4-83FD-7E371B90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5CEDD-93B2-1DAA-C9D0-001E9BA1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3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.</a:t>
            </a:r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 Базис сопряженного пространства. Сопряженные базисы.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49AFCE-188F-53A3-5A08-2A4F27AE1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59" y="815813"/>
            <a:ext cx="10467479" cy="496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8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A71C-EDD5-6703-0263-A86AC7B7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84D9C-CC41-943A-F992-C37F2441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844"/>
            <a:ext cx="10451841" cy="455969"/>
          </a:xfrm>
        </p:spPr>
        <p:txBody>
          <a:bodyPr>
            <a:normAutofit/>
          </a:bodyPr>
          <a:lstStyle/>
          <a:p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3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.</a:t>
            </a:r>
            <a:r>
              <a:rPr lang="ru-RU" sz="1800" b="1" i="0" u="none" strike="noStrike" dirty="0">
                <a:solidFill>
                  <a:srgbClr val="FF0000"/>
                </a:solidFill>
                <a:effectLst/>
                <a:latin typeface="Montserrat" panose="00000500000000000000" pitchFamily="2" charset="-52"/>
              </a:rPr>
              <a:t> Базис сопряженного пространства. Сопряженные базисы.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26BCA6-39F9-AFD7-D432-A2A77808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69"/>
          <a:stretch/>
        </p:blipFill>
        <p:spPr>
          <a:xfrm>
            <a:off x="901959" y="815813"/>
            <a:ext cx="7822163" cy="400819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4F677B-27B2-F1EB-8C35-976A0FFE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21" y="4824011"/>
            <a:ext cx="7789201" cy="110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7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63D64-F6F0-6818-37F2-19A5C575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3DCECD-1EA2-5A0B-A6A1-9FA73D24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Авторы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Сакулин Иван Михайлович </a:t>
            </a:r>
            <a:r>
              <a:rPr lang="en-US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3121</a:t>
            </a:r>
          </a:p>
          <a:p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/>
              <a:t>Распространяется по лицензии </a:t>
            </a:r>
            <a:r>
              <a:rPr lang="en-US" b="1" dirty="0">
                <a:hlinkClick r:id="rId2"/>
              </a:rPr>
              <a:t>WTFPL</a:t>
            </a:r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Отказ от ответственности </a:t>
            </a:r>
          </a:p>
          <a:p>
            <a:r>
              <a:rPr lang="ru-RU" i="1" dirty="0">
                <a:ea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втор предоставляет собственные доказательства «как есть», не даёт гарантий их правильности и не несёт ответственности за допущенные ошибки. Мяу =)</a:t>
            </a:r>
            <a:r>
              <a:rPr lang="en-US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18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39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5493</TotalTime>
  <Words>744</Words>
  <Application>Microsoft Office PowerPoint</Application>
  <PresentationFormat>Широкоэкранный</PresentationFormat>
  <Paragraphs>75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Montserrat</vt:lpstr>
      <vt:lpstr>YS Text</vt:lpstr>
      <vt:lpstr>Тема Office</vt:lpstr>
      <vt:lpstr>Презентация PowerPoint</vt:lpstr>
      <vt:lpstr>Презентация PowerPoint</vt:lpstr>
      <vt:lpstr>1. Линейные формы. Определения, примеры. Коэффициенты линейных форм. </vt:lpstr>
      <vt:lpstr>1. Линейные формы. Определения, примеры. Коэффициенты линейных форм. </vt:lpstr>
      <vt:lpstr>2. Операции с линейными формами. Сопряженное пространство.</vt:lpstr>
      <vt:lpstr>2. Операции с линейными формами. Сопряженное пространство.</vt:lpstr>
      <vt:lpstr>3. Базис сопряженного пространства. Сопряженные базисы.</vt:lpstr>
      <vt:lpstr>3. Базис сопряженного пространства. Сопряженные базисы.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27. СЛАУ. Метод обратной матрицы.</dc:title>
  <dc:creator>Сакулин Иван Михайлович;astro_soup@niuitmo.ru</dc:creator>
  <cp:lastModifiedBy>Сакулин Иван Михайлович</cp:lastModifiedBy>
  <cp:revision>151</cp:revision>
  <dcterms:created xsi:type="dcterms:W3CDTF">2024-10-17T09:39:49Z</dcterms:created>
  <dcterms:modified xsi:type="dcterms:W3CDTF">2025-03-30T17:26:43Z</dcterms:modified>
</cp:coreProperties>
</file>