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370" r:id="rId2"/>
    <p:sldId id="397" r:id="rId3"/>
    <p:sldId id="398" r:id="rId4"/>
    <p:sldId id="399" r:id="rId5"/>
    <p:sldId id="426" r:id="rId6"/>
    <p:sldId id="427" r:id="rId7"/>
    <p:sldId id="400" r:id="rId8"/>
    <p:sldId id="428" r:id="rId9"/>
    <p:sldId id="429" r:id="rId10"/>
    <p:sldId id="401" r:id="rId11"/>
    <p:sldId id="430" r:id="rId12"/>
    <p:sldId id="402" r:id="rId13"/>
    <p:sldId id="403" r:id="rId14"/>
    <p:sldId id="431" r:id="rId15"/>
    <p:sldId id="404" r:id="rId16"/>
    <p:sldId id="405" r:id="rId17"/>
    <p:sldId id="406" r:id="rId18"/>
    <p:sldId id="433" r:id="rId19"/>
    <p:sldId id="407" r:id="rId20"/>
    <p:sldId id="434" r:id="rId21"/>
    <p:sldId id="435" r:id="rId22"/>
    <p:sldId id="408" r:id="rId23"/>
    <p:sldId id="432" r:id="rId24"/>
    <p:sldId id="409" r:id="rId25"/>
    <p:sldId id="410" r:id="rId26"/>
    <p:sldId id="436" r:id="rId27"/>
    <p:sldId id="411" r:id="rId28"/>
    <p:sldId id="437" r:id="rId29"/>
    <p:sldId id="438" r:id="rId30"/>
    <p:sldId id="412" r:id="rId31"/>
    <p:sldId id="439" r:id="rId32"/>
    <p:sldId id="413" r:id="rId33"/>
    <p:sldId id="442" r:id="rId34"/>
    <p:sldId id="414" r:id="rId35"/>
    <p:sldId id="415" r:id="rId36"/>
    <p:sldId id="416" r:id="rId37"/>
    <p:sldId id="440" r:id="rId38"/>
    <p:sldId id="417" r:id="rId39"/>
    <p:sldId id="441" r:id="rId40"/>
    <p:sldId id="418" r:id="rId41"/>
    <p:sldId id="443" r:id="rId42"/>
    <p:sldId id="419" r:id="rId43"/>
    <p:sldId id="420" r:id="rId44"/>
    <p:sldId id="421" r:id="rId45"/>
    <p:sldId id="422" r:id="rId46"/>
    <p:sldId id="423" r:id="rId47"/>
    <p:sldId id="424" r:id="rId48"/>
    <p:sldId id="425" r:id="rId49"/>
    <p:sldId id="348" r:id="rId5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2" id="{46648782-208C-4E43-81D5-4FCFBB8A826F}">
          <p14:sldIdLst>
            <p14:sldId id="370"/>
            <p14:sldId id="397"/>
            <p14:sldId id="398"/>
          </p14:sldIdLst>
        </p14:section>
        <p14:section name="1. Системы координат, используемые в кинематике" id="{C640DAE5-BE41-4D52-A789-16594E4D66F4}">
          <p14:sldIdLst>
            <p14:sldId id="399"/>
            <p14:sldId id="426"/>
            <p14:sldId id="427"/>
          </p14:sldIdLst>
        </p14:section>
        <p14:section name="2. Траекторный способ описания движения" id="{EE3681EC-9981-445C-B484-4BB812E5198A}">
          <p14:sldIdLst>
            <p14:sldId id="400"/>
            <p14:sldId id="428"/>
            <p14:sldId id="429"/>
          </p14:sldIdLst>
        </p14:section>
        <p14:section name="3. Вращение материальной точки вокруг оси. Связь линейных и угловых хар-к" id="{E9D7F84D-26E2-408F-B449-A783A70EE3B9}">
          <p14:sldIdLst>
            <p14:sldId id="401"/>
            <p14:sldId id="430"/>
          </p14:sldIdLst>
        </p14:section>
        <p14:section name="4. Вращение материальной точки вокруг оси. Ускорения" id="{5B2E9AA5-63C7-4491-8698-3A37D490DB32}">
          <p14:sldIdLst>
            <p14:sldId id="402"/>
          </p14:sldIdLst>
        </p14:section>
        <p14:section name="5. Динамика центра масс" id="{7DE222C5-4877-482A-B659-4DE1F2EFC1B0}">
          <p14:sldIdLst>
            <p14:sldId id="403"/>
            <p14:sldId id="431"/>
          </p14:sldIdLst>
        </p14:section>
        <p14:section name="6. Теорема о кинетической энергии." id="{187FEBD4-BD25-4573-85F6-6466A330D4C7}">
          <p14:sldIdLst>
            <p14:sldId id="404"/>
          </p14:sldIdLst>
        </p14:section>
        <p14:section name="7. Докажите, что центральные силы являются консервативными." id="{7FF06827-C98E-4EAA-AB06-DDA5B864604E}">
          <p14:sldIdLst>
            <p14:sldId id="405"/>
          </p14:sldIdLst>
        </p14:section>
        <p14:section name="8. Получите связь потенциальной энергии частицы в поле консервативных сил и сил этого поля." id="{CF7DA952-FF2A-4116-98A6-9A14670EAFC9}">
          <p14:sldIdLst>
            <p14:sldId id="406"/>
            <p14:sldId id="433"/>
          </p14:sldIdLst>
        </p14:section>
        <p14:section name="9. Абсолютно упругий удар" id="{B8AF05C3-DA5E-4896-8F5E-0B3FD1FB83B1}">
          <p14:sldIdLst>
            <p14:sldId id="407"/>
            <p14:sldId id="434"/>
            <p14:sldId id="435"/>
          </p14:sldIdLst>
        </p14:section>
        <p14:section name="10. Что называют реактивной силой? Получите уравнение Мещерского." id="{E38E017D-E977-4C66-B452-FB661F09800A}">
          <p14:sldIdLst>
            <p14:sldId id="408"/>
            <p14:sldId id="432"/>
          </p14:sldIdLst>
        </p14:section>
        <p14:section name="11. Что называют реактивной силой? Получите формулу Циолковского." id="{79AB39C8-8E61-44B0-AEAF-91690E618013}">
          <p14:sldIdLst>
            <p14:sldId id="409"/>
          </p14:sldIdLst>
        </p14:section>
        <p14:section name="12. Моменты импульса и силы частицы относительно точки" id="{05DF6B31-6C2D-4095-9EFE-87994259AB2B}">
          <p14:sldIdLst>
            <p14:sldId id="410"/>
            <p14:sldId id="436"/>
          </p14:sldIdLst>
        </p14:section>
        <p14:section name="13. Моменты импульса и силы частицы относительно оси" id="{2A9B944F-2BC3-45C9-BB61-07DFA006BF28}">
          <p14:sldIdLst>
            <p14:sldId id="411"/>
            <p14:sldId id="437"/>
            <p14:sldId id="438"/>
          </p14:sldIdLst>
        </p14:section>
        <p14:section name="14. Вращение твёрдого тела вокруг оси" id="{C85FAD93-4D59-486F-B749-B8E501F56406}">
          <p14:sldIdLst>
            <p14:sldId id="412"/>
            <p14:sldId id="439"/>
          </p14:sldIdLst>
        </p14:section>
        <p14:section name="15. Прецессия гироскопа" id="{D5BA93DD-3669-4AAD-B046-C522CEA4E983}">
          <p14:sldIdLst>
            <p14:sldId id="413"/>
            <p14:sldId id="442"/>
          </p14:sldIdLst>
        </p14:section>
        <p14:section name="16. Получите выражение для работы момента сил при вращении твёрдого тела вокруг оси." id="{34E41FD9-9B3B-4607-A22B-24A00E3C3571}">
          <p14:sldIdLst>
            <p14:sldId id="414"/>
          </p14:sldIdLst>
        </p14:section>
        <p14:section name="17. Получите преобразования Галилея." id="{8F8BFEE0-3181-422E-98D1-273B791A2C53}">
          <p14:sldIdLst>
            <p14:sldId id="415"/>
          </p14:sldIdLst>
        </p14:section>
        <p14:section name="18. Сформулируйте постулаты СТО Эйнштейна. Получите формулу для Лоренцева сокращения длины." id="{053B7243-5AD2-4263-BA94-9B06E6531803}">
          <p14:sldIdLst>
            <p14:sldId id="416"/>
            <p14:sldId id="440"/>
          </p14:sldIdLst>
        </p14:section>
        <p14:section name="19. Сформулируйте постулаты СТО Эйнштейна. Получите формулу для Лоренцева замедления времени." id="{C914AABD-C7D8-49DA-A3D2-1D17FA014BBD}">
          <p14:sldIdLst>
            <p14:sldId id="417"/>
            <p14:sldId id="441"/>
          </p14:sldIdLst>
        </p14:section>
        <p14:section name="20. Получите формулу для преобразования скоростей в СТО. Как эти уравнения согласуются с постулатами Эйнштейна?" id="{0EFBA8D0-6004-4483-803C-486FBB2BF4DA}">
          <p14:sldIdLst>
            <p14:sldId id="418"/>
            <p14:sldId id="443"/>
          </p14:sldIdLst>
        </p14:section>
        <p14:section name="21. Что называется релятивистским импульсом? Запишите закон релятивистской динамики. Получите выражение для импульса фотона." id="{A8B6364B-3407-4BAB-9115-84C0EF1C3140}">
          <p14:sldIdLst>
            <p14:sldId id="419"/>
          </p14:sldIdLst>
        </p14:section>
        <p14:section name="22. Опишите свободные колебания пружинного маятника. Получите формулу для собственной частоты колебаний." id="{39E57892-1C2E-4EED-B742-F41DE0CC2092}">
          <p14:sldIdLst>
            <p14:sldId id="420"/>
          </p14:sldIdLst>
        </p14:section>
        <p14:section name="23. Опишите свободные колебания нитяного маятника. Получите формулу для собственной частоты колебаний." id="{5D340DE8-2D0E-435E-B37D-CF8D1B996D57}">
          <p14:sldIdLst>
            <p14:sldId id="421"/>
          </p14:sldIdLst>
        </p14:section>
        <p14:section name="24. Опишите свободные колебания физического маятника. Получите формулу для собственной частоты колебаний." id="{B887F5AA-08D2-4188-8084-F41CAC0E5EA8}">
          <p14:sldIdLst>
            <p14:sldId id="422"/>
          </p14:sldIdLst>
        </p14:section>
        <p14:section name="25. Сложение колебаний. Биения." id="{D3566FCC-A87E-4D35-8925-B5EC92A012ED}">
          <p14:sldIdLst>
            <p14:sldId id="423"/>
          </p14:sldIdLst>
        </p14:section>
        <p14:section name="26. Затухающие механические колебания" id="{DDE5AA34-88C8-48BF-81A4-21DA19F38A7E}">
          <p14:sldIdLst>
            <p14:sldId id="424"/>
          </p14:sldIdLst>
        </p14:section>
        <p14:section name="27. Вынужденные механические колебания" id="{517D04BF-9753-4C33-9017-29EEC8965ABC}">
          <p14:sldIdLst>
            <p14:sldId id="425"/>
          </p14:sldIdLst>
        </p14:section>
        <p14:section name="Заключение" id="{F4C5AA9B-ADCD-4085-9250-C5C13B05B0AD}">
          <p14:sldIdLst>
            <p14:sldId id="34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Сакулин Иван Михайлович" initials="ИС" lastIdx="1" clrIdx="0">
    <p:extLst>
      <p:ext uri="{19B8F6BF-5375-455C-9EA6-DF929625EA0E}">
        <p15:presenceInfo xmlns:p15="http://schemas.microsoft.com/office/powerpoint/2012/main" userId="S::467335@niuitmo.ru::2ada3b6c-9e85-46e2-97b7-45503d450a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20" autoAdjust="0"/>
    <p:restoredTop sz="94660"/>
  </p:normalViewPr>
  <p:slideViewPr>
    <p:cSldViewPr snapToGrid="0">
      <p:cViewPr varScale="1">
        <p:scale>
          <a:sx n="82" d="100"/>
          <a:sy n="82" d="100"/>
        </p:scale>
        <p:origin x="81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60B1CE-915D-4149-B695-7B879756429B}" type="datetimeFigureOut">
              <a:rPr lang="ru-RU" smtClean="0"/>
              <a:t>08.01.2026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537531-5FC0-4CCC-88D2-19A12055DA50}" type="slidenum">
              <a:rPr lang="ru-RU" smtClean="0"/>
              <a:t>‹#›</a:t>
            </a:fld>
            <a:endParaRPr lang="ru-RU"/>
          </a:p>
        </p:txBody>
      </p:sp>
    </p:spTree>
    <p:extLst>
      <p:ext uri="{BB962C8B-B14F-4D97-AF65-F5344CB8AC3E}">
        <p14:creationId xmlns:p14="http://schemas.microsoft.com/office/powerpoint/2010/main" val="4118036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C8079E-93DE-0857-86AC-50E52B37B46D}"/>
              </a:ext>
            </a:extLst>
          </p:cNvPr>
          <p:cNvSpPr>
            <a:spLocks noGrp="1"/>
          </p:cNvSpPr>
          <p:nvPr>
            <p:ph type="title" hasCustomPrompt="1"/>
          </p:nvPr>
        </p:nvSpPr>
        <p:spPr>
          <a:xfrm>
            <a:off x="838200" y="2312377"/>
            <a:ext cx="10515600" cy="1494692"/>
          </a:xfrm>
          <a:prstGeom prst="rect">
            <a:avLst/>
          </a:prstGeom>
        </p:spPr>
        <p:txBody>
          <a:bodyPr>
            <a:noAutofit/>
          </a:bodyPr>
          <a:lstStyle>
            <a:lvl1pPr algn="ctr">
              <a:defRPr sz="13800">
                <a:solidFill>
                  <a:srgbClr val="FF0000"/>
                </a:solidFill>
              </a:defRPr>
            </a:lvl1pPr>
          </a:lstStyle>
          <a:p>
            <a:r>
              <a:rPr lang="ru-RU" dirty="0"/>
              <a:t>Раздел</a:t>
            </a:r>
          </a:p>
        </p:txBody>
      </p:sp>
      <p:sp>
        <p:nvSpPr>
          <p:cNvPr id="3" name="Дата 2">
            <a:extLst>
              <a:ext uri="{FF2B5EF4-FFF2-40B4-BE49-F238E27FC236}">
                <a16:creationId xmlns:a16="http://schemas.microsoft.com/office/drawing/2014/main" id="{306BFB70-59B6-B46C-893C-7FDE431F53E3}"/>
              </a:ext>
            </a:extLst>
          </p:cNvPr>
          <p:cNvSpPr>
            <a:spLocks noGrp="1"/>
          </p:cNvSpPr>
          <p:nvPr>
            <p:ph type="dt" sz="half" idx="10"/>
          </p:nvPr>
        </p:nvSpPr>
        <p:spPr/>
        <p:txBody>
          <a:bodyPr/>
          <a:lstStyle/>
          <a:p>
            <a:fld id="{97F2C947-0B0D-400B-B67A-9D87DBCB2F86}" type="datetimeFigureOut">
              <a:rPr lang="ru-RU" smtClean="0"/>
              <a:t>08.01.2026</a:t>
            </a:fld>
            <a:endParaRPr lang="ru-RU"/>
          </a:p>
        </p:txBody>
      </p:sp>
      <p:sp>
        <p:nvSpPr>
          <p:cNvPr id="4" name="Нижний колонтитул 3">
            <a:extLst>
              <a:ext uri="{FF2B5EF4-FFF2-40B4-BE49-F238E27FC236}">
                <a16:creationId xmlns:a16="http://schemas.microsoft.com/office/drawing/2014/main" id="{50ED35FA-D424-7356-B686-2CBC83B7F63A}"/>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AAD3294-ED42-2AC0-AE3B-6F73E0DF3F41}"/>
              </a:ext>
            </a:extLst>
          </p:cNvPr>
          <p:cNvSpPr>
            <a:spLocks noGrp="1"/>
          </p:cNvSpPr>
          <p:nvPr>
            <p:ph type="sldNum" sz="quarter" idx="12"/>
          </p:nvPr>
        </p:nvSpPr>
        <p:spPr/>
        <p:txBody>
          <a:bodyPr/>
          <a:lstStyle/>
          <a:p>
            <a:fld id="{54ED7776-1739-4A13-9290-B05AE8185B62}" type="slidenum">
              <a:rPr lang="ru-RU" smtClean="0"/>
              <a:t>‹#›</a:t>
            </a:fld>
            <a:endParaRPr lang="ru-RU"/>
          </a:p>
        </p:txBody>
      </p:sp>
    </p:spTree>
    <p:extLst>
      <p:ext uri="{BB962C8B-B14F-4D97-AF65-F5344CB8AC3E}">
        <p14:creationId xmlns:p14="http://schemas.microsoft.com/office/powerpoint/2010/main" val="3150093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3" name="Дата 2">
            <a:extLst>
              <a:ext uri="{FF2B5EF4-FFF2-40B4-BE49-F238E27FC236}">
                <a16:creationId xmlns:a16="http://schemas.microsoft.com/office/drawing/2014/main" id="{E63BAE85-386A-72A1-CFF0-60F243784272}"/>
              </a:ext>
            </a:extLst>
          </p:cNvPr>
          <p:cNvSpPr>
            <a:spLocks noGrp="1"/>
          </p:cNvSpPr>
          <p:nvPr>
            <p:ph type="dt" sz="half" idx="10"/>
          </p:nvPr>
        </p:nvSpPr>
        <p:spPr/>
        <p:txBody>
          <a:bodyPr/>
          <a:lstStyle/>
          <a:p>
            <a:fld id="{97F2C947-0B0D-400B-B67A-9D87DBCB2F86}" type="datetimeFigureOut">
              <a:rPr lang="ru-RU" smtClean="0"/>
              <a:t>08.01.2026</a:t>
            </a:fld>
            <a:endParaRPr lang="ru-RU"/>
          </a:p>
        </p:txBody>
      </p:sp>
      <p:sp>
        <p:nvSpPr>
          <p:cNvPr id="4" name="Нижний колонтитул 3">
            <a:extLst>
              <a:ext uri="{FF2B5EF4-FFF2-40B4-BE49-F238E27FC236}">
                <a16:creationId xmlns:a16="http://schemas.microsoft.com/office/drawing/2014/main" id="{03C41EFB-6D05-D9D1-E90C-FB13BC1944FD}"/>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EC0B6CCE-6B0F-C248-2C90-45317C1CB506}"/>
              </a:ext>
            </a:extLst>
          </p:cNvPr>
          <p:cNvSpPr>
            <a:spLocks noGrp="1"/>
          </p:cNvSpPr>
          <p:nvPr>
            <p:ph type="sldNum" sz="quarter" idx="12"/>
          </p:nvPr>
        </p:nvSpPr>
        <p:spPr/>
        <p:txBody>
          <a:bodyPr/>
          <a:lstStyle/>
          <a:p>
            <a:fld id="{54ED7776-1739-4A13-9290-B05AE8185B62}" type="slidenum">
              <a:rPr lang="ru-RU" smtClean="0"/>
              <a:t>‹#›</a:t>
            </a:fld>
            <a:endParaRPr lang="ru-RU" dirty="0"/>
          </a:p>
        </p:txBody>
      </p:sp>
      <p:sp>
        <p:nvSpPr>
          <p:cNvPr id="7" name="Заголовок 6">
            <a:extLst>
              <a:ext uri="{FF2B5EF4-FFF2-40B4-BE49-F238E27FC236}">
                <a16:creationId xmlns:a16="http://schemas.microsoft.com/office/drawing/2014/main" id="{1F856680-7865-C22D-A182-81D8668195BB}"/>
              </a:ext>
            </a:extLst>
          </p:cNvPr>
          <p:cNvSpPr>
            <a:spLocks noGrp="1"/>
          </p:cNvSpPr>
          <p:nvPr>
            <p:ph type="title" hasCustomPrompt="1"/>
          </p:nvPr>
        </p:nvSpPr>
        <p:spPr>
          <a:xfrm>
            <a:off x="838200" y="399678"/>
            <a:ext cx="10515600" cy="848830"/>
          </a:xfrm>
          <a:prstGeom prst="rect">
            <a:avLst/>
          </a:prstGeom>
        </p:spPr>
        <p:txBody>
          <a:bodyPr>
            <a:normAutofit/>
          </a:bodyPr>
          <a:lstStyle>
            <a:lvl1pPr>
              <a:defRPr sz="1800" b="1" u="none">
                <a:solidFill>
                  <a:srgbClr val="FF0000"/>
                </a:solidFill>
                <a:latin typeface="Montserrat" panose="00000500000000000000" pitchFamily="2" charset="-52"/>
              </a:defRPr>
            </a:lvl1pPr>
          </a:lstStyle>
          <a:p>
            <a:r>
              <a:rPr lang="en-US" dirty="0"/>
              <a:t>1. </a:t>
            </a:r>
            <a:r>
              <a:rPr lang="ru-RU" dirty="0"/>
              <a:t>Вопрос</a:t>
            </a:r>
          </a:p>
        </p:txBody>
      </p:sp>
      <p:sp>
        <p:nvSpPr>
          <p:cNvPr id="9" name="Текст 8">
            <a:extLst>
              <a:ext uri="{FF2B5EF4-FFF2-40B4-BE49-F238E27FC236}">
                <a16:creationId xmlns:a16="http://schemas.microsoft.com/office/drawing/2014/main" id="{BBCB8928-A971-9146-97EC-32B875868ED1}"/>
              </a:ext>
            </a:extLst>
          </p:cNvPr>
          <p:cNvSpPr>
            <a:spLocks noGrp="1"/>
          </p:cNvSpPr>
          <p:nvPr>
            <p:ph type="body" sz="quarter" idx="13"/>
          </p:nvPr>
        </p:nvSpPr>
        <p:spPr>
          <a:xfrm>
            <a:off x="838200" y="1248507"/>
            <a:ext cx="10515600" cy="4941277"/>
          </a:xfrm>
          <a:prstGeom prst="rect">
            <a:avLst/>
          </a:prstGeom>
        </p:spPr>
        <p:txBody>
          <a:bodyPr>
            <a:normAutofit/>
          </a:bodyPr>
          <a:lstStyle>
            <a:lvl1pPr marL="0" indent="0" algn="just">
              <a:buNone/>
              <a:defRPr sz="1800" b="0">
                <a:latin typeface="Montserrat" panose="00000500000000000000" pitchFamily="2" charset="-52"/>
              </a:defRPr>
            </a:lvl1pPr>
          </a:lstStyle>
          <a:p>
            <a:pPr lvl="0"/>
            <a:r>
              <a:rPr lang="ru-RU" dirty="0"/>
              <a:t>Образец текста</a:t>
            </a:r>
          </a:p>
        </p:txBody>
      </p:sp>
    </p:spTree>
    <p:extLst>
      <p:ext uri="{BB962C8B-B14F-4D97-AF65-F5344CB8AC3E}">
        <p14:creationId xmlns:p14="http://schemas.microsoft.com/office/powerpoint/2010/main" val="17501219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Дата 3">
            <a:extLst>
              <a:ext uri="{FF2B5EF4-FFF2-40B4-BE49-F238E27FC236}">
                <a16:creationId xmlns:a16="http://schemas.microsoft.com/office/drawing/2014/main" id="{01F5E966-471F-C86C-96E7-FFEFDB1800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F2C947-0B0D-400B-B67A-9D87DBCB2F86}" type="datetimeFigureOut">
              <a:rPr lang="ru-RU" smtClean="0"/>
              <a:t>08.01.2026</a:t>
            </a:fld>
            <a:endParaRPr lang="ru-RU"/>
          </a:p>
        </p:txBody>
      </p:sp>
      <p:sp>
        <p:nvSpPr>
          <p:cNvPr id="5" name="Нижний колонтитул 4">
            <a:extLst>
              <a:ext uri="{FF2B5EF4-FFF2-40B4-BE49-F238E27FC236}">
                <a16:creationId xmlns:a16="http://schemas.microsoft.com/office/drawing/2014/main" id="{3F0B7B99-2F5D-4908-B16D-0D02CC552B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7CF00948-8112-9A12-F87F-CE974F9F04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ED7776-1739-4A13-9290-B05AE8185B62}" type="slidenum">
              <a:rPr lang="ru-RU" smtClean="0"/>
              <a:t>‹#›</a:t>
            </a:fld>
            <a:endParaRPr lang="ru-RU"/>
          </a:p>
        </p:txBody>
      </p:sp>
    </p:spTree>
    <p:extLst>
      <p:ext uri="{BB962C8B-B14F-4D97-AF65-F5344CB8AC3E}">
        <p14:creationId xmlns:p14="http://schemas.microsoft.com/office/powerpoint/2010/main" val="3107370128"/>
      </p:ext>
    </p:extLst>
  </p:cSld>
  <p:clrMap bg1="lt1" tx1="dk1" bg2="lt2" tx2="dk2" accent1="accent1" accent2="accent2" accent3="accent3" accent4="accent4" accent5="accent5" accent6="accent6" hlink="hlink" folHlink="folHlink"/>
  <p:sldLayoutIdLst>
    <p:sldLayoutId id="2147483655" r:id="rId1"/>
    <p:sldLayoutId id="214748365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3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500.png"/><Relationship Id="rId1" Type="http://schemas.openxmlformats.org/officeDocument/2006/relationships/slideLayout" Target="../slideLayouts/slideLayout2.xml"/><Relationship Id="rId5" Type="http://schemas.openxmlformats.org/officeDocument/2006/relationships/image" Target="../media/image530.png"/><Relationship Id="rId4" Type="http://schemas.openxmlformats.org/officeDocument/2006/relationships/image" Target="../media/image520.png"/></Relationships>
</file>

<file path=ppt/slides/_rels/slide3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5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4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4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ru.wikipedia.org/wiki/WTFP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60B9DFC-A32E-29A4-58C4-B83EB6ABAECA}"/>
              </a:ext>
            </a:extLst>
          </p:cNvPr>
          <p:cNvSpPr txBox="1"/>
          <p:nvPr/>
        </p:nvSpPr>
        <p:spPr>
          <a:xfrm>
            <a:off x="3049386" y="139530"/>
            <a:ext cx="6093228" cy="461665"/>
          </a:xfrm>
          <a:prstGeom prst="rect">
            <a:avLst/>
          </a:prstGeom>
          <a:noFill/>
        </p:spPr>
        <p:txBody>
          <a:bodyPr wrap="square">
            <a:spAutoFit/>
          </a:bodyPr>
          <a:lstStyle/>
          <a:p>
            <a:pPr algn="ctr"/>
            <a:r>
              <a:rPr lang="ru-RU" sz="2400" b="1" dirty="0">
                <a:solidFill>
                  <a:srgbClr val="FF0000"/>
                </a:solidFill>
                <a:latin typeface="Montserrat" panose="00000500000000000000" pitchFamily="2" charset="-52"/>
              </a:rPr>
              <a:t>Механика 1/3</a:t>
            </a:r>
          </a:p>
        </p:txBody>
      </p:sp>
      <p:sp>
        <p:nvSpPr>
          <p:cNvPr id="2" name="TextBox 1">
            <a:extLst>
              <a:ext uri="{FF2B5EF4-FFF2-40B4-BE49-F238E27FC236}">
                <a16:creationId xmlns:a16="http://schemas.microsoft.com/office/drawing/2014/main" id="{DB5269AE-0E24-3C9D-973C-532B358A5545}"/>
              </a:ext>
            </a:extLst>
          </p:cNvPr>
          <p:cNvSpPr txBox="1"/>
          <p:nvPr/>
        </p:nvSpPr>
        <p:spPr>
          <a:xfrm>
            <a:off x="637591" y="601195"/>
            <a:ext cx="10916817" cy="5355312"/>
          </a:xfrm>
          <a:prstGeom prst="rect">
            <a:avLst/>
          </a:prstGeom>
          <a:noFill/>
        </p:spPr>
        <p:txBody>
          <a:bodyPr wrap="square">
            <a:spAutoFit/>
          </a:bodyPr>
          <a:lstStyle/>
          <a:p>
            <a:r>
              <a:rPr lang="ru-RU" dirty="0"/>
              <a:t>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a:t>
            </a:r>
          </a:p>
          <a:p>
            <a:r>
              <a:rPr lang="ru-RU" dirty="0"/>
              <a:t>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a:t>
            </a:r>
          </a:p>
          <a:p>
            <a:r>
              <a:rPr lang="ru-RU" dirty="0"/>
              <a:t>3. Вращение материальной точки вокруг оси. Получите связь линейных и угловых кинематических характеристик? </a:t>
            </a:r>
          </a:p>
          <a:p>
            <a:r>
              <a:rPr lang="ru-RU" dirty="0"/>
              <a:t>4. Вращение материальной точки вокруг оси. Получите выражение для нормального и тангенциального ускорения через угловые характеристики. </a:t>
            </a:r>
          </a:p>
          <a:p>
            <a:r>
              <a:rPr lang="ru-RU" dirty="0"/>
              <a:t>5. Получите закон динамики центра масс системы взаимодействующих частиц? Что такое Ц- система. Когда удобно решать задачи в Ц- системе? Приведите пример. </a:t>
            </a:r>
          </a:p>
          <a:p>
            <a:r>
              <a:rPr lang="ru-RU" dirty="0"/>
              <a:t>6. Сформулируйте и докажите теорему о кинетической энергии. </a:t>
            </a:r>
          </a:p>
          <a:p>
            <a:r>
              <a:rPr lang="ru-RU" dirty="0"/>
              <a:t>7. Докажите, что центральные силы являются консервативными. </a:t>
            </a:r>
          </a:p>
          <a:p>
            <a:r>
              <a:rPr lang="ru-RU" dirty="0"/>
              <a:t>8. Получите связь потенциальной энергии частицы в поле консервативных сил и сил этого поля. </a:t>
            </a:r>
          </a:p>
          <a:p>
            <a:r>
              <a:rPr lang="ru-RU" dirty="0"/>
              <a:t>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a:t>
            </a:r>
          </a:p>
          <a:p>
            <a:r>
              <a:rPr lang="ru-RU" dirty="0"/>
              <a:t>10. Что называют реактивной силой? Получите уравнение Мещерского. </a:t>
            </a:r>
          </a:p>
          <a:p>
            <a:r>
              <a:rPr lang="ru-RU" dirty="0"/>
              <a:t>11. Что называют реактивной силой? Получите формулу Циолковского. </a:t>
            </a:r>
          </a:p>
        </p:txBody>
      </p:sp>
    </p:spTree>
    <p:extLst>
      <p:ext uri="{BB962C8B-B14F-4D97-AF65-F5344CB8AC3E}">
        <p14:creationId xmlns:p14="http://schemas.microsoft.com/office/powerpoint/2010/main" val="3183522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6D70C-8B67-1817-DC03-E346BBA876B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3032BEC-001D-5A9B-B30C-75C535C8FE77}"/>
              </a:ext>
            </a:extLst>
          </p:cNvPr>
          <p:cNvSpPr txBox="1"/>
          <p:nvPr/>
        </p:nvSpPr>
        <p:spPr>
          <a:xfrm>
            <a:off x="3049386" y="139530"/>
            <a:ext cx="6093228" cy="461665"/>
          </a:xfrm>
          <a:prstGeom prst="rect">
            <a:avLst/>
          </a:prstGeom>
          <a:noFill/>
        </p:spPr>
        <p:txBody>
          <a:bodyPr wrap="square">
            <a:spAutoFit/>
          </a:bodyPr>
          <a:lstStyle/>
          <a:p>
            <a:pPr algn="ctr"/>
            <a:r>
              <a:rPr lang="ru-RU" sz="2400" b="1" dirty="0">
                <a:solidFill>
                  <a:srgbClr val="FF0000"/>
                </a:solidFill>
                <a:latin typeface="Montserrat" panose="00000500000000000000" pitchFamily="2" charset="-52"/>
              </a:rPr>
              <a:t>Механика 2/3</a:t>
            </a:r>
          </a:p>
        </p:txBody>
      </p:sp>
      <p:sp>
        <p:nvSpPr>
          <p:cNvPr id="2" name="TextBox 1">
            <a:extLst>
              <a:ext uri="{FF2B5EF4-FFF2-40B4-BE49-F238E27FC236}">
                <a16:creationId xmlns:a16="http://schemas.microsoft.com/office/drawing/2014/main" id="{307E9F80-D2CE-D337-E342-500D0592C037}"/>
              </a:ext>
            </a:extLst>
          </p:cNvPr>
          <p:cNvSpPr txBox="1"/>
          <p:nvPr/>
        </p:nvSpPr>
        <p:spPr>
          <a:xfrm>
            <a:off x="637591" y="601195"/>
            <a:ext cx="10916817" cy="4801314"/>
          </a:xfrm>
          <a:prstGeom prst="rect">
            <a:avLst/>
          </a:prstGeom>
          <a:noFill/>
        </p:spPr>
        <p:txBody>
          <a:bodyPr wrap="square">
            <a:spAutoFit/>
          </a:bodyPr>
          <a:lstStyle/>
          <a:p>
            <a:r>
              <a:rPr lang="ru-RU" dirty="0"/>
              <a:t>12. Дайте определение момента импульса частицы относительно точки и момента силы, действующей на частицу, относительно точки. Получите уравнение моментов для вращения частицы вокруг точки. </a:t>
            </a:r>
          </a:p>
          <a:p>
            <a:r>
              <a:rPr lang="ru-RU" dirty="0"/>
              <a:t>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a:t>
            </a:r>
          </a:p>
          <a:p>
            <a:r>
              <a:rPr lang="ru-RU" dirty="0"/>
              <a:t>14. Вращение твёрдого тела вокруг оси. Дайте определение момента импульса твёрдого тела относительно оси. Как влияют на вращение твёрдого тела вокруг оси внутренние силы? Получите закон динамики вращательного движения твёрдого тела вокруг оси. </a:t>
            </a:r>
          </a:p>
          <a:p>
            <a:r>
              <a:rPr lang="ru-RU" dirty="0"/>
              <a:t>15. Объясните за счёт чего возникает прецессия гироскопа. Выведите формулы, отражающие зависимость угловой скорости прецессии от частоты вращения гироскопа. </a:t>
            </a:r>
          </a:p>
          <a:p>
            <a:r>
              <a:rPr lang="ru-RU" dirty="0"/>
              <a:t>16. Получите выражение для работы момента сил при вращении твёрдого тела вокруг оси. </a:t>
            </a:r>
          </a:p>
          <a:p>
            <a:r>
              <a:rPr lang="ru-RU" dirty="0"/>
              <a:t>17. Получите преобразования Галилея. </a:t>
            </a:r>
          </a:p>
          <a:p>
            <a:r>
              <a:rPr lang="ru-RU" dirty="0"/>
              <a:t>18. Сформулируйте постулаты СТО Эйнштейна. Получите формулу для </a:t>
            </a:r>
            <a:r>
              <a:rPr lang="ru-RU" dirty="0" err="1"/>
              <a:t>Лоренцева</a:t>
            </a:r>
            <a:r>
              <a:rPr lang="ru-RU" dirty="0"/>
              <a:t> сокращения длины. </a:t>
            </a:r>
          </a:p>
          <a:p>
            <a:r>
              <a:rPr lang="ru-RU" dirty="0"/>
              <a:t>19. Сформулируйте постулаты СТО Эйнштейна. Получите формулу для </a:t>
            </a:r>
            <a:r>
              <a:rPr lang="ru-RU" dirty="0" err="1"/>
              <a:t>Лоренцева</a:t>
            </a:r>
            <a:r>
              <a:rPr lang="ru-RU" dirty="0"/>
              <a:t> замедления времени. </a:t>
            </a:r>
          </a:p>
          <a:p>
            <a:r>
              <a:rPr lang="ru-RU" dirty="0"/>
              <a:t>20. Получите формулу для преобразования скоростей в СТО. Как эти уравнения согласуются с постулатами Эйнштейна? </a:t>
            </a:r>
          </a:p>
          <a:p>
            <a:r>
              <a:rPr lang="ru-RU" dirty="0"/>
              <a:t>21. Что называется релятивистским импульсом? Запишите закон релятивистской динамики. Получите выражение для импульса фотона. </a:t>
            </a:r>
          </a:p>
        </p:txBody>
      </p:sp>
    </p:spTree>
    <p:extLst>
      <p:ext uri="{BB962C8B-B14F-4D97-AF65-F5344CB8AC3E}">
        <p14:creationId xmlns:p14="http://schemas.microsoft.com/office/powerpoint/2010/main" val="3721103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A478F-540B-D37F-6B1D-95483C7E1AF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BE5F191-CFA8-3955-1303-ED2A9A9280D1}"/>
              </a:ext>
            </a:extLst>
          </p:cNvPr>
          <p:cNvSpPr txBox="1"/>
          <p:nvPr/>
        </p:nvSpPr>
        <p:spPr>
          <a:xfrm>
            <a:off x="3049386" y="139530"/>
            <a:ext cx="6093228" cy="461665"/>
          </a:xfrm>
          <a:prstGeom prst="rect">
            <a:avLst/>
          </a:prstGeom>
          <a:noFill/>
        </p:spPr>
        <p:txBody>
          <a:bodyPr wrap="square">
            <a:spAutoFit/>
          </a:bodyPr>
          <a:lstStyle/>
          <a:p>
            <a:pPr algn="ctr"/>
            <a:r>
              <a:rPr lang="ru-RU" sz="2400" b="1" dirty="0">
                <a:solidFill>
                  <a:srgbClr val="FF0000"/>
                </a:solidFill>
                <a:latin typeface="Montserrat" panose="00000500000000000000" pitchFamily="2" charset="-52"/>
              </a:rPr>
              <a:t>Механика 3/3</a:t>
            </a:r>
          </a:p>
        </p:txBody>
      </p:sp>
      <p:sp>
        <p:nvSpPr>
          <p:cNvPr id="2" name="TextBox 1">
            <a:extLst>
              <a:ext uri="{FF2B5EF4-FFF2-40B4-BE49-F238E27FC236}">
                <a16:creationId xmlns:a16="http://schemas.microsoft.com/office/drawing/2014/main" id="{07A39033-3DB8-C31E-0AB0-7B5F987CD7CF}"/>
              </a:ext>
            </a:extLst>
          </p:cNvPr>
          <p:cNvSpPr txBox="1"/>
          <p:nvPr/>
        </p:nvSpPr>
        <p:spPr>
          <a:xfrm>
            <a:off x="637591" y="601195"/>
            <a:ext cx="10916817" cy="3693319"/>
          </a:xfrm>
          <a:prstGeom prst="rect">
            <a:avLst/>
          </a:prstGeom>
          <a:noFill/>
        </p:spPr>
        <p:txBody>
          <a:bodyPr wrap="square">
            <a:spAutoFit/>
          </a:bodyPr>
          <a:lstStyle/>
          <a:p>
            <a:r>
              <a:rPr lang="ru-RU" dirty="0"/>
              <a:t>22. Опишите свободные колебания пружинного маятника. Получите формулу для собственной частоты колебаний. </a:t>
            </a:r>
          </a:p>
          <a:p>
            <a:r>
              <a:rPr lang="ru-RU" dirty="0"/>
              <a:t>23. Опишите свободные колебания нитяного маятника. Получите формулу для собственной частоты колебаний. </a:t>
            </a:r>
          </a:p>
          <a:p>
            <a:r>
              <a:rPr lang="ru-RU" dirty="0"/>
              <a:t>24. Опишите свободные колебания физического маятника. Получите формулу для собственной частоты колебаний. </a:t>
            </a:r>
          </a:p>
          <a:p>
            <a:r>
              <a:rPr lang="ru-RU" dirty="0"/>
              <a:t>25. Сложение колебаний. Биения. </a:t>
            </a:r>
          </a:p>
          <a:p>
            <a:r>
              <a:rPr lang="ru-RU" dirty="0"/>
              <a:t>26. Опишите процесс затухающих механических колебаний при слабом затухании. Что называют добротностью колебательной системы и коэффициентом затухания? Как амплитуда и энергия колебаний зависят от времени? </a:t>
            </a:r>
          </a:p>
          <a:p>
            <a:r>
              <a:rPr lang="ru-RU" dirty="0"/>
              <a:t>27. Опишите процесс вынужденных механических колебаний при слабом затухании. Как с помощью векторной диаграммы получить формулу для амплитуды и фазы установившихся колебаний. Что определяет частоту резонанса?</a:t>
            </a:r>
            <a:endParaRPr lang="ru-RU" dirty="0">
              <a:latin typeface="Montserrat" panose="00000500000000000000" pitchFamily="2" charset="-52"/>
            </a:endParaRPr>
          </a:p>
        </p:txBody>
      </p:sp>
    </p:spTree>
    <p:extLst>
      <p:ext uri="{BB962C8B-B14F-4D97-AF65-F5344CB8AC3E}">
        <p14:creationId xmlns:p14="http://schemas.microsoft.com/office/powerpoint/2010/main" val="2979357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B26B14A1-E593-93ED-189E-098716AFB532}"/>
              </a:ext>
            </a:extLst>
          </p:cNvPr>
          <p:cNvPicPr>
            <a:picLocks noChangeAspect="1"/>
          </p:cNvPicPr>
          <p:nvPr/>
        </p:nvPicPr>
        <p:blipFill>
          <a:blip r:embed="rId2"/>
          <a:srcRect t="2028"/>
          <a:stretch>
            <a:fillRect/>
          </a:stretch>
        </p:blipFill>
        <p:spPr>
          <a:xfrm>
            <a:off x="5691672" y="1474239"/>
            <a:ext cx="6160908" cy="4189446"/>
          </a:xfrm>
          <a:prstGeom prst="rect">
            <a:avLst/>
          </a:prstGeom>
        </p:spPr>
      </p:pic>
      <p:sp>
        <p:nvSpPr>
          <p:cNvPr id="2" name="Заголовок 1">
            <a:extLst>
              <a:ext uri="{FF2B5EF4-FFF2-40B4-BE49-F238E27FC236}">
                <a16:creationId xmlns:a16="http://schemas.microsoft.com/office/drawing/2014/main" id="{A85B5908-BAA0-0DBE-9049-EC89F733DAC3}"/>
              </a:ext>
            </a:extLst>
          </p:cNvPr>
          <p:cNvSpPr>
            <a:spLocks noGrp="1"/>
          </p:cNvSpPr>
          <p:nvPr>
            <p:ph type="title"/>
          </p:nvPr>
        </p:nvSpPr>
        <p:spPr/>
        <p:txBody>
          <a:bodyPr/>
          <a:lstStyle/>
          <a:p>
            <a:r>
              <a:rPr lang="ru-RU" dirty="0"/>
              <a:t>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a:t>
            </a:r>
          </a:p>
        </p:txBody>
      </p:sp>
      <p:pic>
        <p:nvPicPr>
          <p:cNvPr id="5" name="Рисунок 4">
            <a:extLst>
              <a:ext uri="{FF2B5EF4-FFF2-40B4-BE49-F238E27FC236}">
                <a16:creationId xmlns:a16="http://schemas.microsoft.com/office/drawing/2014/main" id="{553795BA-81DC-5EF9-7EBC-8DF656EA6116}"/>
              </a:ext>
            </a:extLst>
          </p:cNvPr>
          <p:cNvPicPr>
            <a:picLocks noChangeAspect="1"/>
          </p:cNvPicPr>
          <p:nvPr/>
        </p:nvPicPr>
        <p:blipFill>
          <a:blip r:embed="rId3"/>
          <a:srcRect t="706"/>
          <a:stretch>
            <a:fillRect/>
          </a:stretch>
        </p:blipFill>
        <p:spPr>
          <a:xfrm>
            <a:off x="399634" y="1474239"/>
            <a:ext cx="5537744" cy="4189446"/>
          </a:xfrm>
          <a:prstGeom prst="rect">
            <a:avLst/>
          </a:prstGeom>
        </p:spPr>
      </p:pic>
    </p:spTree>
    <p:extLst>
      <p:ext uri="{BB962C8B-B14F-4D97-AF65-F5344CB8AC3E}">
        <p14:creationId xmlns:p14="http://schemas.microsoft.com/office/powerpoint/2010/main" val="3017629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2ACEC-85B3-0608-07E6-1BEB5DEA34C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ED3EB2-E77D-5136-91AA-EF6194895A23}"/>
              </a:ext>
            </a:extLst>
          </p:cNvPr>
          <p:cNvSpPr>
            <a:spLocks noGrp="1"/>
          </p:cNvSpPr>
          <p:nvPr>
            <p:ph type="title"/>
          </p:nvPr>
        </p:nvSpPr>
        <p:spPr/>
        <p:txBody>
          <a:bodyPr/>
          <a:lstStyle/>
          <a:p>
            <a:r>
              <a:rPr lang="ru-RU" dirty="0"/>
              <a:t>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a:t>
            </a:r>
          </a:p>
        </p:txBody>
      </p:sp>
      <p:pic>
        <p:nvPicPr>
          <p:cNvPr id="4" name="Рисунок 3">
            <a:extLst>
              <a:ext uri="{FF2B5EF4-FFF2-40B4-BE49-F238E27FC236}">
                <a16:creationId xmlns:a16="http://schemas.microsoft.com/office/drawing/2014/main" id="{3DA4570B-AACC-DBE4-B354-8C086E2D2A34}"/>
              </a:ext>
            </a:extLst>
          </p:cNvPr>
          <p:cNvPicPr>
            <a:picLocks noChangeAspect="1"/>
          </p:cNvPicPr>
          <p:nvPr/>
        </p:nvPicPr>
        <p:blipFill>
          <a:blip r:embed="rId2"/>
          <a:stretch>
            <a:fillRect/>
          </a:stretch>
        </p:blipFill>
        <p:spPr>
          <a:xfrm>
            <a:off x="29723" y="1237255"/>
            <a:ext cx="6066277" cy="4489313"/>
          </a:xfrm>
          <a:prstGeom prst="rect">
            <a:avLst/>
          </a:prstGeom>
        </p:spPr>
      </p:pic>
      <p:pic>
        <p:nvPicPr>
          <p:cNvPr id="8" name="Рисунок 7">
            <a:extLst>
              <a:ext uri="{FF2B5EF4-FFF2-40B4-BE49-F238E27FC236}">
                <a16:creationId xmlns:a16="http://schemas.microsoft.com/office/drawing/2014/main" id="{5C79257F-16DB-F19A-BA87-3B238B548D41}"/>
              </a:ext>
            </a:extLst>
          </p:cNvPr>
          <p:cNvPicPr>
            <a:picLocks noChangeAspect="1"/>
          </p:cNvPicPr>
          <p:nvPr/>
        </p:nvPicPr>
        <p:blipFill>
          <a:blip r:embed="rId3"/>
          <a:stretch>
            <a:fillRect/>
          </a:stretch>
        </p:blipFill>
        <p:spPr>
          <a:xfrm>
            <a:off x="6096000" y="1702112"/>
            <a:ext cx="5972600" cy="4024456"/>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126F5E2-59DF-F826-81E7-CF6873B32151}"/>
                  </a:ext>
                </a:extLst>
              </p:cNvPr>
              <p:cNvSpPr txBox="1"/>
              <p:nvPr/>
            </p:nvSpPr>
            <p:spPr>
              <a:xfrm>
                <a:off x="157259" y="5726568"/>
                <a:ext cx="5950027" cy="923330"/>
              </a:xfrm>
              <a:prstGeom prst="rect">
                <a:avLst/>
              </a:prstGeom>
              <a:noFill/>
            </p:spPr>
            <p:txBody>
              <a:bodyPr wrap="none" rtlCol="0">
                <a:spAutoFit/>
              </a:bodyPr>
              <a:lstStyle/>
              <a:p>
                <a14:m>
                  <m:oMath xmlns:m="http://schemas.openxmlformats.org/officeDocument/2006/math">
                    <m:r>
                      <a:rPr lang="ru-RU" b="0" i="1" smtClean="0">
                        <a:latin typeface="Cambria Math" panose="02040503050406030204" pitchFamily="18" charset="0"/>
                      </a:rPr>
                      <m:t>𝜌</m:t>
                    </m:r>
                    <m:r>
                      <a:rPr lang="en-US" b="0" i="1" smtClean="0">
                        <a:latin typeface="Cambria Math" panose="02040503050406030204" pitchFamily="18" charset="0"/>
                      </a:rPr>
                      <m:t>≥0</m:t>
                    </m:r>
                  </m:oMath>
                </a14:m>
                <a:r>
                  <a:rPr lang="en-US" dirty="0"/>
                  <a:t> </a:t>
                </a:r>
                <a:r>
                  <a:rPr lang="en-US" dirty="0">
                    <a:latin typeface="Montserrat" panose="00000500000000000000" pitchFamily="2" charset="-52"/>
                  </a:rPr>
                  <a:t>– </a:t>
                </a:r>
                <a:r>
                  <a:rPr lang="ru-RU" dirty="0">
                    <a:latin typeface="Montserrat" panose="00000500000000000000" pitchFamily="2" charset="-52"/>
                  </a:rPr>
                  <a:t>расстояние от начала координат до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oMath>
                </a14:m>
                <a:r>
                  <a:rPr lang="ru-RU" dirty="0"/>
                  <a:t> </a:t>
                </a:r>
              </a:p>
              <a:p>
                <a14:m>
                  <m:oMath xmlns:m="http://schemas.openxmlformats.org/officeDocument/2006/math">
                    <m:r>
                      <a:rPr lang="ru-RU"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𝜑</m:t>
                    </m:r>
                    <m:r>
                      <a:rPr lang="en-US" b="0" i="1" smtClean="0">
                        <a:latin typeface="Cambria Math" panose="02040503050406030204" pitchFamily="18" charset="0"/>
                      </a:rPr>
                      <m:t>≤360</m:t>
                    </m:r>
                  </m:oMath>
                </a14:m>
                <a:r>
                  <a:rPr lang="en-US" dirty="0"/>
                  <a:t> </a:t>
                </a:r>
                <a:r>
                  <a:rPr lang="en-US" dirty="0">
                    <a:latin typeface="Montserrat" panose="00000500000000000000" pitchFamily="2" charset="-52"/>
                  </a:rPr>
                  <a:t>– </a:t>
                </a:r>
                <a:r>
                  <a:rPr lang="ru-RU" dirty="0">
                    <a:latin typeface="Montserrat" panose="00000500000000000000" pitchFamily="2" charset="-52"/>
                  </a:rPr>
                  <a:t>угол между осью </a:t>
                </a:r>
                <a14:m>
                  <m:oMath xmlns:m="http://schemas.openxmlformats.org/officeDocument/2006/math">
                    <m:r>
                      <a:rPr lang="en-US" i="1" dirty="0" smtClean="0">
                        <a:latin typeface="Cambria Math" panose="02040503050406030204" pitchFamily="18" charset="0"/>
                      </a:rPr>
                      <m:t>𝑂𝑋</m:t>
                    </m:r>
                  </m:oMath>
                </a14:m>
                <a:r>
                  <a:rPr lang="en-US" dirty="0"/>
                  <a:t> </a:t>
                </a:r>
                <a:r>
                  <a:rPr lang="ru-RU" dirty="0">
                    <a:latin typeface="Montserrat" panose="00000500000000000000" pitchFamily="2" charset="-52"/>
                  </a:rPr>
                  <a:t>и отрезком </a:t>
                </a:r>
                <a14:m>
                  <m:oMath xmlns:m="http://schemas.openxmlformats.org/officeDocument/2006/math">
                    <m:r>
                      <a:rPr lang="en-US" i="1" dirty="0" smtClean="0">
                        <a:latin typeface="Cambria Math" panose="02040503050406030204" pitchFamily="18" charset="0"/>
                      </a:rPr>
                      <m:t>𝑂𝐴</m:t>
                    </m:r>
                    <m:r>
                      <a:rPr lang="en-US" i="1" dirty="0" smtClean="0">
                        <a:latin typeface="Cambria Math" panose="02040503050406030204" pitchFamily="18" charset="0"/>
                      </a:rPr>
                      <m:t>’</m:t>
                    </m:r>
                  </m:oMath>
                </a14:m>
                <a:endParaRPr lang="en-US" dirty="0"/>
              </a:p>
              <a:p>
                <a14:m>
                  <m:oMath xmlns:m="http://schemas.openxmlformats.org/officeDocument/2006/math">
                    <m:r>
                      <a:rPr lang="en-US" i="1" dirty="0" smtClean="0">
                        <a:latin typeface="Cambria Math" panose="02040503050406030204" pitchFamily="18" charset="0"/>
                      </a:rPr>
                      <m:t>𝑧</m:t>
                    </m:r>
                  </m:oMath>
                </a14:m>
                <a:r>
                  <a:rPr lang="en-US" dirty="0"/>
                  <a:t> – </a:t>
                </a:r>
                <a:r>
                  <a:rPr lang="ru-RU" dirty="0">
                    <a:latin typeface="Montserrat" panose="00000500000000000000" pitchFamily="2" charset="-52"/>
                  </a:rPr>
                  <a:t>аппликата точки </a:t>
                </a:r>
                <a14:m>
                  <m:oMath xmlns:m="http://schemas.openxmlformats.org/officeDocument/2006/math">
                    <m:r>
                      <a:rPr lang="en-US" b="0" i="1" smtClean="0">
                        <a:latin typeface="Cambria Math" panose="02040503050406030204" pitchFamily="18" charset="0"/>
                      </a:rPr>
                      <m:t>𝐴</m:t>
                    </m:r>
                  </m:oMath>
                </a14:m>
                <a:r>
                  <a:rPr lang="en-US" dirty="0"/>
                  <a:t> </a:t>
                </a:r>
                <a:endParaRPr lang="ru-RU" dirty="0"/>
              </a:p>
            </p:txBody>
          </p:sp>
        </mc:Choice>
        <mc:Fallback xmlns="">
          <p:sp>
            <p:nvSpPr>
              <p:cNvPr id="9" name="TextBox 8">
                <a:extLst>
                  <a:ext uri="{FF2B5EF4-FFF2-40B4-BE49-F238E27FC236}">
                    <a16:creationId xmlns:a16="http://schemas.microsoft.com/office/drawing/2014/main" id="{3126F5E2-59DF-F826-81E7-CF6873B32151}"/>
                  </a:ext>
                </a:extLst>
              </p:cNvPr>
              <p:cNvSpPr txBox="1">
                <a:spLocks noRot="1" noChangeAspect="1" noMove="1" noResize="1" noEditPoints="1" noAdjustHandles="1" noChangeArrowheads="1" noChangeShapeType="1" noTextEdit="1"/>
              </p:cNvSpPr>
              <p:nvPr/>
            </p:nvSpPr>
            <p:spPr>
              <a:xfrm>
                <a:off x="157259" y="5726568"/>
                <a:ext cx="5950027" cy="923330"/>
              </a:xfrm>
              <a:prstGeom prst="rect">
                <a:avLst/>
              </a:prstGeom>
              <a:blipFill>
                <a:blip r:embed="rId4"/>
                <a:stretch>
                  <a:fillRect t="-3289" b="-921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0C01DC5-B3F8-3ABA-B75D-BBDEE519857B}"/>
                  </a:ext>
                </a:extLst>
              </p:cNvPr>
              <p:cNvSpPr txBox="1"/>
              <p:nvPr/>
            </p:nvSpPr>
            <p:spPr>
              <a:xfrm>
                <a:off x="6062141" y="5726568"/>
                <a:ext cx="5972600" cy="923330"/>
              </a:xfrm>
              <a:prstGeom prst="rect">
                <a:avLst/>
              </a:prstGeom>
              <a:noFill/>
            </p:spPr>
            <p:txBody>
              <a:bodyPr wrap="square" rtlCol="0">
                <a:spAutoFit/>
              </a:bodyPr>
              <a:lstStyle/>
              <a:p>
                <a:r>
                  <a:rPr lang="ru-RU" dirty="0">
                    <a:latin typeface="Montserrat" panose="00000500000000000000" pitchFamily="2" charset="-52"/>
                  </a:rPr>
                  <a:t>Удобна при анализе поверхностей, симметричных относительно какой-либо оси, если взять ось </a:t>
                </a:r>
                <a14:m>
                  <m:oMath xmlns:m="http://schemas.openxmlformats.org/officeDocument/2006/math">
                    <m:r>
                      <a:rPr lang="en-US" i="1" dirty="0" smtClean="0">
                        <a:latin typeface="Cambria Math" panose="02040503050406030204" pitchFamily="18" charset="0"/>
                      </a:rPr>
                      <m:t>𝑂𝑍</m:t>
                    </m:r>
                  </m:oMath>
                </a14:m>
                <a:r>
                  <a:rPr lang="en-US" dirty="0">
                    <a:latin typeface="Montserrat" panose="00000500000000000000" pitchFamily="2" charset="-52"/>
                  </a:rPr>
                  <a:t> </a:t>
                </a:r>
                <a:r>
                  <a:rPr lang="ru-RU" dirty="0">
                    <a:latin typeface="Montserrat" panose="00000500000000000000" pitchFamily="2" charset="-52"/>
                  </a:rPr>
                  <a:t>в качестве оси симметрии.</a:t>
                </a:r>
              </a:p>
            </p:txBody>
          </p:sp>
        </mc:Choice>
        <mc:Fallback xmlns="">
          <p:sp>
            <p:nvSpPr>
              <p:cNvPr id="10" name="TextBox 9">
                <a:extLst>
                  <a:ext uri="{FF2B5EF4-FFF2-40B4-BE49-F238E27FC236}">
                    <a16:creationId xmlns:a16="http://schemas.microsoft.com/office/drawing/2014/main" id="{00C01DC5-B3F8-3ABA-B75D-BBDEE519857B}"/>
                  </a:ext>
                </a:extLst>
              </p:cNvPr>
              <p:cNvSpPr txBox="1">
                <a:spLocks noRot="1" noChangeAspect="1" noMove="1" noResize="1" noEditPoints="1" noAdjustHandles="1" noChangeArrowheads="1" noChangeShapeType="1" noTextEdit="1"/>
              </p:cNvSpPr>
              <p:nvPr/>
            </p:nvSpPr>
            <p:spPr>
              <a:xfrm>
                <a:off x="6062141" y="5726568"/>
                <a:ext cx="5972600" cy="923330"/>
              </a:xfrm>
              <a:prstGeom prst="rect">
                <a:avLst/>
              </a:prstGeom>
              <a:blipFill>
                <a:blip r:embed="rId5"/>
                <a:stretch>
                  <a:fillRect l="-816" t="-2632" b="-9868"/>
                </a:stretch>
              </a:blipFill>
            </p:spPr>
            <p:txBody>
              <a:bodyPr/>
              <a:lstStyle/>
              <a:p>
                <a:r>
                  <a:rPr lang="ru-RU">
                    <a:noFill/>
                  </a:rPr>
                  <a:t> </a:t>
                </a:r>
              </a:p>
            </p:txBody>
          </p:sp>
        </mc:Fallback>
      </mc:AlternateContent>
    </p:spTree>
    <p:extLst>
      <p:ext uri="{BB962C8B-B14F-4D97-AF65-F5344CB8AC3E}">
        <p14:creationId xmlns:p14="http://schemas.microsoft.com/office/powerpoint/2010/main" val="2739490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FE19E-C22F-B9FC-BB7D-89C49C888B0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C16242-54DC-04D7-0090-1B0EE2C62D4F}"/>
              </a:ext>
            </a:extLst>
          </p:cNvPr>
          <p:cNvSpPr>
            <a:spLocks noGrp="1"/>
          </p:cNvSpPr>
          <p:nvPr>
            <p:ph type="title"/>
          </p:nvPr>
        </p:nvSpPr>
        <p:spPr/>
        <p:txBody>
          <a:bodyPr/>
          <a:lstStyle/>
          <a:p>
            <a:r>
              <a:rPr lang="ru-RU" dirty="0"/>
              <a:t>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a:t>
            </a:r>
          </a:p>
        </p:txBody>
      </p:sp>
      <p:pic>
        <p:nvPicPr>
          <p:cNvPr id="5" name="Рисунок 4">
            <a:extLst>
              <a:ext uri="{FF2B5EF4-FFF2-40B4-BE49-F238E27FC236}">
                <a16:creationId xmlns:a16="http://schemas.microsoft.com/office/drawing/2014/main" id="{D63CF11A-E6FB-FC6A-874C-589F512DFEC2}"/>
              </a:ext>
            </a:extLst>
          </p:cNvPr>
          <p:cNvPicPr>
            <a:picLocks noChangeAspect="1"/>
          </p:cNvPicPr>
          <p:nvPr/>
        </p:nvPicPr>
        <p:blipFill>
          <a:blip r:embed="rId2"/>
          <a:stretch>
            <a:fillRect/>
          </a:stretch>
        </p:blipFill>
        <p:spPr>
          <a:xfrm>
            <a:off x="685054" y="1218214"/>
            <a:ext cx="5410947" cy="3884782"/>
          </a:xfrm>
          <a:prstGeom prst="rect">
            <a:avLst/>
          </a:prstGeom>
        </p:spPr>
      </p:pic>
      <p:pic>
        <p:nvPicPr>
          <p:cNvPr id="7" name="Рисунок 6">
            <a:extLst>
              <a:ext uri="{FF2B5EF4-FFF2-40B4-BE49-F238E27FC236}">
                <a16:creationId xmlns:a16="http://schemas.microsoft.com/office/drawing/2014/main" id="{D921D99F-4C07-DF95-B972-4D7D62143C41}"/>
              </a:ext>
            </a:extLst>
          </p:cNvPr>
          <p:cNvPicPr>
            <a:picLocks noChangeAspect="1"/>
          </p:cNvPicPr>
          <p:nvPr/>
        </p:nvPicPr>
        <p:blipFill>
          <a:blip r:embed="rId3"/>
          <a:stretch>
            <a:fillRect/>
          </a:stretch>
        </p:blipFill>
        <p:spPr>
          <a:xfrm>
            <a:off x="6096000" y="1495699"/>
            <a:ext cx="5410946" cy="3607297"/>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531FE87-21C9-A6B0-1322-BAB09B27E08E}"/>
                  </a:ext>
                </a:extLst>
              </p:cNvPr>
              <p:cNvSpPr txBox="1"/>
              <p:nvPr/>
            </p:nvSpPr>
            <p:spPr>
              <a:xfrm>
                <a:off x="685053" y="5102996"/>
                <a:ext cx="10419777" cy="1477328"/>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≥0 </m:t>
                    </m:r>
                  </m:oMath>
                </a14:m>
                <a:r>
                  <a:rPr lang="en-US" dirty="0">
                    <a:latin typeface="Montserrat" panose="00000500000000000000" pitchFamily="2" charset="-52"/>
                  </a:rPr>
                  <a:t>– </a:t>
                </a:r>
                <a:r>
                  <a:rPr lang="ru-RU" dirty="0">
                    <a:latin typeface="Montserrat" panose="00000500000000000000" pitchFamily="2" charset="-52"/>
                  </a:rPr>
                  <a:t>расстояние от начала координат до заданной точки </a:t>
                </a:r>
                <a:r>
                  <a:rPr lang="en-US" dirty="0">
                    <a:latin typeface="Montserrat" panose="00000500000000000000" pitchFamily="2" charset="-52"/>
                  </a:rPr>
                  <a:t>A</a:t>
                </a:r>
                <a:r>
                  <a:rPr lang="ru-RU" dirty="0">
                    <a:latin typeface="Montserrat" panose="00000500000000000000" pitchFamily="2" charset="-52"/>
                  </a:rPr>
                  <a:t>.</a:t>
                </a:r>
                <a:endParaRPr lang="en-US" dirty="0">
                  <a:latin typeface="Montserrat" panose="00000500000000000000" pitchFamily="2" charset="-52"/>
                </a:endParaRPr>
              </a:p>
              <a:p>
                <a14:m>
                  <m:oMath xmlns:m="http://schemas.openxmlformats.org/officeDocument/2006/math">
                    <m:r>
                      <a:rPr lang="en-US" i="1" dirty="0" smtClean="0">
                        <a:latin typeface="Cambria Math" panose="02040503050406030204" pitchFamily="18" charset="0"/>
                      </a:rPr>
                      <m:t>𝜃</m:t>
                    </m:r>
                    <m:r>
                      <a:rPr lang="en-US" i="1" dirty="0">
                        <a:latin typeface="Cambria Math" panose="02040503050406030204" pitchFamily="18" charset="0"/>
                      </a:rPr>
                      <m:t> </m:t>
                    </m:r>
                  </m:oMath>
                </a14:m>
                <a:r>
                  <a:rPr lang="en-US" dirty="0">
                    <a:latin typeface="Montserrat" panose="00000500000000000000" pitchFamily="2" charset="-52"/>
                  </a:rPr>
                  <a:t>– </a:t>
                </a:r>
                <a:r>
                  <a:rPr lang="ru-RU" dirty="0">
                    <a:latin typeface="Montserrat" panose="00000500000000000000" pitchFamily="2" charset="-52"/>
                  </a:rPr>
                  <a:t>угол между осью </a:t>
                </a:r>
                <a:r>
                  <a:rPr lang="en-US" dirty="0">
                    <a:latin typeface="Montserrat" panose="00000500000000000000" pitchFamily="2" charset="-52"/>
                  </a:rPr>
                  <a:t>OZ </a:t>
                </a:r>
                <a:r>
                  <a:rPr lang="ru-RU" dirty="0">
                    <a:latin typeface="Montserrat" panose="00000500000000000000" pitchFamily="2" charset="-52"/>
                  </a:rPr>
                  <a:t>и отрезком, соединяющим начало координат и точку </a:t>
                </a:r>
                <a:r>
                  <a:rPr lang="en-US" dirty="0">
                    <a:latin typeface="Montserrat" panose="00000500000000000000" pitchFamily="2" charset="-52"/>
                  </a:rPr>
                  <a:t>A</a:t>
                </a:r>
                <a:r>
                  <a:rPr lang="ru-RU" dirty="0">
                    <a:latin typeface="Montserrat" panose="00000500000000000000" pitchFamily="2" charset="-52"/>
                  </a:rPr>
                  <a:t>.</a:t>
                </a:r>
                <a:endParaRPr lang="en-US" dirty="0">
                  <a:latin typeface="Montserrat" panose="00000500000000000000" pitchFamily="2" charset="-52"/>
                </a:endParaRPr>
              </a:p>
              <a:p>
                <a14:m>
                  <m:oMath xmlns:m="http://schemas.openxmlformats.org/officeDocument/2006/math">
                    <m:r>
                      <a:rPr lang="ru-RU"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𝜑</m:t>
                    </m:r>
                    <m:r>
                      <a:rPr lang="en-US" i="1">
                        <a:latin typeface="Cambria Math" panose="02040503050406030204" pitchFamily="18" charset="0"/>
                      </a:rPr>
                      <m:t>≤360</m:t>
                    </m:r>
                  </m:oMath>
                </a14:m>
                <a:r>
                  <a:rPr lang="en-US" dirty="0"/>
                  <a:t> </a:t>
                </a:r>
                <a:r>
                  <a:rPr lang="en-US" dirty="0">
                    <a:latin typeface="Montserrat" panose="00000500000000000000" pitchFamily="2" charset="-52"/>
                  </a:rPr>
                  <a:t>– </a:t>
                </a:r>
                <a:r>
                  <a:rPr lang="ru-RU" dirty="0">
                    <a:latin typeface="Montserrat" panose="00000500000000000000" pitchFamily="2" charset="-52"/>
                  </a:rPr>
                  <a:t>угол между осью </a:t>
                </a:r>
                <a14:m>
                  <m:oMath xmlns:m="http://schemas.openxmlformats.org/officeDocument/2006/math">
                    <m:r>
                      <a:rPr lang="en-US" i="1" dirty="0">
                        <a:latin typeface="Cambria Math" panose="02040503050406030204" pitchFamily="18" charset="0"/>
                      </a:rPr>
                      <m:t>𝑂𝑋</m:t>
                    </m:r>
                  </m:oMath>
                </a14:m>
                <a:r>
                  <a:rPr lang="en-US" dirty="0"/>
                  <a:t> </a:t>
                </a:r>
                <a:r>
                  <a:rPr lang="ru-RU" dirty="0">
                    <a:latin typeface="Montserrat" panose="00000500000000000000" pitchFamily="2" charset="-52"/>
                  </a:rPr>
                  <a:t>и проекцией на плоскость </a:t>
                </a:r>
                <a:r>
                  <a:rPr lang="en-US" dirty="0">
                    <a:latin typeface="Montserrat" panose="00000500000000000000" pitchFamily="2" charset="-52"/>
                  </a:rPr>
                  <a:t>XOY </a:t>
                </a:r>
                <a:r>
                  <a:rPr lang="ru-RU" dirty="0">
                    <a:latin typeface="Montserrat" panose="00000500000000000000" pitchFamily="2" charset="-52"/>
                  </a:rPr>
                  <a:t>отрезка. </a:t>
                </a:r>
              </a:p>
              <a:p>
                <a:r>
                  <a:rPr lang="en-US" dirty="0">
                    <a:latin typeface="Montserrat" panose="00000500000000000000" pitchFamily="2" charset="-52"/>
                  </a:rPr>
                  <a:t>A </a:t>
                </a:r>
                <a:r>
                  <a:rPr lang="ru-RU" dirty="0">
                    <a:latin typeface="Montserrat" panose="00000500000000000000" pitchFamily="2" charset="-52"/>
                  </a:rPr>
                  <a:t>с началом координат. Удобна при анализе поверхностей, имеющих сферическую симметрию, если поместить начало координат в центр симметрии.</a:t>
                </a:r>
              </a:p>
            </p:txBody>
          </p:sp>
        </mc:Choice>
        <mc:Fallback xmlns="">
          <p:sp>
            <p:nvSpPr>
              <p:cNvPr id="9" name="TextBox 8">
                <a:extLst>
                  <a:ext uri="{FF2B5EF4-FFF2-40B4-BE49-F238E27FC236}">
                    <a16:creationId xmlns:a16="http://schemas.microsoft.com/office/drawing/2014/main" id="{5531FE87-21C9-A6B0-1322-BAB09B27E08E}"/>
                  </a:ext>
                </a:extLst>
              </p:cNvPr>
              <p:cNvSpPr txBox="1">
                <a:spLocks noRot="1" noChangeAspect="1" noMove="1" noResize="1" noEditPoints="1" noAdjustHandles="1" noChangeArrowheads="1" noChangeShapeType="1" noTextEdit="1"/>
              </p:cNvSpPr>
              <p:nvPr/>
            </p:nvSpPr>
            <p:spPr>
              <a:xfrm>
                <a:off x="685053" y="5102996"/>
                <a:ext cx="10419777" cy="1477328"/>
              </a:xfrm>
              <a:prstGeom prst="rect">
                <a:avLst/>
              </a:prstGeom>
              <a:blipFill>
                <a:blip r:embed="rId4"/>
                <a:stretch>
                  <a:fillRect l="-468" t="-1653" b="-6198"/>
                </a:stretch>
              </a:blipFill>
            </p:spPr>
            <p:txBody>
              <a:bodyPr/>
              <a:lstStyle/>
              <a:p>
                <a:r>
                  <a:rPr lang="ru-RU">
                    <a:noFill/>
                  </a:rPr>
                  <a:t> </a:t>
                </a:r>
              </a:p>
            </p:txBody>
          </p:sp>
        </mc:Fallback>
      </mc:AlternateContent>
    </p:spTree>
    <p:extLst>
      <p:ext uri="{BB962C8B-B14F-4D97-AF65-F5344CB8AC3E}">
        <p14:creationId xmlns:p14="http://schemas.microsoft.com/office/powerpoint/2010/main" val="308268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32E40-0E76-C7B9-B668-DDB770130D6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E0B3E9-3E44-D588-B1E2-EE333C32F209}"/>
              </a:ext>
            </a:extLst>
          </p:cNvPr>
          <p:cNvSpPr>
            <a:spLocks noGrp="1"/>
          </p:cNvSpPr>
          <p:nvPr>
            <p:ph type="title"/>
          </p:nvPr>
        </p:nvSpPr>
        <p:spPr/>
        <p:txBody>
          <a:bodyPr/>
          <a:lstStyle/>
          <a:p>
            <a:r>
              <a:rPr lang="ru-RU" dirty="0"/>
              <a:t>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8D06C6E4-8AE4-3ADF-EA80-31CF4C857C67}"/>
                  </a:ext>
                </a:extLst>
              </p:cNvPr>
              <p:cNvSpPr>
                <a:spLocks noGrp="1"/>
              </p:cNvSpPr>
              <p:nvPr>
                <p:ph type="body" sz="quarter" idx="13"/>
              </p:nvPr>
            </p:nvSpPr>
            <p:spPr>
              <a:xfrm>
                <a:off x="838200" y="1248508"/>
                <a:ext cx="10515600" cy="848830"/>
              </a:xfrm>
            </p:spPr>
            <p:txBody>
              <a:bodyPr/>
              <a:lstStyle/>
              <a:p>
                <a:r>
                  <a:rPr lang="ru-RU" b="1" dirty="0"/>
                  <a:t>Траекторный способ </a:t>
                </a:r>
                <a:r>
                  <a:rPr lang="ru-RU" dirty="0"/>
                  <a:t>используется, когда траектория движения материальной точки известна заранее. Положение задаётся с помощью </a:t>
                </a:r>
                <a:r>
                  <a:rPr lang="ru-RU" b="1" dirty="0"/>
                  <a:t>дуговой координаты </a:t>
                </a:r>
                <a14:m>
                  <m:oMath xmlns:m="http://schemas.openxmlformats.org/officeDocument/2006/math">
                    <m:r>
                      <a:rPr lang="en-US" b="0" i="1" smtClean="0">
                        <a:latin typeface="Cambria Math" panose="02040503050406030204" pitchFamily="18" charset="0"/>
                      </a:rPr>
                      <m:t>𝑙</m:t>
                    </m:r>
                  </m:oMath>
                </a14:m>
                <a:r>
                  <a:rPr lang="en-US" dirty="0"/>
                  <a:t>, </a:t>
                </a:r>
                <a:r>
                  <a:rPr lang="ru-RU" dirty="0"/>
                  <a:t>отсчитываемой от выбранного на траектории начала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t>
                </a:r>
                <a:endParaRPr lang="ru-RU" dirty="0"/>
              </a:p>
            </p:txBody>
          </p:sp>
        </mc:Choice>
        <mc:Fallback xmlns="">
          <p:sp>
            <p:nvSpPr>
              <p:cNvPr id="3" name="Текст 2">
                <a:extLst>
                  <a:ext uri="{FF2B5EF4-FFF2-40B4-BE49-F238E27FC236}">
                    <a16:creationId xmlns:a16="http://schemas.microsoft.com/office/drawing/2014/main" id="{8D06C6E4-8AE4-3ADF-EA80-31CF4C857C67}"/>
                  </a:ext>
                </a:extLst>
              </p:cNvPr>
              <p:cNvSpPr>
                <a:spLocks noGrp="1" noRot="1" noChangeAspect="1" noMove="1" noResize="1" noEditPoints="1" noAdjustHandles="1" noChangeArrowheads="1" noChangeShapeType="1" noTextEdit="1"/>
              </p:cNvSpPr>
              <p:nvPr>
                <p:ph type="body" sz="quarter" idx="13"/>
              </p:nvPr>
            </p:nvSpPr>
            <p:spPr>
              <a:xfrm>
                <a:off x="838200" y="1248508"/>
                <a:ext cx="10515600" cy="848830"/>
              </a:xfrm>
              <a:blipFill>
                <a:blip r:embed="rId2"/>
                <a:stretch>
                  <a:fillRect l="-522" t="-7194" r="-464" b="-10072"/>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14E54D56-DDC2-F441-8631-D3BB2674CCBA}"/>
              </a:ext>
            </a:extLst>
          </p:cNvPr>
          <p:cNvPicPr>
            <a:picLocks noChangeAspect="1"/>
          </p:cNvPicPr>
          <p:nvPr/>
        </p:nvPicPr>
        <p:blipFill>
          <a:blip r:embed="rId3"/>
          <a:stretch>
            <a:fillRect/>
          </a:stretch>
        </p:blipFill>
        <p:spPr>
          <a:xfrm>
            <a:off x="7380805" y="2097337"/>
            <a:ext cx="3972996" cy="2568747"/>
          </a:xfrm>
          <a:prstGeom prst="rect">
            <a:avLst/>
          </a:prstGeom>
        </p:spPr>
      </p:pic>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4663F044-DF10-C557-A56E-9B2C8F2A3377}"/>
                  </a:ext>
                </a:extLst>
              </p:cNvPr>
              <p:cNvSpPr txBox="1">
                <a:spLocks/>
              </p:cNvSpPr>
              <p:nvPr/>
            </p:nvSpPr>
            <p:spPr>
              <a:xfrm>
                <a:off x="838199" y="2097338"/>
                <a:ext cx="6461761" cy="2143424"/>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𝜏</m:t>
                        </m:r>
                      </m:e>
                    </m:acc>
                  </m:oMath>
                </a14:m>
                <a:r>
                  <a:rPr lang="en-US" dirty="0"/>
                  <a:t> - </a:t>
                </a:r>
                <a:r>
                  <a:rPr lang="ru-RU" dirty="0"/>
                  <a:t>единичный вектор, направленный по касательной к траектории в сторону движения материальной точки.</a:t>
                </a:r>
              </a:p>
              <a:p>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𝑛</m:t>
                        </m:r>
                      </m:e>
                    </m:acc>
                  </m:oMath>
                </a14:m>
                <a:r>
                  <a:rPr lang="en-US" dirty="0"/>
                  <a:t> - </a:t>
                </a:r>
                <a:r>
                  <a:rPr lang="ru-RU" dirty="0"/>
                  <a:t>единичный вектор, перпендикулярный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𝜏</m:t>
                        </m:r>
                      </m:e>
                    </m:acc>
                  </m:oMath>
                </a14:m>
                <a:r>
                  <a:rPr lang="ru-RU" dirty="0"/>
                  <a:t>.</a:t>
                </a:r>
              </a:p>
              <a:p>
                <a:r>
                  <a:rPr lang="ru-RU" b="1" dirty="0"/>
                  <a:t>Скорость</a:t>
                </a:r>
                <a:r>
                  <a:rPr lang="ru-RU" dirty="0"/>
                  <a:t> материальной точки:</a:t>
                </a:r>
                <a:endParaRPr lang="en-US" i="1" dirty="0">
                  <a:latin typeface="Cambria Math" panose="02040503050406030204" pitchFamily="18" charset="0"/>
                </a:endParaRPr>
              </a:p>
              <a:p>
                <a:endParaRPr lang="en-US" dirty="0"/>
              </a:p>
              <a:p>
                <a:endParaRPr lang="ru-RU" dirty="0"/>
              </a:p>
            </p:txBody>
          </p:sp>
        </mc:Choice>
        <mc:Fallback xmlns="">
          <p:sp>
            <p:nvSpPr>
              <p:cNvPr id="6" name="Текст 2">
                <a:extLst>
                  <a:ext uri="{FF2B5EF4-FFF2-40B4-BE49-F238E27FC236}">
                    <a16:creationId xmlns:a16="http://schemas.microsoft.com/office/drawing/2014/main" id="{4663F044-DF10-C557-A56E-9B2C8F2A3377}"/>
                  </a:ext>
                </a:extLst>
              </p:cNvPr>
              <p:cNvSpPr txBox="1">
                <a:spLocks noRot="1" noChangeAspect="1" noMove="1" noResize="1" noEditPoints="1" noAdjustHandles="1" noChangeArrowheads="1" noChangeShapeType="1" noTextEdit="1"/>
              </p:cNvSpPr>
              <p:nvPr/>
            </p:nvSpPr>
            <p:spPr>
              <a:xfrm>
                <a:off x="838199" y="2097338"/>
                <a:ext cx="6461761" cy="2143424"/>
              </a:xfrm>
              <a:prstGeom prst="rect">
                <a:avLst/>
              </a:prstGeom>
              <a:blipFill>
                <a:blip r:embed="rId4"/>
                <a:stretch>
                  <a:fillRect l="-754" t="-5114" r="-754"/>
                </a:stretch>
              </a:blipFill>
            </p:spPr>
            <p:txBody>
              <a:bodyPr/>
              <a:lstStyle/>
              <a:p>
                <a:r>
                  <a:rPr lang="ru-RU">
                    <a:noFill/>
                  </a:rPr>
                  <a:t> </a:t>
                </a:r>
              </a:p>
            </p:txBody>
          </p:sp>
        </mc:Fallback>
      </mc:AlternateContent>
      <p:pic>
        <p:nvPicPr>
          <p:cNvPr id="9" name="Рисунок 8">
            <a:extLst>
              <a:ext uri="{FF2B5EF4-FFF2-40B4-BE49-F238E27FC236}">
                <a16:creationId xmlns:a16="http://schemas.microsoft.com/office/drawing/2014/main" id="{888E6CC6-B09B-C9EF-8F71-AEF4293F6D8A}"/>
              </a:ext>
            </a:extLst>
          </p:cNvPr>
          <p:cNvPicPr>
            <a:picLocks noChangeAspect="1"/>
          </p:cNvPicPr>
          <p:nvPr/>
        </p:nvPicPr>
        <p:blipFill>
          <a:blip r:embed="rId5"/>
          <a:stretch>
            <a:fillRect/>
          </a:stretch>
        </p:blipFill>
        <p:spPr>
          <a:xfrm>
            <a:off x="2598996" y="3689884"/>
            <a:ext cx="3972996" cy="1101755"/>
          </a:xfrm>
          <a:prstGeom prst="rect">
            <a:avLst/>
          </a:prstGeom>
        </p:spPr>
      </p:pic>
      <mc:AlternateContent xmlns:mc="http://schemas.openxmlformats.org/markup-compatibility/2006" xmlns:a14="http://schemas.microsoft.com/office/drawing/2010/main">
        <mc:Choice Requires="a14">
          <p:sp>
            <p:nvSpPr>
              <p:cNvPr id="10" name="Текст 2">
                <a:extLst>
                  <a:ext uri="{FF2B5EF4-FFF2-40B4-BE49-F238E27FC236}">
                    <a16:creationId xmlns:a16="http://schemas.microsoft.com/office/drawing/2014/main" id="{E3B9C411-9F44-3FA2-6705-7DCAE0D70F8C}"/>
                  </a:ext>
                </a:extLst>
              </p:cNvPr>
              <p:cNvSpPr txBox="1">
                <a:spLocks/>
              </p:cNvSpPr>
              <p:nvPr/>
            </p:nvSpPr>
            <p:spPr>
              <a:xfrm>
                <a:off x="838198" y="4865602"/>
                <a:ext cx="10515600" cy="371878"/>
              </a:xfrm>
              <a:prstGeom prst="rect">
                <a:avLst/>
              </a:prstGeom>
            </p:spPr>
            <p:txBody>
              <a:bodyPr>
                <a:normAutofit lnSpcReduction="10000"/>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Модуль вектора скорости равен производной от пути по времени, т.к. </a:t>
                </a:r>
                <a14:m>
                  <m:oMath xmlns:m="http://schemas.openxmlformats.org/officeDocument/2006/math">
                    <m:r>
                      <a:rPr lang="en-US" b="0" i="1" smtClean="0">
                        <a:latin typeface="Cambria Math" panose="02040503050406030204" pitchFamily="18" charset="0"/>
                      </a:rPr>
                      <m:t>𝑑𝑙</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𝑆</m:t>
                            </m:r>
                          </m:e>
                        </m:acc>
                      </m:e>
                    </m:d>
                  </m:oMath>
                </a14:m>
                <a:r>
                  <a:rPr lang="en-US" dirty="0"/>
                  <a:t>.</a:t>
                </a:r>
              </a:p>
            </p:txBody>
          </p:sp>
        </mc:Choice>
        <mc:Fallback xmlns="">
          <p:sp>
            <p:nvSpPr>
              <p:cNvPr id="10" name="Текст 2">
                <a:extLst>
                  <a:ext uri="{FF2B5EF4-FFF2-40B4-BE49-F238E27FC236}">
                    <a16:creationId xmlns:a16="http://schemas.microsoft.com/office/drawing/2014/main" id="{E3B9C411-9F44-3FA2-6705-7DCAE0D70F8C}"/>
                  </a:ext>
                </a:extLst>
              </p:cNvPr>
              <p:cNvSpPr txBox="1">
                <a:spLocks noRot="1" noChangeAspect="1" noMove="1" noResize="1" noEditPoints="1" noAdjustHandles="1" noChangeArrowheads="1" noChangeShapeType="1" noTextEdit="1"/>
              </p:cNvSpPr>
              <p:nvPr/>
            </p:nvSpPr>
            <p:spPr>
              <a:xfrm>
                <a:off x="838198" y="4865602"/>
                <a:ext cx="10515600" cy="371878"/>
              </a:xfrm>
              <a:prstGeom prst="rect">
                <a:avLst/>
              </a:prstGeom>
              <a:blipFill>
                <a:blip r:embed="rId6"/>
                <a:stretch>
                  <a:fillRect l="-464" t="-37705" b="-21311"/>
                </a:stretch>
              </a:blipFill>
            </p:spPr>
            <p:txBody>
              <a:bodyPr/>
              <a:lstStyle/>
              <a:p>
                <a:r>
                  <a:rPr lang="ru-RU">
                    <a:noFill/>
                  </a:rPr>
                  <a:t> </a:t>
                </a:r>
              </a:p>
            </p:txBody>
          </p:sp>
        </mc:Fallback>
      </mc:AlternateContent>
      <p:pic>
        <p:nvPicPr>
          <p:cNvPr id="14" name="Рисунок 13">
            <a:extLst>
              <a:ext uri="{FF2B5EF4-FFF2-40B4-BE49-F238E27FC236}">
                <a16:creationId xmlns:a16="http://schemas.microsoft.com/office/drawing/2014/main" id="{EA6F8A55-1066-8249-E57B-BECD19540B19}"/>
              </a:ext>
            </a:extLst>
          </p:cNvPr>
          <p:cNvPicPr>
            <a:picLocks noChangeAspect="1"/>
          </p:cNvPicPr>
          <p:nvPr/>
        </p:nvPicPr>
        <p:blipFill>
          <a:blip r:embed="rId7"/>
          <a:stretch>
            <a:fillRect/>
          </a:stretch>
        </p:blipFill>
        <p:spPr>
          <a:xfrm>
            <a:off x="6903720" y="5237481"/>
            <a:ext cx="3623309" cy="1041622"/>
          </a:xfrm>
          <a:prstGeom prst="rect">
            <a:avLst/>
          </a:prstGeom>
        </p:spPr>
      </p:pic>
      <p:pic>
        <p:nvPicPr>
          <p:cNvPr id="16" name="Рисунок 15">
            <a:extLst>
              <a:ext uri="{FF2B5EF4-FFF2-40B4-BE49-F238E27FC236}">
                <a16:creationId xmlns:a16="http://schemas.microsoft.com/office/drawing/2014/main" id="{9BBB9A0B-8F23-41A1-6DB0-0EB88E323159}"/>
              </a:ext>
            </a:extLst>
          </p:cNvPr>
          <p:cNvPicPr>
            <a:picLocks noChangeAspect="1"/>
          </p:cNvPicPr>
          <p:nvPr/>
        </p:nvPicPr>
        <p:blipFill>
          <a:blip r:embed="rId8"/>
          <a:stretch>
            <a:fillRect/>
          </a:stretch>
        </p:blipFill>
        <p:spPr>
          <a:xfrm>
            <a:off x="1432559" y="5237481"/>
            <a:ext cx="4481600" cy="1041622"/>
          </a:xfrm>
          <a:prstGeom prst="rect">
            <a:avLst/>
          </a:prstGeom>
        </p:spPr>
      </p:pic>
    </p:spTree>
    <p:extLst>
      <p:ext uri="{BB962C8B-B14F-4D97-AF65-F5344CB8AC3E}">
        <p14:creationId xmlns:p14="http://schemas.microsoft.com/office/powerpoint/2010/main" val="1278227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43A0C-11FB-542C-B674-19FDC8790A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270156-E064-7A68-613E-F43CD361D358}"/>
              </a:ext>
            </a:extLst>
          </p:cNvPr>
          <p:cNvSpPr>
            <a:spLocks noGrp="1"/>
          </p:cNvSpPr>
          <p:nvPr>
            <p:ph type="title"/>
          </p:nvPr>
        </p:nvSpPr>
        <p:spPr/>
        <p:txBody>
          <a:bodyPr/>
          <a:lstStyle/>
          <a:p>
            <a:r>
              <a:rPr lang="ru-RU" dirty="0"/>
              <a:t>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a:t>
            </a:r>
          </a:p>
        </p:txBody>
      </p:sp>
      <p:sp>
        <p:nvSpPr>
          <p:cNvPr id="3" name="Текст 2">
            <a:extLst>
              <a:ext uri="{FF2B5EF4-FFF2-40B4-BE49-F238E27FC236}">
                <a16:creationId xmlns:a16="http://schemas.microsoft.com/office/drawing/2014/main" id="{B1D1BC6C-5692-DD3C-F7C1-241FEB4C1099}"/>
              </a:ext>
            </a:extLst>
          </p:cNvPr>
          <p:cNvSpPr>
            <a:spLocks noGrp="1"/>
          </p:cNvSpPr>
          <p:nvPr>
            <p:ph type="body" sz="quarter" idx="13"/>
          </p:nvPr>
        </p:nvSpPr>
        <p:spPr>
          <a:xfrm>
            <a:off x="838200" y="1248508"/>
            <a:ext cx="10515600" cy="2523257"/>
          </a:xfrm>
        </p:spPr>
        <p:txBody>
          <a:bodyPr>
            <a:normAutofit/>
          </a:bodyPr>
          <a:lstStyle/>
          <a:p>
            <a:r>
              <a:rPr lang="ru-RU" dirty="0"/>
              <a:t>Возьмём производную от скорости, получим </a:t>
            </a:r>
            <a:r>
              <a:rPr lang="ru-RU" b="1" dirty="0"/>
              <a:t>ускорение материальной точки</a:t>
            </a:r>
            <a:r>
              <a:rPr lang="ru-RU" dirty="0"/>
              <a:t>:</a:t>
            </a:r>
          </a:p>
          <a:p>
            <a:endParaRPr lang="ru-RU" dirty="0"/>
          </a:p>
          <a:p>
            <a:endParaRPr lang="ru-RU" dirty="0"/>
          </a:p>
          <a:p>
            <a:endParaRPr lang="ru-RU" dirty="0"/>
          </a:p>
          <a:p>
            <a:endParaRPr lang="ru-RU" dirty="0"/>
          </a:p>
          <a:p>
            <a:r>
              <a:rPr lang="ru-RU" dirty="0"/>
              <a:t>Выразим нормальное ускорение материальной точки через радиус кривизны её траектории.</a:t>
            </a:r>
          </a:p>
        </p:txBody>
      </p:sp>
      <p:pic>
        <p:nvPicPr>
          <p:cNvPr id="7" name="Рисунок 6">
            <a:extLst>
              <a:ext uri="{FF2B5EF4-FFF2-40B4-BE49-F238E27FC236}">
                <a16:creationId xmlns:a16="http://schemas.microsoft.com/office/drawing/2014/main" id="{E29479FB-4562-6074-085A-D3FE4BD83175}"/>
              </a:ext>
            </a:extLst>
          </p:cNvPr>
          <p:cNvPicPr>
            <a:picLocks noChangeAspect="1"/>
          </p:cNvPicPr>
          <p:nvPr/>
        </p:nvPicPr>
        <p:blipFill>
          <a:blip r:embed="rId2"/>
          <a:srcRect r="462" b="2977"/>
          <a:stretch>
            <a:fillRect/>
          </a:stretch>
        </p:blipFill>
        <p:spPr>
          <a:xfrm>
            <a:off x="3182867" y="1548715"/>
            <a:ext cx="5826266" cy="1569467"/>
          </a:xfrm>
          <a:prstGeom prst="rect">
            <a:avLst/>
          </a:prstGeom>
        </p:spPr>
      </p:pic>
      <p:pic>
        <p:nvPicPr>
          <p:cNvPr id="11" name="Рисунок 10">
            <a:extLst>
              <a:ext uri="{FF2B5EF4-FFF2-40B4-BE49-F238E27FC236}">
                <a16:creationId xmlns:a16="http://schemas.microsoft.com/office/drawing/2014/main" id="{8648C6D1-1410-C986-F983-A03485DCA78E}"/>
              </a:ext>
            </a:extLst>
          </p:cNvPr>
          <p:cNvPicPr>
            <a:picLocks noChangeAspect="1"/>
          </p:cNvPicPr>
          <p:nvPr/>
        </p:nvPicPr>
        <p:blipFill>
          <a:blip r:embed="rId3"/>
          <a:stretch>
            <a:fillRect/>
          </a:stretch>
        </p:blipFill>
        <p:spPr>
          <a:xfrm>
            <a:off x="820667" y="3771765"/>
            <a:ext cx="3583693" cy="2731121"/>
          </a:xfrm>
          <a:prstGeom prst="rect">
            <a:avLst/>
          </a:prstGeom>
        </p:spPr>
      </p:pic>
      <mc:AlternateContent xmlns:mc="http://schemas.openxmlformats.org/markup-compatibility/2006" xmlns:a14="http://schemas.microsoft.com/office/drawing/2010/main">
        <mc:Choice Requires="a14">
          <p:sp>
            <p:nvSpPr>
              <p:cNvPr id="12" name="Текст 2">
                <a:extLst>
                  <a:ext uri="{FF2B5EF4-FFF2-40B4-BE49-F238E27FC236}">
                    <a16:creationId xmlns:a16="http://schemas.microsoft.com/office/drawing/2014/main" id="{26F0F4B6-4F80-A9DA-83DD-29474064C348}"/>
                  </a:ext>
                </a:extLst>
              </p:cNvPr>
              <p:cNvSpPr txBox="1">
                <a:spLocks/>
              </p:cNvSpPr>
              <p:nvPr/>
            </p:nvSpPr>
            <p:spPr>
              <a:xfrm>
                <a:off x="4404360" y="3771765"/>
                <a:ext cx="6949440" cy="2523257"/>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Орт </a:t>
                </a:r>
                <a14:m>
                  <m:oMath xmlns:m="http://schemas.openxmlformats.org/officeDocument/2006/math">
                    <m:acc>
                      <m:accPr>
                        <m:chr m:val="⃗"/>
                        <m:ctrlPr>
                          <a:rPr lang="ru-RU" i="1" smtClean="0">
                            <a:latin typeface="Cambria Math" panose="02040503050406030204" pitchFamily="18" charset="0"/>
                          </a:rPr>
                        </m:ctrlPr>
                      </m:accPr>
                      <m:e>
                        <m:r>
                          <a:rPr lang="en-US" b="0" i="1" smtClean="0">
                            <a:latin typeface="Cambria Math" panose="02040503050406030204" pitchFamily="18" charset="0"/>
                          </a:rPr>
                          <m:t>𝑛</m:t>
                        </m:r>
                      </m:e>
                    </m:acc>
                  </m:oMath>
                </a14:m>
                <a:r>
                  <a:rPr lang="en-US" dirty="0"/>
                  <a:t> </a:t>
                </a:r>
                <a:r>
                  <a:rPr lang="ru-RU" dirty="0"/>
                  <a:t>и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𝜏</m:t>
                        </m:r>
                      </m:e>
                    </m:acc>
                  </m:oMath>
                </a14:m>
                <a:r>
                  <a:rPr lang="ru-RU" dirty="0"/>
                  <a:t> лежат в одной плоскости и имеют одинаковый угол поворота, откуда: </a:t>
                </a:r>
                <a14:m>
                  <m:oMath xmlns:m="http://schemas.openxmlformats.org/officeDocument/2006/math">
                    <m:r>
                      <a:rPr lang="en-US" b="0" i="1" smtClean="0">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𝜏</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𝜏</m:t>
                            </m:r>
                          </m:e>
                        </m:acc>
                      </m:e>
                    </m:d>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𝑛</m:t>
                        </m:r>
                      </m:e>
                    </m:acc>
                  </m:oMath>
                </a14:m>
                <a:r>
                  <a:rPr lang="ru-RU" dirty="0"/>
                  <a:t>.</a:t>
                </a:r>
                <a:endParaRPr lang="en-US" dirty="0"/>
              </a:p>
              <a:p>
                <a:r>
                  <a:rPr lang="ru-RU" dirty="0"/>
                  <a:t>Вектор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𝜏</m:t>
                        </m:r>
                      </m:e>
                    </m:acc>
                  </m:oMath>
                </a14:m>
                <a:r>
                  <a:rPr lang="ru-RU" dirty="0"/>
                  <a:t> единичный (</a:t>
                </a:r>
                <a14:m>
                  <m:oMath xmlns:m="http://schemas.openxmlformats.org/officeDocument/2006/math">
                    <m:d>
                      <m:dPr>
                        <m:begChr m:val="|"/>
                        <m:endChr m:val="|"/>
                        <m:ctrlPr>
                          <a:rPr lang="en-US" b="0"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𝜏</m:t>
                            </m:r>
                          </m:e>
                        </m:acc>
                      </m:e>
                    </m:d>
                    <m:r>
                      <a:rPr lang="en-US" b="0" i="1" smtClean="0">
                        <a:latin typeface="Cambria Math" panose="02040503050406030204" pitchFamily="18" charset="0"/>
                      </a:rPr>
                      <m:t>=1</m:t>
                    </m:r>
                  </m:oMath>
                </a14:m>
                <a:r>
                  <a:rPr lang="ru-RU" dirty="0"/>
                  <a:t>)</a:t>
                </a:r>
                <a:r>
                  <a:rPr lang="en-US" dirty="0"/>
                  <a:t>, </a:t>
                </a:r>
                <a:r>
                  <a:rPr lang="ru-RU" dirty="0"/>
                  <a:t>его изменение зависит только от угла поворота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𝜏</m:t>
                            </m:r>
                          </m:e>
                        </m:acc>
                      </m:e>
                    </m:d>
                    <m:r>
                      <a:rPr lang="ru-RU"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𝜑</m:t>
                    </m:r>
                  </m:oMath>
                </a14:m>
                <a:r>
                  <a:rPr lang="ru-RU" dirty="0"/>
                  <a:t>.</a:t>
                </a:r>
                <a:endParaRPr lang="en-US"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𝜏</m:t>
                          </m:r>
                        </m:e>
                      </m:acc>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𝑑</m:t>
                          </m:r>
                          <m:r>
                            <a:rPr lang="en-US" b="0" i="1" smtClean="0">
                              <a:latin typeface="Cambria Math" panose="02040503050406030204" pitchFamily="18" charset="0"/>
                            </a:rPr>
                            <m:t>𝜑</m:t>
                          </m:r>
                        </m:e>
                      </m:d>
                      <m:acc>
                        <m:accPr>
                          <m:chr m:val="⃗"/>
                          <m:ctrlPr>
                            <a:rPr lang="en-US" i="1">
                              <a:latin typeface="Cambria Math" panose="02040503050406030204" pitchFamily="18" charset="0"/>
                            </a:rPr>
                          </m:ctrlPr>
                        </m:accPr>
                        <m:e>
                          <m:r>
                            <a:rPr lang="en-US" i="1">
                              <a:latin typeface="Cambria Math" panose="02040503050406030204" pitchFamily="18" charset="0"/>
                            </a:rPr>
                            <m:t>𝑛</m:t>
                          </m:r>
                        </m:e>
                      </m:acc>
                    </m:oMath>
                  </m:oMathPara>
                </a14:m>
                <a:endParaRPr lang="en-US" dirty="0"/>
              </a:p>
              <a:p>
                <a:r>
                  <a:rPr lang="ru-RU" dirty="0"/>
                  <a:t>Поделим на </a:t>
                </a:r>
                <a14:m>
                  <m:oMath xmlns:m="http://schemas.openxmlformats.org/officeDocument/2006/math">
                    <m:r>
                      <a:rPr lang="en-US" b="0" i="1" smtClean="0">
                        <a:latin typeface="Cambria Math" panose="02040503050406030204" pitchFamily="18" charset="0"/>
                      </a:rPr>
                      <m:t>𝑑𝑡</m:t>
                    </m:r>
                  </m:oMath>
                </a14:m>
                <a:r>
                  <a:rPr lang="ru-RU" dirty="0"/>
                  <a:t>, чтобы получить производную</a:t>
                </a:r>
                <a:endParaRPr lang="en-US" dirty="0"/>
              </a:p>
              <a:p>
                <a:pPr/>
                <a14:m>
                  <m:oMathPara xmlns:m="http://schemas.openxmlformats.org/officeDocument/2006/math">
                    <m:oMathParaPr>
                      <m:jc m:val="centerGroup"/>
                    </m:oMathParaPr>
                    <m:oMath xmlns:m="http://schemas.openxmlformats.org/officeDocument/2006/math">
                      <m:f>
                        <m:fPr>
                          <m:ctrlPr>
                            <a:rPr lang="ru-RU" b="0" i="1" smtClean="0">
                              <a:latin typeface="Cambria Math" panose="02040503050406030204" pitchFamily="18" charset="0"/>
                            </a:rPr>
                          </m:ctrlPr>
                        </m:fPr>
                        <m:num>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𝜏</m:t>
                              </m:r>
                            </m:e>
                          </m:acc>
                        </m:num>
                        <m:den>
                          <m:r>
                            <a:rPr lang="en-US" b="0" i="1" smtClean="0">
                              <a:latin typeface="Cambria Math" panose="02040503050406030204" pitchFamily="18" charset="0"/>
                            </a:rPr>
                            <m:t>𝑑𝑡</m:t>
                          </m:r>
                        </m:den>
                      </m:f>
                      <m:r>
                        <a:rPr lang="en-US" i="1">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panose="02040503050406030204" pitchFamily="18" charset="0"/>
                                </a:rPr>
                                <m:t>𝑑</m:t>
                              </m:r>
                              <m:r>
                                <a:rPr lang="en-US" i="1">
                                  <a:latin typeface="Cambria Math" panose="02040503050406030204" pitchFamily="18" charset="0"/>
                                </a:rPr>
                                <m:t>𝜑</m:t>
                              </m:r>
                            </m:e>
                          </m:d>
                        </m:num>
                        <m:den>
                          <m:r>
                            <a:rPr lang="en-US" b="0" i="1" smtClean="0">
                              <a:latin typeface="Cambria Math" panose="02040503050406030204" pitchFamily="18" charset="0"/>
                            </a:rPr>
                            <m:t>𝑑𝑡</m:t>
                          </m:r>
                        </m:den>
                      </m:f>
                      <m:acc>
                        <m:accPr>
                          <m:chr m:val="⃗"/>
                          <m:ctrlPr>
                            <a:rPr lang="en-US" i="1">
                              <a:latin typeface="Cambria Math" panose="02040503050406030204" pitchFamily="18" charset="0"/>
                            </a:rPr>
                          </m:ctrlPr>
                        </m:accPr>
                        <m:e>
                          <m:r>
                            <a:rPr lang="en-US" i="1">
                              <a:latin typeface="Cambria Math" panose="02040503050406030204" pitchFamily="18" charset="0"/>
                            </a:rPr>
                            <m:t>𝑛</m:t>
                          </m:r>
                        </m:e>
                      </m:acc>
                    </m:oMath>
                  </m:oMathPara>
                </a14:m>
                <a:endParaRPr lang="en-US" dirty="0"/>
              </a:p>
              <a:p>
                <a:endParaRPr lang="ru-RU" dirty="0"/>
              </a:p>
            </p:txBody>
          </p:sp>
        </mc:Choice>
        <mc:Fallback xmlns="">
          <p:sp>
            <p:nvSpPr>
              <p:cNvPr id="12" name="Текст 2">
                <a:extLst>
                  <a:ext uri="{FF2B5EF4-FFF2-40B4-BE49-F238E27FC236}">
                    <a16:creationId xmlns:a16="http://schemas.microsoft.com/office/drawing/2014/main" id="{26F0F4B6-4F80-A9DA-83DD-29474064C348}"/>
                  </a:ext>
                </a:extLst>
              </p:cNvPr>
              <p:cNvSpPr txBox="1">
                <a:spLocks noRot="1" noChangeAspect="1" noMove="1" noResize="1" noEditPoints="1" noAdjustHandles="1" noChangeArrowheads="1" noChangeShapeType="1" noTextEdit="1"/>
              </p:cNvSpPr>
              <p:nvPr/>
            </p:nvSpPr>
            <p:spPr>
              <a:xfrm>
                <a:off x="4404360" y="3771765"/>
                <a:ext cx="6949440" cy="2523257"/>
              </a:xfrm>
              <a:prstGeom prst="rect">
                <a:avLst/>
              </a:prstGeom>
              <a:blipFill>
                <a:blip r:embed="rId4"/>
                <a:stretch>
                  <a:fillRect l="-789" t="-4348" r="-702"/>
                </a:stretch>
              </a:blipFill>
            </p:spPr>
            <p:txBody>
              <a:bodyPr/>
              <a:lstStyle/>
              <a:p>
                <a:r>
                  <a:rPr lang="ru-RU">
                    <a:noFill/>
                  </a:rPr>
                  <a:t> </a:t>
                </a:r>
              </a:p>
            </p:txBody>
          </p:sp>
        </mc:Fallback>
      </mc:AlternateContent>
    </p:spTree>
    <p:extLst>
      <p:ext uri="{BB962C8B-B14F-4D97-AF65-F5344CB8AC3E}">
        <p14:creationId xmlns:p14="http://schemas.microsoft.com/office/powerpoint/2010/main" val="3014582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E926B-829F-331F-AA60-EDD8E56D25C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059C44-953E-ADE0-9BE4-9A9E9D024D83}"/>
              </a:ext>
            </a:extLst>
          </p:cNvPr>
          <p:cNvSpPr>
            <a:spLocks noGrp="1"/>
          </p:cNvSpPr>
          <p:nvPr>
            <p:ph type="title"/>
          </p:nvPr>
        </p:nvSpPr>
        <p:spPr/>
        <p:txBody>
          <a:bodyPr/>
          <a:lstStyle/>
          <a:p>
            <a:r>
              <a:rPr lang="ru-RU" dirty="0"/>
              <a:t>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CCFD09F6-5371-F161-782E-12C09ED60011}"/>
                  </a:ext>
                </a:extLst>
              </p:cNvPr>
              <p:cNvSpPr>
                <a:spLocks noGrp="1"/>
              </p:cNvSpPr>
              <p:nvPr>
                <p:ph type="body" sz="quarter" idx="13"/>
              </p:nvPr>
            </p:nvSpPr>
            <p:spPr>
              <a:xfrm>
                <a:off x="838200" y="1248508"/>
                <a:ext cx="10515600" cy="4740812"/>
              </a:xfrm>
            </p:spPr>
            <p:txBody>
              <a:bodyPr>
                <a:normAutofit/>
              </a:bodyPr>
              <a:lstStyle/>
              <a:p>
                <a:r>
                  <a:rPr lang="ru-RU" b="1" dirty="0"/>
                  <a:t>Радиус кривизны </a:t>
                </a:r>
                <a:r>
                  <a:rPr lang="ru-RU" dirty="0"/>
                  <a:t>– радиус окружности, аппроксимирующей траекторию в данной точке. Для дуги окружности радиуса </a:t>
                </a:r>
                <a14:m>
                  <m:oMath xmlns:m="http://schemas.openxmlformats.org/officeDocument/2006/math">
                    <m:r>
                      <a:rPr lang="ru-RU" i="1" dirty="0" smtClean="0">
                        <a:latin typeface="Cambria Math" panose="02040503050406030204" pitchFamily="18" charset="0"/>
                      </a:rPr>
                      <m:t>𝑅</m:t>
                    </m:r>
                  </m:oMath>
                </a14:m>
                <a:r>
                  <a:rPr lang="ru-RU" dirty="0"/>
                  <a:t> угол поворота в радианах равен отношению длины дуги к радиусу: </a:t>
                </a:r>
                <a14:m>
                  <m:oMath xmlns:m="http://schemas.openxmlformats.org/officeDocument/2006/math">
                    <m:r>
                      <a:rPr lang="ru-RU" i="1" dirty="0" smtClean="0">
                        <a:latin typeface="Cambria Math" panose="02040503050406030204" pitchFamily="18" charset="0"/>
                      </a:rPr>
                      <m:t>𝜑</m:t>
                    </m:r>
                    <m:r>
                      <a:rPr lang="ru-RU" i="1" dirty="0" smtClean="0">
                        <a:latin typeface="Cambria Math" panose="02040503050406030204" pitchFamily="18" charset="0"/>
                      </a:rPr>
                      <m:t>=</m:t>
                    </m:r>
                    <m:f>
                      <m:fPr>
                        <m:ctrlPr>
                          <a:rPr lang="ru-RU" i="1" dirty="0" smtClean="0">
                            <a:latin typeface="Cambria Math" panose="02040503050406030204" pitchFamily="18" charset="0"/>
                          </a:rPr>
                        </m:ctrlPr>
                      </m:fPr>
                      <m:num>
                        <m:r>
                          <a:rPr lang="ru-RU" i="1" dirty="0" smtClean="0">
                            <a:latin typeface="Cambria Math" panose="02040503050406030204" pitchFamily="18" charset="0"/>
                          </a:rPr>
                          <m:t>𝑙</m:t>
                        </m:r>
                      </m:num>
                      <m:den>
                        <m:r>
                          <a:rPr lang="ru-RU" i="1" dirty="0" err="1">
                            <a:latin typeface="Cambria Math" panose="02040503050406030204" pitchFamily="18" charset="0"/>
                          </a:rPr>
                          <m:t>𝑅</m:t>
                        </m:r>
                      </m:den>
                    </m:f>
                  </m:oMath>
                </a14:m>
                <a:r>
                  <a:rPr lang="ru-RU" dirty="0"/>
                  <a:t>. Отсюда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𝜑</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𝑑𝑙</m:t>
                        </m:r>
                      </m:num>
                      <m:den>
                        <m:r>
                          <a:rPr lang="en-US" b="0" i="1" smtClean="0">
                            <a:latin typeface="Cambria Math" panose="02040503050406030204" pitchFamily="18" charset="0"/>
                          </a:rPr>
                          <m:t>𝑅</m:t>
                        </m:r>
                      </m:den>
                    </m:f>
                  </m:oMath>
                </a14:m>
                <a:r>
                  <a:rPr lang="en-US" dirty="0"/>
                  <a:t>.</a:t>
                </a:r>
              </a:p>
              <a:p>
                <a:endParaRPr lang="en-US" dirty="0"/>
              </a:p>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acc>
                            <m:accPr>
                              <m:chr m:val="⃗"/>
                              <m:ctrlPr>
                                <a:rPr lang="ru-RU" sz="2000" i="1" smtClean="0">
                                  <a:latin typeface="Cambria Math" panose="02040503050406030204" pitchFamily="18" charset="0"/>
                                </a:rPr>
                              </m:ctrlPr>
                            </m:accPr>
                            <m:e>
                              <m:r>
                                <a:rPr lang="en-US" sz="2000" b="0" i="1" smtClean="0">
                                  <a:latin typeface="Cambria Math" panose="02040503050406030204" pitchFamily="18" charset="0"/>
                                </a:rPr>
                                <m:t>𝑎</m:t>
                              </m:r>
                            </m:e>
                          </m:acc>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𝑣</m:t>
                              </m:r>
                            </m:e>
                          </m:acc>
                        </m:e>
                      </m:d>
                      <m:r>
                        <a:rPr lang="en-US" sz="2000" b="0" i="1" smtClean="0">
                          <a:latin typeface="Cambria Math" panose="02040503050406030204" pitchFamily="18" charset="0"/>
                        </a:rPr>
                        <m:t>⋅</m:t>
                      </m:r>
                      <m:f>
                        <m:fPr>
                          <m:ctrlPr>
                            <a:rPr lang="ru-RU" sz="2000" i="1">
                              <a:latin typeface="Cambria Math" panose="02040503050406030204" pitchFamily="18" charset="0"/>
                            </a:rPr>
                          </m:ctrlPr>
                        </m:fPr>
                        <m:num>
                          <m:r>
                            <a:rPr lang="en-US" sz="2000" i="1">
                              <a:latin typeface="Cambria Math" panose="02040503050406030204" pitchFamily="18" charset="0"/>
                            </a:rPr>
                            <m:t>𝑑</m:t>
                          </m:r>
                          <m:acc>
                            <m:accPr>
                              <m:chr m:val="⃗"/>
                              <m:ctrlPr>
                                <a:rPr lang="en-US" sz="2000" i="1">
                                  <a:latin typeface="Cambria Math" panose="02040503050406030204" pitchFamily="18" charset="0"/>
                                </a:rPr>
                              </m:ctrlPr>
                            </m:accPr>
                            <m:e>
                              <m:r>
                                <a:rPr lang="en-US" sz="2000" i="1">
                                  <a:latin typeface="Cambria Math" panose="02040503050406030204" pitchFamily="18" charset="0"/>
                                </a:rPr>
                                <m:t>𝜏</m:t>
                              </m:r>
                            </m:e>
                          </m:acc>
                        </m:num>
                        <m:den>
                          <m:r>
                            <a:rPr lang="en-US" sz="2000" i="1">
                              <a:latin typeface="Cambria Math" panose="02040503050406030204" pitchFamily="18" charset="0"/>
                            </a:rPr>
                            <m:t>𝑑𝑡</m:t>
                          </m:r>
                        </m:den>
                      </m:f>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e>
                      </m:d>
                      <m:r>
                        <a:rPr lang="en-US" sz="2000" i="1">
                          <a:latin typeface="Cambria Math" panose="02040503050406030204" pitchFamily="18" charset="0"/>
                        </a:rPr>
                        <m:t>⋅</m:t>
                      </m:r>
                      <m:f>
                        <m:fPr>
                          <m:ctrlPr>
                            <a:rPr lang="en-US" sz="2000" i="1">
                              <a:latin typeface="Cambria Math" panose="02040503050406030204" pitchFamily="18" charset="0"/>
                            </a:rPr>
                          </m:ctrlPr>
                        </m:fPr>
                        <m:num>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𝑑</m:t>
                              </m:r>
                              <m:r>
                                <a:rPr lang="en-US" sz="2000" i="1">
                                  <a:latin typeface="Cambria Math" panose="02040503050406030204" pitchFamily="18" charset="0"/>
                                </a:rPr>
                                <m:t>𝜑</m:t>
                              </m:r>
                            </m:e>
                          </m:d>
                        </m:num>
                        <m:den>
                          <m:r>
                            <a:rPr lang="en-US" sz="2000" i="1">
                              <a:latin typeface="Cambria Math" panose="02040503050406030204" pitchFamily="18" charset="0"/>
                            </a:rPr>
                            <m:t>𝑑𝑡</m:t>
                          </m:r>
                        </m:den>
                      </m:f>
                      <m:acc>
                        <m:accPr>
                          <m:chr m:val="⃗"/>
                          <m:ctrlPr>
                            <a:rPr lang="en-US" sz="2000" i="1">
                              <a:latin typeface="Cambria Math" panose="02040503050406030204" pitchFamily="18" charset="0"/>
                            </a:rPr>
                          </m:ctrlPr>
                        </m:accPr>
                        <m:e>
                          <m:r>
                            <a:rPr lang="en-US" sz="2000" i="1">
                              <a:latin typeface="Cambria Math" panose="02040503050406030204" pitchFamily="18" charset="0"/>
                            </a:rPr>
                            <m:t>𝑛</m:t>
                          </m:r>
                        </m:e>
                      </m:acc>
                      <m:r>
                        <a:rPr lang="en-US" sz="2000" b="0" i="1" smtClean="0">
                          <a:latin typeface="Cambria Math" panose="02040503050406030204" pitchFamily="18" charset="0"/>
                        </a:rPr>
                        <m:t>=</m:t>
                      </m:r>
                      <m:d>
                        <m:dPr>
                          <m:begChr m:val="|"/>
                          <m:endChr m:val="|"/>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e>
                      </m:d>
                      <m:r>
                        <a:rPr lang="en-US" sz="2000" i="1">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𝑑𝑙</m:t>
                          </m:r>
                        </m:num>
                        <m:den>
                          <m:r>
                            <a:rPr lang="en-US" sz="2000" b="0" i="1" smtClean="0">
                              <a:solidFill>
                                <a:srgbClr val="FF0000"/>
                              </a:solidFill>
                              <a:latin typeface="Cambria Math" panose="02040503050406030204" pitchFamily="18" charset="0"/>
                            </a:rPr>
                            <m:t>𝑑𝑡</m:t>
                          </m:r>
                        </m:den>
                      </m:f>
                      <m:r>
                        <a:rPr lang="en-US" sz="2000" i="1">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𝑅</m:t>
                          </m:r>
                        </m:den>
                      </m:f>
                      <m:acc>
                        <m:accPr>
                          <m:chr m:val="⃗"/>
                          <m:ctrlPr>
                            <a:rPr lang="en-US" sz="2000" i="1" smtClean="0">
                              <a:latin typeface="Cambria Math" panose="02040503050406030204" pitchFamily="18" charset="0"/>
                            </a:rPr>
                          </m:ctrlPr>
                        </m:accPr>
                        <m:e>
                          <m:r>
                            <a:rPr lang="en-US" sz="2000" i="1">
                              <a:latin typeface="Cambria Math" panose="02040503050406030204" pitchFamily="18" charset="0"/>
                            </a:rPr>
                            <m:t>𝑛</m:t>
                          </m:r>
                        </m:e>
                      </m:acc>
                      <m:r>
                        <a:rPr lang="en-US" sz="2000" b="0" i="1" smtClean="0">
                          <a:latin typeface="Cambria Math" panose="02040503050406030204" pitchFamily="18" charset="0"/>
                        </a:rPr>
                        <m:t>=</m:t>
                      </m:r>
                      <m:d>
                        <m:dPr>
                          <m:begChr m:val="|"/>
                          <m:endChr m:val="|"/>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e>
                      </m:d>
                      <m:r>
                        <a:rPr lang="en-US" sz="2000" i="1">
                          <a:latin typeface="Cambria Math" panose="02040503050406030204" pitchFamily="18" charset="0"/>
                        </a:rPr>
                        <m:t>⋅</m:t>
                      </m:r>
                      <m:d>
                        <m:dPr>
                          <m:begChr m:val="|"/>
                          <m:endChr m:val="|"/>
                          <m:ctrlPr>
                            <a:rPr lang="en-US" sz="2000" i="1" smtClean="0">
                              <a:solidFill>
                                <a:srgbClr val="FF0000"/>
                              </a:solidFill>
                              <a:latin typeface="Cambria Math" panose="02040503050406030204" pitchFamily="18" charset="0"/>
                            </a:rPr>
                          </m:ctrlPr>
                        </m:d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panose="02040503050406030204" pitchFamily="18" charset="0"/>
                                </a:rPr>
                                <m:t>𝑣</m:t>
                              </m:r>
                            </m:e>
                          </m:acc>
                        </m:e>
                      </m:d>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𝑅</m:t>
                          </m:r>
                        </m:den>
                      </m:f>
                      <m:acc>
                        <m:accPr>
                          <m:chr m:val="⃗"/>
                          <m:ctrlPr>
                            <a:rPr lang="en-US" sz="2000" i="1">
                              <a:latin typeface="Cambria Math" panose="02040503050406030204" pitchFamily="18" charset="0"/>
                            </a:rPr>
                          </m:ctrlPr>
                        </m:accPr>
                        <m:e>
                          <m:r>
                            <a:rPr lang="en-US" sz="2000" i="1">
                              <a:latin typeface="Cambria Math" panose="02040503050406030204" pitchFamily="18" charset="0"/>
                            </a:rPr>
                            <m:t>𝑛</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d>
                                <m:dPr>
                                  <m:begChr m:val="|"/>
                                  <m:endChr m:val="|"/>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e>
                              </m:d>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𝑅</m:t>
                          </m:r>
                        </m:den>
                      </m:f>
                      <m:acc>
                        <m:accPr>
                          <m:chr m:val="⃗"/>
                          <m:ctrlPr>
                            <a:rPr lang="en-US" sz="2000" i="1">
                              <a:latin typeface="Cambria Math" panose="02040503050406030204" pitchFamily="18" charset="0"/>
                            </a:rPr>
                          </m:ctrlPr>
                        </m:accPr>
                        <m:e>
                          <m:r>
                            <a:rPr lang="en-US" sz="2000" i="1">
                              <a:latin typeface="Cambria Math" panose="02040503050406030204" pitchFamily="18" charset="0"/>
                            </a:rPr>
                            <m:t>𝑛</m:t>
                          </m:r>
                        </m:e>
                      </m:acc>
                    </m:oMath>
                  </m:oMathPara>
                </a14:m>
                <a:endParaRPr lang="en-US" dirty="0"/>
              </a:p>
              <a:p>
                <a:endParaRPr lang="en-US" dirty="0"/>
              </a:p>
              <a:p>
                <a:r>
                  <a:rPr lang="ru-RU" b="1" dirty="0"/>
                  <a:t>Тангенциальное</a:t>
                </a:r>
                <a:r>
                  <a:rPr lang="ru-RU" dirty="0"/>
                  <a:t> ускорение отвечает за скорость изменения </a:t>
                </a:r>
                <a:r>
                  <a:rPr lang="ru-RU" b="1" dirty="0"/>
                  <a:t>модуля</a:t>
                </a:r>
                <a:r>
                  <a:rPr lang="ru-RU" dirty="0"/>
                  <a:t> скорости.</a:t>
                </a:r>
              </a:p>
              <a:p>
                <a:r>
                  <a:rPr lang="ru-RU" b="1" dirty="0"/>
                  <a:t>Нормальное</a:t>
                </a:r>
                <a:r>
                  <a:rPr lang="ru-RU" dirty="0"/>
                  <a:t> ускорение пропорционально скорости изменения </a:t>
                </a:r>
                <a:r>
                  <a:rPr lang="ru-RU" b="1" dirty="0"/>
                  <a:t>направления</a:t>
                </a:r>
                <a:r>
                  <a:rPr lang="ru-RU" dirty="0"/>
                  <a:t> вектора скорости.</a:t>
                </a:r>
              </a:p>
            </p:txBody>
          </p:sp>
        </mc:Choice>
        <mc:Fallback xmlns="">
          <p:sp>
            <p:nvSpPr>
              <p:cNvPr id="3" name="Текст 2">
                <a:extLst>
                  <a:ext uri="{FF2B5EF4-FFF2-40B4-BE49-F238E27FC236}">
                    <a16:creationId xmlns:a16="http://schemas.microsoft.com/office/drawing/2014/main" id="{CCFD09F6-5371-F161-782E-12C09ED60011}"/>
                  </a:ext>
                </a:extLst>
              </p:cNvPr>
              <p:cNvSpPr>
                <a:spLocks noGrp="1" noRot="1" noChangeAspect="1" noMove="1" noResize="1" noEditPoints="1" noAdjustHandles="1" noChangeArrowheads="1" noChangeShapeType="1" noTextEdit="1"/>
              </p:cNvSpPr>
              <p:nvPr>
                <p:ph type="body" sz="quarter" idx="13"/>
              </p:nvPr>
            </p:nvSpPr>
            <p:spPr>
              <a:xfrm>
                <a:off x="838200" y="1248508"/>
                <a:ext cx="10515600" cy="4740812"/>
              </a:xfrm>
              <a:blipFill>
                <a:blip r:embed="rId2"/>
                <a:stretch>
                  <a:fillRect l="-522" t="-1285" r="-464"/>
                </a:stretch>
              </a:blipFill>
            </p:spPr>
            <p:txBody>
              <a:bodyPr/>
              <a:lstStyle/>
              <a:p>
                <a:r>
                  <a:rPr lang="ru-RU">
                    <a:noFill/>
                  </a:rPr>
                  <a:t> </a:t>
                </a:r>
              </a:p>
            </p:txBody>
          </p:sp>
        </mc:Fallback>
      </mc:AlternateContent>
      <p:pic>
        <p:nvPicPr>
          <p:cNvPr id="6" name="Рисунок 5">
            <a:extLst>
              <a:ext uri="{FF2B5EF4-FFF2-40B4-BE49-F238E27FC236}">
                <a16:creationId xmlns:a16="http://schemas.microsoft.com/office/drawing/2014/main" id="{8895C205-4698-B27B-EB6B-846AD30C092F}"/>
              </a:ext>
            </a:extLst>
          </p:cNvPr>
          <p:cNvPicPr>
            <a:picLocks noChangeAspect="1"/>
          </p:cNvPicPr>
          <p:nvPr/>
        </p:nvPicPr>
        <p:blipFill>
          <a:blip r:embed="rId3"/>
          <a:srcRect t="1" b="1726"/>
          <a:stretch>
            <a:fillRect/>
          </a:stretch>
        </p:blipFill>
        <p:spPr>
          <a:xfrm>
            <a:off x="1775295" y="4634680"/>
            <a:ext cx="2362530" cy="1301300"/>
          </a:xfrm>
          <a:prstGeom prst="rect">
            <a:avLst/>
          </a:prstGeom>
        </p:spPr>
      </p:pic>
      <p:pic>
        <p:nvPicPr>
          <p:cNvPr id="9" name="Рисунок 8">
            <a:extLst>
              <a:ext uri="{FF2B5EF4-FFF2-40B4-BE49-F238E27FC236}">
                <a16:creationId xmlns:a16="http://schemas.microsoft.com/office/drawing/2014/main" id="{47C7D1C8-55CA-3FE1-8991-F71F9B49EA4C}"/>
              </a:ext>
            </a:extLst>
          </p:cNvPr>
          <p:cNvPicPr>
            <a:picLocks noChangeAspect="1"/>
          </p:cNvPicPr>
          <p:nvPr/>
        </p:nvPicPr>
        <p:blipFill>
          <a:blip r:embed="rId4"/>
          <a:stretch>
            <a:fillRect/>
          </a:stretch>
        </p:blipFill>
        <p:spPr>
          <a:xfrm>
            <a:off x="5472541" y="4710890"/>
            <a:ext cx="5163271" cy="1171739"/>
          </a:xfrm>
          <a:prstGeom prst="rect">
            <a:avLst/>
          </a:prstGeom>
        </p:spPr>
      </p:pic>
    </p:spTree>
    <p:extLst>
      <p:ext uri="{BB962C8B-B14F-4D97-AF65-F5344CB8AC3E}">
        <p14:creationId xmlns:p14="http://schemas.microsoft.com/office/powerpoint/2010/main" val="458876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5C226-ACFA-FF7B-38C7-DE2A3DB0DC4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F53B3F-76D2-9920-E997-089B754876EF}"/>
              </a:ext>
            </a:extLst>
          </p:cNvPr>
          <p:cNvSpPr>
            <a:spLocks noGrp="1"/>
          </p:cNvSpPr>
          <p:nvPr>
            <p:ph type="title"/>
          </p:nvPr>
        </p:nvSpPr>
        <p:spPr/>
        <p:txBody>
          <a:bodyPr/>
          <a:lstStyle/>
          <a:p>
            <a:r>
              <a:rPr lang="ru-RU" dirty="0"/>
              <a:t>3. Вращение материальной точки вокруг оси. Получите связь линейных и угловых кинематических характеристик?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8BE9607C-B9A0-877A-BC42-CF9195E383F3}"/>
                  </a:ext>
                </a:extLst>
              </p:cNvPr>
              <p:cNvSpPr>
                <a:spLocks noGrp="1"/>
              </p:cNvSpPr>
              <p:nvPr>
                <p:ph type="body" sz="quarter" idx="13"/>
              </p:nvPr>
            </p:nvSpPr>
            <p:spPr>
              <a:xfrm>
                <a:off x="4613910" y="1216852"/>
                <a:ext cx="6905625" cy="4941277"/>
              </a:xfrm>
            </p:spPr>
            <p:txBody>
              <a:bodyPr/>
              <a:lstStyle/>
              <a:p>
                <a:r>
                  <a:rPr lang="ru-RU" b="1" dirty="0"/>
                  <a:t>Угол поворота </a:t>
                </a:r>
                <a14:m>
                  <m:oMath xmlns:m="http://schemas.openxmlformats.org/officeDocument/2006/math">
                    <m:acc>
                      <m:accPr>
                        <m:chr m:val="⃗"/>
                        <m:ctrlPr>
                          <a:rPr lang="ru-RU" b="0" i="1" smtClean="0">
                            <a:latin typeface="Cambria Math" panose="02040503050406030204" pitchFamily="18" charset="0"/>
                          </a:rPr>
                        </m:ctrlPr>
                      </m:accPr>
                      <m:e>
                        <m:r>
                          <a:rPr lang="ru-RU" i="1">
                            <a:latin typeface="Cambria Math" panose="02040503050406030204" pitchFamily="18" charset="0"/>
                          </a:rPr>
                          <m:t>𝜑</m:t>
                        </m:r>
                      </m:e>
                    </m:acc>
                    <m:r>
                      <a:rPr lang="ru-RU" b="0" i="1" smtClean="0">
                        <a:latin typeface="Cambria Math" panose="02040503050406030204" pitchFamily="18" charset="0"/>
                      </a:rPr>
                      <m:t>=</m:t>
                    </m:r>
                    <m:r>
                      <a:rPr lang="en-US" b="0" i="1" smtClean="0">
                        <a:latin typeface="Cambria Math" panose="02040503050406030204" pitchFamily="18" charset="0"/>
                      </a:rPr>
                      <m:t>[</m:t>
                    </m:r>
                    <m:r>
                      <a:rPr lang="ru-RU" b="0" i="1" smtClean="0">
                        <a:latin typeface="Cambria Math" panose="02040503050406030204" pitchFamily="18" charset="0"/>
                      </a:rPr>
                      <m:t>1 рад</m:t>
                    </m:r>
                    <m:r>
                      <a:rPr lang="en-US" b="0" i="1" smtClean="0">
                        <a:latin typeface="Cambria Math" panose="02040503050406030204" pitchFamily="18" charset="0"/>
                      </a:rPr>
                      <m:t>]</m:t>
                    </m:r>
                  </m:oMath>
                </a14:m>
                <a:r>
                  <a:rPr lang="en-US" dirty="0"/>
                  <a:t> –</a:t>
                </a:r>
                <a:r>
                  <a:rPr lang="ru-RU" dirty="0"/>
                  <a:t> аксиальный вектор, определяется по правилу правой руки.</a:t>
                </a:r>
              </a:p>
              <a:p>
                <a:r>
                  <a:rPr lang="ru-RU" b="1" dirty="0"/>
                  <a:t>Угловая скорость</a:t>
                </a:r>
                <a:r>
                  <a:rPr lang="ru-RU" dirty="0"/>
                  <a:t>: </a:t>
                </a:r>
                <a14:m>
                  <m:oMath xmlns:m="http://schemas.openxmlformats.org/officeDocument/2006/math">
                    <m:acc>
                      <m:accPr>
                        <m:chr m:val="⃗"/>
                        <m:ctrlPr>
                          <a:rPr lang="ru-RU" i="1" smtClean="0">
                            <a:latin typeface="Cambria Math" panose="02040503050406030204" pitchFamily="18" charset="0"/>
                          </a:rPr>
                        </m:ctrlPr>
                      </m:accPr>
                      <m:e>
                        <m:r>
                          <a:rPr lang="en-US" b="0" i="1" smtClean="0">
                            <a:latin typeface="Cambria Math" panose="02040503050406030204" pitchFamily="18" charset="0"/>
                          </a:rPr>
                          <m:t>𝜔</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i="1">
                                <a:latin typeface="Cambria Math" panose="02040503050406030204" pitchFamily="18" charset="0"/>
                              </a:rPr>
                              <m:t>𝜑</m:t>
                            </m:r>
                          </m:e>
                        </m:acc>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ru-RU" b="0" i="1" smtClean="0">
                        <a:latin typeface="Cambria Math" panose="02040503050406030204" pitchFamily="18" charset="0"/>
                      </a:rPr>
                      <m:t>1</m:t>
                    </m:r>
                    <m:f>
                      <m:fPr>
                        <m:ctrlPr>
                          <a:rPr lang="ru-RU" b="0" i="1" smtClean="0">
                            <a:latin typeface="Cambria Math" panose="02040503050406030204" pitchFamily="18" charset="0"/>
                          </a:rPr>
                        </m:ctrlPr>
                      </m:fPr>
                      <m:num>
                        <m:r>
                          <a:rPr lang="ru-RU" b="0" i="1" smtClean="0">
                            <a:latin typeface="Cambria Math" panose="02040503050406030204" pitchFamily="18" charset="0"/>
                          </a:rPr>
                          <m:t>рад</m:t>
                        </m:r>
                      </m:num>
                      <m:den>
                        <m:r>
                          <a:rPr lang="ru-RU" b="0" i="1" smtClean="0">
                            <a:latin typeface="Cambria Math" panose="02040503050406030204" pitchFamily="18" charset="0"/>
                          </a:rPr>
                          <m:t>с</m:t>
                        </m:r>
                      </m:den>
                    </m:f>
                    <m:r>
                      <a:rPr lang="en-US" b="0" i="1" smtClean="0">
                        <a:latin typeface="Cambria Math" panose="02040503050406030204" pitchFamily="18" charset="0"/>
                      </a:rPr>
                      <m:t>]</m:t>
                    </m:r>
                  </m:oMath>
                </a14:m>
                <a:r>
                  <a:rPr lang="en-US" dirty="0"/>
                  <a:t>.</a:t>
                </a:r>
                <a:endParaRPr lang="ru-RU" dirty="0"/>
              </a:p>
              <a:p>
                <a:r>
                  <a:rPr lang="ru-RU" b="1" dirty="0"/>
                  <a:t>Угловое ускорение</a:t>
                </a:r>
                <a:r>
                  <a:rPr lang="ru-RU" dirty="0"/>
                  <a:t>: </a:t>
                </a:r>
                <a14:m>
                  <m:oMath xmlns:m="http://schemas.openxmlformats.org/officeDocument/2006/math">
                    <m:acc>
                      <m:accPr>
                        <m:chr m:val="⃗"/>
                        <m:ctrlPr>
                          <a:rPr lang="ru-RU" i="1" smtClean="0">
                            <a:latin typeface="Cambria Math" panose="02040503050406030204" pitchFamily="18" charset="0"/>
                          </a:rPr>
                        </m:ctrlPr>
                      </m:accPr>
                      <m:e>
                        <m:r>
                          <a:rPr lang="ru-RU" b="0" i="1" smtClean="0">
                            <a:latin typeface="Cambria Math" panose="02040503050406030204" pitchFamily="18" charset="0"/>
                          </a:rPr>
                          <m:t>𝜀</m:t>
                        </m:r>
                        <m:r>
                          <a:rPr lang="en-US" b="0" i="1" smtClean="0">
                            <a:latin typeface="Cambria Math" panose="02040503050406030204" pitchFamily="18" charset="0"/>
                          </a:rPr>
                          <m:t> </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acc>
                          <m:accPr>
                            <m:chr m:val="⃗"/>
                            <m:ctrlPr>
                              <a:rPr lang="ru-RU" i="1">
                                <a:latin typeface="Cambria Math" panose="02040503050406030204" pitchFamily="18" charset="0"/>
                              </a:rPr>
                            </m:ctrlPr>
                          </m:accPr>
                          <m:e>
                            <m:r>
                              <a:rPr lang="en-US" i="1">
                                <a:latin typeface="Cambria Math" panose="02040503050406030204" pitchFamily="18" charset="0"/>
                              </a:rPr>
                              <m:t>𝜔</m:t>
                            </m:r>
                          </m:e>
                        </m:acc>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i="1">
                            <a:latin typeface="Cambria Math" panose="02040503050406030204" pitchFamily="18" charset="0"/>
                          </a:rPr>
                        </m:ctrlPr>
                      </m:fPr>
                      <m:num>
                        <m:sSup>
                          <m:sSupPr>
                            <m:ctrlPr>
                              <a:rPr lang="en-US" b="0" i="1" smtClean="0">
                                <a:latin typeface="Cambria Math" panose="02040503050406030204" pitchFamily="18" charset="0"/>
                              </a:rPr>
                            </m:ctrlPr>
                          </m:sSupPr>
                          <m:e>
                            <m:r>
                              <a:rPr lang="en-US" i="1">
                                <a:latin typeface="Cambria Math" panose="02040503050406030204" pitchFamily="18" charset="0"/>
                              </a:rPr>
                              <m:t>𝑑</m:t>
                            </m:r>
                          </m:e>
                          <m:sup>
                            <m:r>
                              <a:rPr lang="en-US" b="0" i="1" smtClean="0">
                                <a:latin typeface="Cambria Math" panose="02040503050406030204" pitchFamily="18" charset="0"/>
                              </a:rPr>
                              <m:t>2</m:t>
                            </m:r>
                          </m:sup>
                        </m:sSup>
                        <m:acc>
                          <m:accPr>
                            <m:chr m:val="⃗"/>
                            <m:ctrlPr>
                              <a:rPr lang="en-US" i="1">
                                <a:latin typeface="Cambria Math" panose="02040503050406030204" pitchFamily="18" charset="0"/>
                              </a:rPr>
                            </m:ctrlPr>
                          </m:accPr>
                          <m:e>
                            <m:r>
                              <a:rPr lang="en-US" i="1">
                                <a:latin typeface="Cambria Math" panose="02040503050406030204" pitchFamily="18" charset="0"/>
                              </a:rPr>
                              <m:t>𝜑</m:t>
                            </m:r>
                          </m:e>
                        </m:acc>
                      </m:num>
                      <m:den>
                        <m:r>
                          <a:rPr lang="en-US" i="1">
                            <a:latin typeface="Cambria Math" panose="02040503050406030204" pitchFamily="18" charset="0"/>
                          </a:rPr>
                          <m:t>𝑑</m:t>
                        </m:r>
                        <m:sSup>
                          <m:sSupPr>
                            <m:ctrlPr>
                              <a:rPr lang="en-US" b="0" i="1" smtClean="0">
                                <a:latin typeface="Cambria Math" panose="02040503050406030204" pitchFamily="18" charset="0"/>
                              </a:rPr>
                            </m:ctrlPr>
                          </m:sSupPr>
                          <m:e>
                            <m:r>
                              <a:rPr lang="en-US" i="1">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=[1</m:t>
                    </m:r>
                    <m:f>
                      <m:fPr>
                        <m:ctrlPr>
                          <a:rPr lang="ru-RU" b="0" i="1" smtClean="0">
                            <a:latin typeface="Cambria Math" panose="02040503050406030204" pitchFamily="18" charset="0"/>
                          </a:rPr>
                        </m:ctrlPr>
                      </m:fPr>
                      <m:num>
                        <m:r>
                          <a:rPr lang="ru-RU" b="0" i="1" smtClean="0">
                            <a:latin typeface="Cambria Math" panose="02040503050406030204" pitchFamily="18" charset="0"/>
                          </a:rPr>
                          <m:t>рад</m:t>
                        </m:r>
                      </m:num>
                      <m:den>
                        <m:sSup>
                          <m:sSupPr>
                            <m:ctrlPr>
                              <a:rPr lang="en-US" b="0" i="1" smtClean="0">
                                <a:latin typeface="Cambria Math" panose="02040503050406030204" pitchFamily="18" charset="0"/>
                              </a:rPr>
                            </m:ctrlPr>
                          </m:sSupPr>
                          <m:e>
                            <m:r>
                              <a:rPr lang="ru-RU" b="0" i="1" smtClean="0">
                                <a:latin typeface="Cambria Math" panose="02040503050406030204" pitchFamily="18" charset="0"/>
                              </a:rPr>
                              <m:t>с</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oMath>
                </a14:m>
                <a:r>
                  <a:rPr lang="en-US" dirty="0"/>
                  <a:t>.</a:t>
                </a:r>
                <a:endParaRPr lang="ru-RU" dirty="0"/>
              </a:p>
              <a:p>
                <a:endParaRPr lang="ru-RU" dirty="0"/>
              </a:p>
              <a:p>
                <a:r>
                  <a:rPr lang="ru-RU" dirty="0"/>
                  <a:t>При </a:t>
                </a:r>
                <a:r>
                  <a:rPr lang="ru-RU" b="1" i="1" dirty="0"/>
                  <a:t>равноускоренном</a:t>
                </a:r>
                <a:r>
                  <a:rPr lang="ru-RU" dirty="0"/>
                  <a:t> движении:</a:t>
                </a:r>
              </a:p>
              <a:p>
                <a:r>
                  <a:rPr lang="ru-RU" b="0" dirty="0"/>
                  <a:t>Угловая скорость </a:t>
                </a:r>
                <a14:m>
                  <m:oMath xmlns:m="http://schemas.openxmlformats.org/officeDocument/2006/math">
                    <m:acc>
                      <m:accPr>
                        <m:chr m:val="⃗"/>
                        <m:ctrlPr>
                          <a:rPr lang="ru-RU" b="0" i="1" smtClean="0">
                            <a:latin typeface="Cambria Math" panose="02040503050406030204" pitchFamily="18" charset="0"/>
                          </a:rPr>
                        </m:ctrlPr>
                      </m:accPr>
                      <m:e>
                        <m:r>
                          <a:rPr lang="ru-RU" b="0" i="1" smtClean="0">
                            <a:latin typeface="Cambria Math" panose="02040503050406030204" pitchFamily="18" charset="0"/>
                          </a:rPr>
                          <m:t>𝜔</m:t>
                        </m:r>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𝜀</m:t>
                        </m:r>
                      </m:e>
                    </m:acc>
                    <m:r>
                      <a:rPr lang="en-US" b="0" i="1" dirty="0" smtClean="0">
                        <a:latin typeface="Cambria Math" panose="02040503050406030204" pitchFamily="18" charset="0"/>
                      </a:rPr>
                      <m:t>⋅</m:t>
                    </m:r>
                    <m:r>
                      <a:rPr lang="en-US" b="0" i="1" dirty="0" smtClean="0">
                        <a:latin typeface="Cambria Math" panose="02040503050406030204" pitchFamily="18" charset="0"/>
                      </a:rPr>
                      <m:t>𝑡</m:t>
                    </m:r>
                  </m:oMath>
                </a14:m>
                <a:endParaRPr lang="en-US" dirty="0"/>
              </a:p>
              <a:p>
                <a:r>
                  <a:rPr lang="ru-RU" b="0" dirty="0"/>
                  <a:t>Приращение угла поворота </a:t>
                </a:r>
                <a14:m>
                  <m:oMath xmlns:m="http://schemas.openxmlformats.org/officeDocument/2006/math">
                    <m:r>
                      <m:rPr>
                        <m:sty m:val="p"/>
                      </m:rPr>
                      <a:rPr lang="en-US" b="0" i="0" smtClean="0">
                        <a:latin typeface="Cambria Math" panose="02040503050406030204" pitchFamily="18" charset="0"/>
                      </a:rPr>
                      <m:t>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𝜑</m:t>
                        </m:r>
                      </m:e>
                    </m:acc>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𝜔</m:t>
                            </m:r>
                          </m:e>
                        </m:acc>
                      </m:e>
                      <m:sub>
                        <m:r>
                          <a:rPr lang="en-US" i="1" dirty="0">
                            <a:latin typeface="Cambria Math" panose="02040503050406030204" pitchFamily="18" charset="0"/>
                          </a:rPr>
                          <m:t>0</m:t>
                        </m:r>
                      </m:sub>
                    </m:sSub>
                    <m:r>
                      <a:rPr lang="en-US" b="0" i="1" dirty="0" smtClean="0">
                        <a:latin typeface="Cambria Math" panose="02040503050406030204" pitchFamily="18" charset="0"/>
                      </a:rPr>
                      <m:t>𝑡</m:t>
                    </m:r>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𝜀</m:t>
                                </m:r>
                              </m:e>
                            </m:acc>
                            <m:r>
                              <a:rPr lang="en-US" i="1" dirty="0">
                                <a:latin typeface="Cambria Math" panose="02040503050406030204" pitchFamily="18" charset="0"/>
                              </a:rPr>
                              <m:t>⋅</m:t>
                            </m:r>
                            <m:r>
                              <a:rPr lang="en-US" i="1" dirty="0">
                                <a:latin typeface="Cambria Math" panose="02040503050406030204" pitchFamily="18" charset="0"/>
                              </a:rPr>
                              <m:t>𝑡</m:t>
                            </m:r>
                          </m:e>
                          <m:sup>
                            <m:r>
                              <a:rPr lang="en-US" b="0" i="1" dirty="0" smtClean="0">
                                <a:latin typeface="Cambria Math" panose="02040503050406030204" pitchFamily="18" charset="0"/>
                              </a:rPr>
                              <m:t>2</m:t>
                            </m:r>
                          </m:sup>
                        </m:sSup>
                      </m:num>
                      <m:den>
                        <m:r>
                          <a:rPr lang="en-US" b="0" i="1" dirty="0" smtClean="0">
                            <a:latin typeface="Cambria Math" panose="02040503050406030204" pitchFamily="18" charset="0"/>
                          </a:rPr>
                          <m:t>2</m:t>
                        </m:r>
                      </m:den>
                    </m:f>
                  </m:oMath>
                </a14:m>
                <a:endParaRPr lang="en-US" dirty="0"/>
              </a:p>
              <a:p>
                <a:r>
                  <a:rPr lang="ru-RU" dirty="0"/>
                  <a:t>Верно при проекции на ось </a:t>
                </a:r>
                <a14:m>
                  <m:oMath xmlns:m="http://schemas.openxmlformats.org/officeDocument/2006/math">
                    <m:r>
                      <a:rPr lang="en-US" i="1" dirty="0" smtClean="0">
                        <a:latin typeface="Cambria Math" panose="02040503050406030204" pitchFamily="18" charset="0"/>
                      </a:rPr>
                      <m:t>𝑍</m:t>
                    </m:r>
                  </m:oMath>
                </a14:m>
                <a:r>
                  <a:rPr lang="en-US" dirty="0"/>
                  <a:t>.</a:t>
                </a:r>
                <a:endParaRPr lang="ru-RU" dirty="0"/>
              </a:p>
              <a:p>
                <a:endParaRPr lang="ru-RU" dirty="0"/>
              </a:p>
            </p:txBody>
          </p:sp>
        </mc:Choice>
        <mc:Fallback xmlns="">
          <p:sp>
            <p:nvSpPr>
              <p:cNvPr id="3" name="Текст 2">
                <a:extLst>
                  <a:ext uri="{FF2B5EF4-FFF2-40B4-BE49-F238E27FC236}">
                    <a16:creationId xmlns:a16="http://schemas.microsoft.com/office/drawing/2014/main" id="{8BE9607C-B9A0-877A-BC42-CF9195E383F3}"/>
                  </a:ext>
                </a:extLst>
              </p:cNvPr>
              <p:cNvSpPr>
                <a:spLocks noGrp="1" noRot="1" noChangeAspect="1" noMove="1" noResize="1" noEditPoints="1" noAdjustHandles="1" noChangeArrowheads="1" noChangeShapeType="1" noTextEdit="1"/>
              </p:cNvSpPr>
              <p:nvPr>
                <p:ph type="body" sz="quarter" idx="13"/>
              </p:nvPr>
            </p:nvSpPr>
            <p:spPr>
              <a:xfrm>
                <a:off x="4613910" y="1216852"/>
                <a:ext cx="6905625" cy="4941277"/>
              </a:xfrm>
              <a:blipFill>
                <a:blip r:embed="rId2"/>
                <a:stretch>
                  <a:fillRect l="-794" t="-1235" r="-706"/>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BE560A00-F6E4-FA55-78E1-0386D12106BA}"/>
              </a:ext>
            </a:extLst>
          </p:cNvPr>
          <p:cNvPicPr>
            <a:picLocks noChangeAspect="1"/>
          </p:cNvPicPr>
          <p:nvPr/>
        </p:nvPicPr>
        <p:blipFill>
          <a:blip r:embed="rId3"/>
          <a:stretch>
            <a:fillRect/>
          </a:stretch>
        </p:blipFill>
        <p:spPr>
          <a:xfrm>
            <a:off x="1003935" y="1216852"/>
            <a:ext cx="3609975" cy="3733800"/>
          </a:xfrm>
          <a:prstGeom prst="rect">
            <a:avLst/>
          </a:prstGeom>
        </p:spPr>
      </p:pic>
    </p:spTree>
    <p:extLst>
      <p:ext uri="{BB962C8B-B14F-4D97-AF65-F5344CB8AC3E}">
        <p14:creationId xmlns:p14="http://schemas.microsoft.com/office/powerpoint/2010/main" val="1586730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0D815-6C3C-EF83-EFD8-E34FE70EBDC7}"/>
            </a:ext>
          </a:extLst>
        </p:cNvPr>
        <p:cNvGrpSpPr/>
        <p:nvPr/>
      </p:nvGrpSpPr>
      <p:grpSpPr>
        <a:xfrm>
          <a:off x="0" y="0"/>
          <a:ext cx="0" cy="0"/>
          <a:chOff x="0" y="0"/>
          <a:chExt cx="0" cy="0"/>
        </a:xfrm>
      </p:grpSpPr>
      <p:pic>
        <p:nvPicPr>
          <p:cNvPr id="8" name="Рисунок 7">
            <a:extLst>
              <a:ext uri="{FF2B5EF4-FFF2-40B4-BE49-F238E27FC236}">
                <a16:creationId xmlns:a16="http://schemas.microsoft.com/office/drawing/2014/main" id="{F352EE02-8B50-F8C4-571A-8D96703316DE}"/>
              </a:ext>
            </a:extLst>
          </p:cNvPr>
          <p:cNvPicPr>
            <a:picLocks noChangeAspect="1"/>
          </p:cNvPicPr>
          <p:nvPr/>
        </p:nvPicPr>
        <p:blipFill>
          <a:blip r:embed="rId2"/>
          <a:stretch>
            <a:fillRect/>
          </a:stretch>
        </p:blipFill>
        <p:spPr>
          <a:xfrm>
            <a:off x="7377421" y="4297680"/>
            <a:ext cx="4632651" cy="2380077"/>
          </a:xfrm>
          <a:prstGeom prst="rect">
            <a:avLst/>
          </a:prstGeom>
        </p:spPr>
      </p:pic>
      <p:sp>
        <p:nvSpPr>
          <p:cNvPr id="2" name="Заголовок 1">
            <a:extLst>
              <a:ext uri="{FF2B5EF4-FFF2-40B4-BE49-F238E27FC236}">
                <a16:creationId xmlns:a16="http://schemas.microsoft.com/office/drawing/2014/main" id="{66B6BA5C-30F1-017C-73D3-4456E3582DA7}"/>
              </a:ext>
            </a:extLst>
          </p:cNvPr>
          <p:cNvSpPr>
            <a:spLocks noGrp="1"/>
          </p:cNvSpPr>
          <p:nvPr>
            <p:ph type="title"/>
          </p:nvPr>
        </p:nvSpPr>
        <p:spPr/>
        <p:txBody>
          <a:bodyPr/>
          <a:lstStyle/>
          <a:p>
            <a:r>
              <a:rPr lang="ru-RU" dirty="0"/>
              <a:t>3. Вращение материальной точки вокруг оси. Получите связь линейных и угловых кинематических характеристик?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7FC54E7F-97AF-9390-9D7A-145B698E9420}"/>
                  </a:ext>
                </a:extLst>
              </p:cNvPr>
              <p:cNvSpPr>
                <a:spLocks noGrp="1"/>
              </p:cNvSpPr>
              <p:nvPr>
                <p:ph type="body" sz="quarter" idx="13"/>
              </p:nvPr>
            </p:nvSpPr>
            <p:spPr>
              <a:xfrm>
                <a:off x="838200" y="975360"/>
                <a:ext cx="8850053" cy="5702397"/>
              </a:xfrm>
            </p:spPr>
            <p:txBody>
              <a:bodyPr>
                <a:normAutofit/>
              </a:bodyPr>
              <a:lstStyle/>
              <a:p>
                <a:r>
                  <a:rPr lang="ru-RU" b="1" dirty="0"/>
                  <a:t>Связь линейных и угловых величин</a:t>
                </a:r>
                <a:r>
                  <a:rPr lang="ru-RU" dirty="0"/>
                  <a: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smtClean="0">
                          <a:latin typeface="Cambria Math" panose="02040503050406030204" pitchFamily="18" charset="0"/>
                        </a:rPr>
                        <m:t>=[</m:t>
                      </m:r>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𝜑</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smtClean="0">
                          <a:latin typeface="Cambria Math" panose="02040503050406030204" pitchFamily="18" charset="0"/>
                        </a:rPr>
                        <m:t>]</m:t>
                      </m:r>
                    </m:oMath>
                  </m:oMathPara>
                </a14:m>
                <a:endParaRPr lang="en-US" dirty="0"/>
              </a:p>
              <a:p>
                <a:r>
                  <a:rPr lang="ru-RU" dirty="0"/>
                  <a:t>В цилиндрических координатах: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𝑧</m:t>
                        </m:r>
                      </m:sub>
                    </m:sSub>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𝑒</m:t>
                            </m:r>
                          </m:e>
                        </m:acc>
                      </m:e>
                      <m:sub>
                        <m:r>
                          <a:rPr lang="en-US" b="0" i="1" dirty="0" smtClean="0">
                            <a:latin typeface="Cambria Math" panose="02040503050406030204" pitchFamily="18" charset="0"/>
                          </a:rPr>
                          <m:t>𝑧</m:t>
                        </m:r>
                      </m:sub>
                    </m:sSub>
                    <m:r>
                      <a:rPr lang="en-US" b="0" i="1" dirty="0" smtClean="0">
                        <a:latin typeface="Cambria Math" panose="02040503050406030204" pitchFamily="18" charset="0"/>
                      </a:rPr>
                      <m:t>+</m:t>
                    </m:r>
                    <m:r>
                      <a:rPr lang="en-US" b="0" i="1" dirty="0" smtClean="0">
                        <a:latin typeface="Cambria Math" panose="02040503050406030204" pitchFamily="18" charset="0"/>
                      </a:rPr>
                      <m:t>𝜌</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𝑒</m:t>
                            </m:r>
                          </m:e>
                        </m:acc>
                      </m:e>
                      <m:sub>
                        <m:r>
                          <a:rPr lang="en-US" b="0" i="1" dirty="0" smtClean="0">
                            <a:latin typeface="Cambria Math" panose="02040503050406030204" pitchFamily="18" charset="0"/>
                          </a:rPr>
                          <m:t>𝜌</m:t>
                        </m:r>
                      </m:sub>
                    </m:sSub>
                  </m:oMath>
                </a14:m>
                <a:r>
                  <a:rPr lang="ru-RU" dirty="0"/>
                  <a:t>. Так как </a:t>
                </a:r>
                <a14:m>
                  <m:oMath xmlns:m="http://schemas.openxmlformats.org/officeDocument/2006/math">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𝑒</m:t>
                            </m:r>
                          </m:e>
                        </m:acc>
                      </m:e>
                      <m:sub>
                        <m:r>
                          <a:rPr lang="en-US" i="1" dirty="0">
                            <a:latin typeface="Cambria Math" panose="02040503050406030204" pitchFamily="18" charset="0"/>
                          </a:rPr>
                          <m:t>𝑧</m:t>
                        </m:r>
                      </m:sub>
                    </m:sSub>
                    <m:r>
                      <a:rPr lang="en-US" i="1" dirty="0"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𝜑</m:t>
                        </m:r>
                      </m:e>
                    </m:acc>
                  </m:oMath>
                </a14:m>
                <a:r>
                  <a:rPr lang="ru-RU" dirty="0"/>
                  <a:t>, то при подстановке в векторное произведение он обнулится.</a:t>
                </a:r>
                <a:r>
                  <a:rPr lang="en-US" dirty="0"/>
                  <a:t> </a:t>
                </a:r>
                <a:r>
                  <a:rPr lang="ru-RU" dirty="0"/>
                  <a:t>Рассмотрим </a:t>
                </a:r>
                <a:r>
                  <a:rPr lang="ru-RU" i="1" dirty="0"/>
                  <a:t>второе</a:t>
                </a:r>
                <a:r>
                  <a:rPr lang="ru-RU" dirty="0"/>
                  <a:t> слагаемое.</a:t>
                </a:r>
              </a:p>
              <a:p>
                <a:r>
                  <a:rPr lang="ru-RU" dirty="0"/>
                  <a:t>Разложим </a:t>
                </a:r>
                <a14:m>
                  <m:oMath xmlns:m="http://schemas.openxmlformats.org/officeDocument/2006/math">
                    <m:r>
                      <a:rPr lang="en-US" i="1" dirty="0">
                        <a:latin typeface="Cambria Math" panose="02040503050406030204" pitchFamily="18" charset="0"/>
                      </a:rPr>
                      <m:t>𝜌</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𝑒</m:t>
                            </m:r>
                          </m:e>
                        </m:acc>
                      </m:e>
                      <m:sub>
                        <m:r>
                          <a:rPr lang="en-US" i="1" dirty="0">
                            <a:latin typeface="Cambria Math" panose="02040503050406030204" pitchFamily="18" charset="0"/>
                          </a:rPr>
                          <m:t>𝜌</m:t>
                        </m:r>
                      </m:sub>
                    </m:sSub>
                  </m:oMath>
                </a14:m>
                <a:r>
                  <a:rPr lang="ru-RU" dirty="0"/>
                  <a:t> на </a:t>
                </a:r>
                <a:r>
                  <a:rPr lang="ru-RU" i="1" dirty="0"/>
                  <a:t>радиальную</a:t>
                </a:r>
                <a:r>
                  <a:rPr lang="ru-RU" dirty="0"/>
                  <a:t> и </a:t>
                </a:r>
                <a:r>
                  <a:rPr lang="ru-RU" i="1" dirty="0"/>
                  <a:t>поперечную</a:t>
                </a:r>
                <a:r>
                  <a:rPr lang="ru-RU" dirty="0"/>
                  <a:t> составляющие:</a:t>
                </a:r>
                <a:endParaRPr lang="en-US" dirty="0"/>
              </a:p>
              <a:p>
                <a:r>
                  <a:rPr lang="ru-RU" dirty="0"/>
                  <a:t>- Перемещение вдоль </a:t>
                </a:r>
                <a14:m>
                  <m:oMath xmlns:m="http://schemas.openxmlformats.org/officeDocument/2006/math">
                    <m:r>
                      <a:rPr lang="ru-RU" b="0" i="1" smtClean="0">
                        <a:latin typeface="Cambria Math" panose="02040503050406030204" pitchFamily="18" charset="0"/>
                      </a:rPr>
                      <m:t>𝜌</m:t>
                    </m:r>
                  </m:oMath>
                </a14:m>
                <a:r>
                  <a:rPr lang="en-US" dirty="0"/>
                  <a:t> </a:t>
                </a:r>
                <a:r>
                  <a:rPr lang="ru-RU" dirty="0"/>
                  <a:t>равно </a:t>
                </a:r>
                <a14:m>
                  <m:oMath xmlns:m="http://schemas.openxmlformats.org/officeDocument/2006/math">
                    <m:r>
                      <m:rPr>
                        <m:sty m:val="p"/>
                      </m:rPr>
                      <a:rPr lang="en-US" dirty="0">
                        <a:latin typeface="Cambria Math" panose="02040503050406030204" pitchFamily="18" charset="0"/>
                      </a:rPr>
                      <m:t>d</m:t>
                    </m:r>
                    <m:r>
                      <a:rPr lang="en-US" b="0" i="1" dirty="0" smtClean="0">
                        <a:latin typeface="Cambria Math" panose="02040503050406030204" pitchFamily="18" charset="0"/>
                      </a:rPr>
                      <m:t>𝜌</m:t>
                    </m:r>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𝑒</m:t>
                            </m:r>
                          </m:e>
                        </m:acc>
                      </m:e>
                      <m:sub>
                        <m:r>
                          <a:rPr lang="en-US" b="0" i="1" smtClean="0">
                            <a:latin typeface="Cambria Math" panose="02040503050406030204" pitchFamily="18" charset="0"/>
                          </a:rPr>
                          <m:t>𝑟</m:t>
                        </m:r>
                      </m:sub>
                    </m:sSub>
                    <m:r>
                      <a:rPr lang="ru-RU" b="0" i="0" dirty="0" smtClean="0">
                        <a:latin typeface="Cambria Math" panose="02040503050406030204" pitchFamily="18" charset="0"/>
                      </a:rPr>
                      <m:t>=0</m:t>
                    </m:r>
                  </m:oMath>
                </a14:m>
                <a:r>
                  <a:rPr lang="ru-RU" dirty="0"/>
                  <a:t>, так как расстояние от оси не изменяется (</a:t>
                </a:r>
                <a14:m>
                  <m:oMath xmlns:m="http://schemas.openxmlformats.org/officeDocument/2006/math">
                    <m:r>
                      <m:rPr>
                        <m:sty m:val="p"/>
                      </m:rPr>
                      <a:rPr lang="en-US" b="0" i="0" smtClean="0">
                        <a:latin typeface="Cambria Math" panose="02040503050406030204" pitchFamily="18" charset="0"/>
                      </a:rPr>
                      <m:t>d</m:t>
                    </m:r>
                    <m:r>
                      <a:rPr lang="en-US" b="0" i="1" smtClean="0">
                        <a:latin typeface="Cambria Math" panose="02040503050406030204" pitchFamily="18" charset="0"/>
                      </a:rPr>
                      <m:t>𝜌</m:t>
                    </m:r>
                  </m:oMath>
                </a14:m>
                <a:r>
                  <a:rPr lang="ru-RU" dirty="0"/>
                  <a:t>).</a:t>
                </a:r>
              </a:p>
              <a:p>
                <a:r>
                  <a:rPr lang="ru-RU" dirty="0"/>
                  <a:t>- В перпендикулярном направлении </a:t>
                </a:r>
                <a14:m>
                  <m:oMath xmlns:m="http://schemas.openxmlformats.org/officeDocument/2006/math">
                    <m:r>
                      <a:rPr lang="ru-RU" b="0" i="1" smtClean="0">
                        <a:latin typeface="Cambria Math" panose="02040503050406030204" pitchFamily="18" charset="0"/>
                      </a:rPr>
                      <m:t>𝜌</m:t>
                    </m:r>
                    <m:r>
                      <a:rPr lang="en-US" b="0" i="1" smtClean="0">
                        <a:latin typeface="Cambria Math" panose="02040503050406030204" pitchFamily="18" charset="0"/>
                      </a:rPr>
                      <m:t>𝑑</m:t>
                    </m:r>
                    <m:r>
                      <a:rPr lang="en-US" b="0" i="1" smtClean="0">
                        <a:latin typeface="Cambria Math" panose="02040503050406030204" pitchFamily="18" charset="0"/>
                      </a:rPr>
                      <m:t>𝜑</m:t>
                    </m:r>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𝑒</m:t>
                            </m:r>
                          </m:e>
                        </m:acc>
                      </m:e>
                      <m:sub>
                        <m:r>
                          <a:rPr lang="en-US" b="0" i="1" smtClean="0">
                            <a:latin typeface="Cambria Math" panose="02040503050406030204" pitchFamily="18" charset="0"/>
                          </a:rPr>
                          <m:t>𝜑</m:t>
                        </m:r>
                      </m:sub>
                    </m:sSub>
                  </m:oMath>
                </a14:m>
                <a:r>
                  <a:rPr lang="en-US" dirty="0"/>
                  <a:t>.</a:t>
                </a:r>
                <a:endParaRPr lang="ru-RU" dirty="0"/>
              </a:p>
              <a:p>
                <a:r>
                  <a:rPr lang="ru-RU" dirty="0"/>
                  <a:t>Продифференцируем перемещение, получим:</a:t>
                </a:r>
              </a:p>
              <a:p>
                <a:r>
                  <a:rPr lang="ru-RU" dirty="0"/>
                  <a:t>- Радиальную скорость</a:t>
                </a:r>
                <a14:m>
                  <m:oMath xmlns:m="http://schemas.openxmlformats.org/officeDocument/2006/math">
                    <m:r>
                      <a:rPr lang="ru-RU" b="0" i="0" smtClean="0">
                        <a:latin typeface="Cambria Math" panose="02040503050406030204" pitchFamily="18"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b="0" i="1" smtClean="0">
                            <a:latin typeface="Cambria Math" panose="02040503050406030204" pitchFamily="18" charset="0"/>
                          </a:rPr>
                          <m:t>𝑟</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𝜌</m:t>
                        </m:r>
                      </m:num>
                      <m:den>
                        <m:r>
                          <a:rPr lang="en-US" i="1">
                            <a:latin typeface="Cambria Math" panose="02040503050406030204" pitchFamily="18" charset="0"/>
                          </a:rPr>
                          <m:t>𝑑𝑡</m:t>
                        </m:r>
                      </m:den>
                    </m:f>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𝑒</m:t>
                            </m:r>
                          </m:e>
                        </m:acc>
                      </m:e>
                      <m:sub>
                        <m:r>
                          <a:rPr lang="en-US" b="0" i="1" smtClean="0">
                            <a:latin typeface="Cambria Math" panose="02040503050406030204" pitchFamily="18" charset="0"/>
                          </a:rPr>
                          <m:t>𝑟</m:t>
                        </m:r>
                      </m:sub>
                    </m:sSub>
                    <m:r>
                      <a:rPr lang="en-US" b="0" i="1" smtClean="0">
                        <a:latin typeface="Cambria Math" panose="02040503050406030204" pitchFamily="18" charset="0"/>
                      </a:rPr>
                      <m:t>=0</m:t>
                    </m:r>
                  </m:oMath>
                </a14:m>
                <a:endParaRPr lang="ru-RU" dirty="0"/>
              </a:p>
              <a:p>
                <a:r>
                  <a:rPr lang="ru-RU" dirty="0"/>
                  <a:t>- Поперечную (трансверсальная) скорость: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smtClean="0">
                            <a:latin typeface="Cambria Math" panose="02040503050406030204" pitchFamily="18" charset="0"/>
                          </a:rPr>
                          <m:t>𝜑</m:t>
                        </m:r>
                      </m:sub>
                    </m:sSub>
                    <m:r>
                      <a:rPr lang="en-US" b="0" i="1" smtClean="0">
                        <a:latin typeface="Cambria Math" panose="02040503050406030204" pitchFamily="18" charset="0"/>
                      </a:rPr>
                      <m:t>=</m:t>
                    </m:r>
                    <m:r>
                      <a:rPr lang="en-US" b="0" i="1" smtClean="0">
                        <a:latin typeface="Cambria Math" panose="02040503050406030204" pitchFamily="18" charset="0"/>
                      </a:rPr>
                      <m:t>𝜌</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0" i="1" smtClean="0">
                            <a:latin typeface="Cambria Math" panose="02040503050406030204" pitchFamily="18" charset="0"/>
                          </a:rPr>
                          <m:t>𝜑</m:t>
                        </m:r>
                      </m:num>
                      <m:den>
                        <m:r>
                          <a:rPr lang="en-US" b="0" i="1" smtClean="0">
                            <a:latin typeface="Cambria Math" panose="02040503050406030204" pitchFamily="18" charset="0"/>
                          </a:rPr>
                          <m:t>𝑑𝑡</m:t>
                        </m:r>
                      </m:den>
                    </m:f>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𝑒</m:t>
                            </m:r>
                          </m:e>
                        </m:acc>
                      </m:e>
                      <m:sub>
                        <m:r>
                          <a:rPr lang="en-US" b="0" i="1" smtClean="0">
                            <a:latin typeface="Cambria Math" panose="02040503050406030204" pitchFamily="18" charset="0"/>
                          </a:rPr>
                          <m:t>𝜑</m:t>
                        </m:r>
                      </m:sub>
                    </m:sSub>
                    <m:r>
                      <a:rPr lang="en-US" b="0" i="1" smtClean="0">
                        <a:latin typeface="Cambria Math" panose="02040503050406030204" pitchFamily="18" charset="0"/>
                      </a:rPr>
                      <m:t>=</m:t>
                    </m:r>
                    <m:r>
                      <a:rPr lang="en-US" b="0" i="1" smtClean="0">
                        <a:latin typeface="Cambria Math" panose="02040503050406030204" pitchFamily="18" charset="0"/>
                      </a:rPr>
                      <m:t>𝜌𝜔</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𝑒</m:t>
                            </m:r>
                          </m:e>
                        </m:acc>
                      </m:e>
                      <m:sub>
                        <m:r>
                          <a:rPr lang="en-US" i="1">
                            <a:latin typeface="Cambria Math" panose="02040503050406030204" pitchFamily="18" charset="0"/>
                          </a:rPr>
                          <m:t>𝜑</m:t>
                        </m:r>
                      </m:sub>
                    </m:sSub>
                  </m:oMath>
                </a14:m>
                <a:endParaRPr lang="ru-RU" dirty="0"/>
              </a:p>
              <a:p>
                <a:r>
                  <a:rPr lang="ru-RU" dirty="0"/>
                  <a:t>Только поперечная скорость выражается как:</a:t>
                </a:r>
              </a:p>
              <a:p>
                <a:pPr/>
                <a14:m>
                  <m:oMathPara xmlns:m="http://schemas.openxmlformats.org/officeDocument/2006/math">
                    <m:oMathParaPr>
                      <m:jc m:val="centerGroup"/>
                    </m:oMathParaPr>
                    <m:oMath xmlns:m="http://schemas.openxmlformats.org/officeDocument/2006/math">
                      <m:acc>
                        <m:accPr>
                          <m:chr m:val="⃗"/>
                          <m:ctrlPr>
                            <a:rPr lang="ru-RU" i="1" smtClean="0">
                              <a:latin typeface="Cambria Math" panose="02040503050406030204" pitchFamily="18" charset="0"/>
                            </a:rPr>
                          </m:ctrlPr>
                        </m:accPr>
                        <m:e>
                          <m:r>
                            <a:rPr lang="en-US" b="0" i="1" smtClean="0">
                              <a:latin typeface="Cambria Math" panose="02040503050406030204" pitchFamily="18" charset="0"/>
                            </a:rPr>
                            <m:t>𝑣</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𝜔</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e>
                      </m:d>
                    </m:oMath>
                  </m:oMathPara>
                </a14:m>
                <a:endParaRPr lang="ru-RU"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𝑅</m:t>
                      </m:r>
                      <m:r>
                        <a:rPr lang="en-US" i="1">
                          <a:latin typeface="Cambria Math" panose="02040503050406030204" pitchFamily="18" charset="0"/>
                        </a:rPr>
                        <m:t>=</m:t>
                      </m:r>
                      <m:r>
                        <a:rPr lang="en-US" i="1">
                          <a:latin typeface="Cambria Math" panose="02040503050406030204" pitchFamily="18" charset="0"/>
                        </a:rPr>
                        <m:t>𝑟</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r>
                            <a:rPr lang="en-US" i="1">
                              <a:latin typeface="Cambria Math" panose="02040503050406030204" pitchFamily="18" charset="0"/>
                            </a:rPr>
                            <m:t>𝜃</m:t>
                          </m:r>
                        </m:e>
                      </m:func>
                    </m:oMath>
                  </m:oMathPara>
                </a14:m>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𝜔</m:t>
                      </m:r>
                      <m:r>
                        <a:rPr lang="en-US" b="0" i="1" smtClean="0">
                          <a:latin typeface="Cambria Math" panose="02040503050406030204" pitchFamily="18" charset="0"/>
                        </a:rPr>
                        <m:t>𝑅</m:t>
                      </m:r>
                    </m:oMath>
                  </m:oMathPara>
                </a14:m>
                <a:endParaRPr lang="ru-RU" dirty="0"/>
              </a:p>
            </p:txBody>
          </p:sp>
        </mc:Choice>
        <mc:Fallback xmlns="">
          <p:sp>
            <p:nvSpPr>
              <p:cNvPr id="3" name="Текст 2">
                <a:extLst>
                  <a:ext uri="{FF2B5EF4-FFF2-40B4-BE49-F238E27FC236}">
                    <a16:creationId xmlns:a16="http://schemas.microsoft.com/office/drawing/2014/main" id="{7FC54E7F-97AF-9390-9D7A-145B698E9420}"/>
                  </a:ext>
                </a:extLst>
              </p:cNvPr>
              <p:cNvSpPr>
                <a:spLocks noGrp="1" noRot="1" noChangeAspect="1" noMove="1" noResize="1" noEditPoints="1" noAdjustHandles="1" noChangeArrowheads="1" noChangeShapeType="1" noTextEdit="1"/>
              </p:cNvSpPr>
              <p:nvPr>
                <p:ph type="body" sz="quarter" idx="13"/>
              </p:nvPr>
            </p:nvSpPr>
            <p:spPr>
              <a:xfrm>
                <a:off x="838200" y="975360"/>
                <a:ext cx="8850053" cy="5702397"/>
              </a:xfrm>
              <a:blipFill>
                <a:blip r:embed="rId3"/>
                <a:stretch>
                  <a:fillRect l="-620" t="-963" r="-620"/>
                </a:stretch>
              </a:blipFill>
            </p:spPr>
            <p:txBody>
              <a:bodyPr/>
              <a:lstStyle/>
              <a:p>
                <a:r>
                  <a:rPr lang="ru-RU">
                    <a:noFill/>
                  </a:rPr>
                  <a:t> </a:t>
                </a:r>
              </a:p>
            </p:txBody>
          </p:sp>
        </mc:Fallback>
      </mc:AlternateContent>
      <p:pic>
        <p:nvPicPr>
          <p:cNvPr id="6" name="Рисунок 5">
            <a:extLst>
              <a:ext uri="{FF2B5EF4-FFF2-40B4-BE49-F238E27FC236}">
                <a16:creationId xmlns:a16="http://schemas.microsoft.com/office/drawing/2014/main" id="{CF3CBE6D-17FA-385E-311B-63D479605B7D}"/>
              </a:ext>
            </a:extLst>
          </p:cNvPr>
          <p:cNvPicPr>
            <a:picLocks noChangeAspect="1"/>
          </p:cNvPicPr>
          <p:nvPr/>
        </p:nvPicPr>
        <p:blipFill>
          <a:blip r:embed="rId4"/>
          <a:stretch>
            <a:fillRect/>
          </a:stretch>
        </p:blipFill>
        <p:spPr>
          <a:xfrm>
            <a:off x="9688253" y="824093"/>
            <a:ext cx="2321819" cy="3473587"/>
          </a:xfrm>
          <a:prstGeom prst="rect">
            <a:avLst/>
          </a:prstGeom>
        </p:spPr>
      </p:pic>
    </p:spTree>
    <p:extLst>
      <p:ext uri="{BB962C8B-B14F-4D97-AF65-F5344CB8AC3E}">
        <p14:creationId xmlns:p14="http://schemas.microsoft.com/office/powerpoint/2010/main" val="1069600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01166-461F-EB87-44DE-7A7A86DD3AC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3E8C66-508A-3506-16E6-985580830F3B}"/>
              </a:ext>
            </a:extLst>
          </p:cNvPr>
          <p:cNvSpPr>
            <a:spLocks noGrp="1"/>
          </p:cNvSpPr>
          <p:nvPr>
            <p:ph type="title"/>
          </p:nvPr>
        </p:nvSpPr>
        <p:spPr>
          <a:xfrm>
            <a:off x="838200" y="399678"/>
            <a:ext cx="10515600" cy="848829"/>
          </a:xfrm>
        </p:spPr>
        <p:txBody>
          <a:bodyPr/>
          <a:lstStyle/>
          <a:p>
            <a:r>
              <a:rPr lang="ru-RU" dirty="0"/>
              <a:t>4. Вращение материальной точки вокруг оси. Получите выражение для нормального и тангенциального ускорения через угловые характеристики. </a:t>
            </a:r>
            <a:br>
              <a:rPr lang="en-US" dirty="0"/>
            </a:br>
            <a:r>
              <a:rPr lang="en-US" b="0" dirty="0"/>
              <a:t>(+</a:t>
            </a:r>
            <a:r>
              <a:rPr lang="ru-RU" b="0" dirty="0"/>
              <a:t> билет 3 слайд 1</a:t>
            </a:r>
            <a:r>
              <a:rPr lang="en-US" b="0" dirty="0"/>
              <a:t>)</a:t>
            </a:r>
            <a:endParaRPr lang="ru-RU" b="0" dirty="0"/>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FB1985A0-127C-495C-1E89-6BF8977E25CC}"/>
                  </a:ext>
                </a:extLst>
              </p:cNvPr>
              <p:cNvSpPr>
                <a:spLocks noGrp="1"/>
              </p:cNvSpPr>
              <p:nvPr>
                <p:ph type="body" sz="quarter" idx="13"/>
              </p:nvPr>
            </p:nvSpPr>
            <p:spPr>
              <a:xfrm>
                <a:off x="838200" y="1248507"/>
                <a:ext cx="7208520" cy="4941277"/>
              </a:xfrm>
            </p:spPr>
            <p:txBody>
              <a:bodyPr/>
              <a:lstStyle/>
              <a:p>
                <a:endParaRPr lang="en-US" dirty="0"/>
              </a:p>
              <a:p>
                <a:endParaRPr lang="en-US" dirty="0"/>
              </a:p>
              <a:p>
                <a:r>
                  <a:rPr lang="ru-RU" dirty="0"/>
                  <a:t>Линейная скорость связана с угловой как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r>
                      <a:rPr lang="en-US" b="0" i="1" dirty="0" smtClean="0">
                        <a:latin typeface="Cambria Math" panose="02040503050406030204" pitchFamily="18" charset="0"/>
                      </a:rPr>
                      <m:t>, </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r>
                      <a:rPr lang="en-US" b="0" i="1" dirty="0" smtClean="0">
                        <a:latin typeface="Cambria Math" panose="02040503050406030204" pitchFamily="18" charset="0"/>
                      </a:rPr>
                      <m:t>]</m:t>
                    </m:r>
                  </m:oMath>
                </a14:m>
                <a:r>
                  <a:rPr lang="en-US" dirty="0"/>
                  <a:t>. </a:t>
                </a:r>
                <a:endParaRPr lang="ru-RU" dirty="0"/>
              </a:p>
              <a:p>
                <a:r>
                  <a:rPr lang="ru-RU" dirty="0"/>
                  <a:t>Продифференцируем – получим ускорение.</a:t>
                </a:r>
                <a:endParaRPr lang="en-US" dirty="0"/>
              </a:p>
              <a:p>
                <a:endParaRPr lang="ru-RU" dirty="0"/>
              </a:p>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𝑑</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𝑣</m:t>
                              </m:r>
                            </m:e>
                          </m:acc>
                        </m:num>
                        <m:den>
                          <m:r>
                            <a:rPr lang="en-US" b="0" i="1" dirty="0" smtClean="0">
                              <a:latin typeface="Cambria Math" panose="02040503050406030204" pitchFamily="18" charset="0"/>
                            </a:rPr>
                            <m:t>𝑑𝑡</m:t>
                          </m:r>
                        </m:den>
                      </m:f>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𝑑</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num>
                            <m:den>
                              <m:r>
                                <a:rPr lang="en-US" b="0" i="1" dirty="0" smtClean="0">
                                  <a:latin typeface="Cambria Math" panose="02040503050406030204" pitchFamily="18" charset="0"/>
                                </a:rPr>
                                <m:t>𝑑𝑡</m:t>
                              </m:r>
                            </m:den>
                          </m:f>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𝑑</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num>
                            <m:den>
                              <m:r>
                                <a:rPr lang="en-US" b="0" i="1" dirty="0" smtClean="0">
                                  <a:latin typeface="Cambria Math" panose="02040503050406030204" pitchFamily="18" charset="0"/>
                                </a:rPr>
                                <m:t>𝑑𝑡</m:t>
                              </m:r>
                            </m:den>
                          </m:f>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𝜀</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𝑟</m:t>
                                  </m:r>
                                </m:e>
                              </m:acc>
                            </m:e>
                          </m:d>
                        </m:e>
                      </m:d>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𝜀</m:t>
                          </m:r>
                        </m:e>
                        <m:sub>
                          <m:r>
                            <a:rPr lang="en-US" b="0" i="1" dirty="0" smtClean="0">
                              <a:latin typeface="Cambria Math" panose="02040503050406030204" pitchFamily="18" charset="0"/>
                            </a:rPr>
                            <m:t>𝑧</m:t>
                          </m:r>
                        </m:sub>
                      </m:sSub>
                      <m:r>
                        <a:rPr lang="en-US" b="0" i="1" dirty="0" smtClean="0">
                          <a:latin typeface="Cambria Math" panose="02040503050406030204" pitchFamily="18" charset="0"/>
                        </a:rPr>
                        <m:t>⋅</m:t>
                      </m:r>
                      <m:r>
                        <a:rPr lang="en-US" b="0" i="1" dirty="0" smtClean="0">
                          <a:latin typeface="Cambria Math" panose="02040503050406030204" pitchFamily="18" charset="0"/>
                        </a:rPr>
                        <m:t>𝑅</m:t>
                      </m:r>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𝜏</m:t>
                          </m:r>
                        </m:e>
                      </m:acc>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𝜔</m:t>
                          </m:r>
                        </m:e>
                        <m:sup>
                          <m:r>
                            <a:rPr lang="en-US" b="0" i="1" dirty="0" smtClean="0">
                              <a:latin typeface="Cambria Math" panose="02040503050406030204" pitchFamily="18" charset="0"/>
                            </a:rPr>
                            <m:t>2</m:t>
                          </m:r>
                        </m:sup>
                      </m:sSup>
                      <m:r>
                        <a:rPr lang="en-US" b="0" i="1" dirty="0" smtClean="0">
                          <a:latin typeface="Cambria Math" panose="02040503050406030204" pitchFamily="18" charset="0"/>
                        </a:rPr>
                        <m:t>⋅</m:t>
                      </m:r>
                      <m:r>
                        <a:rPr lang="en-US" b="0" i="1" dirty="0" smtClean="0">
                          <a:latin typeface="Cambria Math" panose="02040503050406030204" pitchFamily="18" charset="0"/>
                        </a:rPr>
                        <m:t>𝑅</m:t>
                      </m:r>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𝑛</m:t>
                          </m:r>
                        </m:e>
                      </m:acc>
                    </m:oMath>
                  </m:oMathPara>
                </a14:m>
                <a:endParaRPr lang="en-US" dirty="0"/>
              </a:p>
              <a:p>
                <a:r>
                  <a:rPr lang="ru-RU" dirty="0"/>
                  <a:t>Отсюда</a:t>
                </a:r>
                <a:endParaRPr lang="en-US" dirty="0"/>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𝑎</m:t>
                              </m:r>
                            </m:e>
                          </m:acc>
                        </m:e>
                        <m:sub>
                          <m:r>
                            <a:rPr lang="en-US" i="1" dirty="0">
                              <a:latin typeface="Cambria Math" panose="02040503050406030204" pitchFamily="18" charset="0"/>
                            </a:rPr>
                            <m:t>𝜏</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𝜀</m:t>
                          </m:r>
                        </m:e>
                        <m:sub>
                          <m:r>
                            <a:rPr lang="en-US" i="1" dirty="0">
                              <a:latin typeface="Cambria Math" panose="02040503050406030204" pitchFamily="18" charset="0"/>
                            </a:rPr>
                            <m:t>𝑧</m:t>
                          </m:r>
                        </m:sub>
                      </m:sSub>
                      <m:r>
                        <a:rPr lang="en-US" i="1" dirty="0">
                          <a:latin typeface="Cambria Math" panose="02040503050406030204" pitchFamily="18" charset="0"/>
                        </a:rPr>
                        <m:t>⋅</m:t>
                      </m:r>
                      <m:r>
                        <a:rPr lang="en-US" i="1" dirty="0">
                          <a:latin typeface="Cambria Math" panose="02040503050406030204" pitchFamily="18" charset="0"/>
                        </a:rPr>
                        <m:t>𝑅</m:t>
                      </m:r>
                    </m:oMath>
                  </m:oMathPara>
                </a14:m>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𝑎</m:t>
                              </m:r>
                            </m:e>
                          </m:acc>
                        </m:e>
                        <m:sub>
                          <m:r>
                            <a:rPr lang="en-US" i="1" dirty="0">
                              <a:latin typeface="Cambria Math" panose="02040503050406030204" pitchFamily="18" charset="0"/>
                            </a:rPr>
                            <m:t>𝑛</m:t>
                          </m:r>
                        </m:sub>
                      </m:sSub>
                      <m:r>
                        <a:rPr lang="en-US" b="0" i="1" dirty="0" smtClean="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𝜔</m:t>
                          </m:r>
                        </m:e>
                        <m:sup>
                          <m:r>
                            <a:rPr lang="en-US" i="1" dirty="0">
                              <a:latin typeface="Cambria Math" panose="02040503050406030204" pitchFamily="18" charset="0"/>
                            </a:rPr>
                            <m:t>2</m:t>
                          </m:r>
                        </m:sup>
                      </m:sSup>
                      <m:r>
                        <a:rPr lang="en-US" i="1" dirty="0">
                          <a:latin typeface="Cambria Math" panose="02040503050406030204" pitchFamily="18" charset="0"/>
                        </a:rPr>
                        <m:t>⋅</m:t>
                      </m:r>
                      <m:r>
                        <a:rPr lang="en-US" i="1" dirty="0">
                          <a:latin typeface="Cambria Math" panose="02040503050406030204" pitchFamily="18" charset="0"/>
                        </a:rPr>
                        <m:t>𝑅</m:t>
                      </m:r>
                    </m:oMath>
                  </m:oMathPara>
                </a14:m>
                <a:endParaRPr lang="ru-RU" dirty="0"/>
              </a:p>
            </p:txBody>
          </p:sp>
        </mc:Choice>
        <mc:Fallback xmlns="">
          <p:sp>
            <p:nvSpPr>
              <p:cNvPr id="3" name="Текст 2">
                <a:extLst>
                  <a:ext uri="{FF2B5EF4-FFF2-40B4-BE49-F238E27FC236}">
                    <a16:creationId xmlns:a16="http://schemas.microsoft.com/office/drawing/2014/main" id="{FB1985A0-127C-495C-1E89-6BF8977E25CC}"/>
                  </a:ext>
                </a:extLst>
              </p:cNvPr>
              <p:cNvSpPr>
                <a:spLocks noGrp="1" noRot="1" noChangeAspect="1" noMove="1" noResize="1" noEditPoints="1" noAdjustHandles="1" noChangeArrowheads="1" noChangeShapeType="1" noTextEdit="1"/>
              </p:cNvSpPr>
              <p:nvPr>
                <p:ph type="body" sz="quarter" idx="13"/>
              </p:nvPr>
            </p:nvSpPr>
            <p:spPr>
              <a:xfrm>
                <a:off x="838200" y="1248507"/>
                <a:ext cx="7208520" cy="4941277"/>
              </a:xfrm>
              <a:blipFill>
                <a:blip r:embed="rId2"/>
                <a:stretch>
                  <a:fillRect l="-761"/>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86B5F296-E8A9-40D8-80BE-844369D5FD6F}"/>
              </a:ext>
            </a:extLst>
          </p:cNvPr>
          <p:cNvPicPr>
            <a:picLocks noChangeAspect="1"/>
          </p:cNvPicPr>
          <p:nvPr/>
        </p:nvPicPr>
        <p:blipFill>
          <a:blip r:embed="rId3"/>
          <a:stretch>
            <a:fillRect/>
          </a:stretch>
        </p:blipFill>
        <p:spPr>
          <a:xfrm>
            <a:off x="8048625" y="1366470"/>
            <a:ext cx="3305175" cy="4705350"/>
          </a:xfrm>
          <a:prstGeom prst="rect">
            <a:avLst/>
          </a:prstGeom>
        </p:spPr>
      </p:pic>
    </p:spTree>
    <p:extLst>
      <p:ext uri="{BB962C8B-B14F-4D97-AF65-F5344CB8AC3E}">
        <p14:creationId xmlns:p14="http://schemas.microsoft.com/office/powerpoint/2010/main" val="1677042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A514-18AA-0DC4-6BAB-878D281DC2C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64907C-0021-70C7-9089-48BCFB6EE506}"/>
              </a:ext>
            </a:extLst>
          </p:cNvPr>
          <p:cNvSpPr>
            <a:spLocks noGrp="1"/>
          </p:cNvSpPr>
          <p:nvPr>
            <p:ph type="title"/>
          </p:nvPr>
        </p:nvSpPr>
        <p:spPr>
          <a:xfrm>
            <a:off x="838200" y="399678"/>
            <a:ext cx="10515600" cy="848829"/>
          </a:xfrm>
        </p:spPr>
        <p:txBody>
          <a:bodyPr/>
          <a:lstStyle/>
          <a:p>
            <a:r>
              <a:rPr lang="ru-RU" dirty="0"/>
              <a:t>5. Получите закон динамики центра масс системы взаимодействующих частиц? Что такое Ц-система. Когда удобно решать задачи в Ц-системе? Приведите пример.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9FA17CDC-AF31-C845-15AD-4FF9AF39E4DF}"/>
                  </a:ext>
                </a:extLst>
              </p:cNvPr>
              <p:cNvSpPr>
                <a:spLocks noGrp="1"/>
              </p:cNvSpPr>
              <p:nvPr>
                <p:ph type="body" sz="quarter" idx="13"/>
              </p:nvPr>
            </p:nvSpPr>
            <p:spPr/>
            <p:txBody>
              <a:bodyPr/>
              <a:lstStyle/>
              <a:p>
                <a:pPr algn="l"/>
                <a:r>
                  <a:rPr lang="ru-RU" b="1" dirty="0"/>
                  <a:t>Закон движения центра масс</a:t>
                </a:r>
                <a:r>
                  <a:rPr lang="ru-RU" dirty="0"/>
                  <a:t>.</a:t>
                </a:r>
              </a:p>
              <a:p>
                <a:r>
                  <a:rPr lang="ru-RU" dirty="0"/>
                  <a:t>1) Радиус-вектор центра масс: </a:t>
                </a:r>
              </a:p>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e>
                        <m:sub>
                          <m:r>
                            <a:rPr lang="en-US" b="0" i="1" dirty="0" smtClean="0">
                              <a:latin typeface="Cambria Math" panose="02040503050406030204" pitchFamily="18" charset="0"/>
                            </a:rPr>
                            <m:t>𝑐</m:t>
                          </m:r>
                        </m:sub>
                      </m:sSub>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nary>
                            <m:naryPr>
                              <m:chr m:val="∑"/>
                              <m:supHide m:val="on"/>
                              <m:ctrlPr>
                                <a:rPr lang="en-US" b="0" i="1" dirty="0" smtClean="0">
                                  <a:latin typeface="Cambria Math" panose="02040503050406030204" pitchFamily="18" charset="0"/>
                                </a:rPr>
                              </m:ctrlPr>
                            </m:naryPr>
                            <m:sub>
                              <m:r>
                                <m:rPr>
                                  <m:brk m:alnAt="7"/>
                                </m:rPr>
                                <a:rPr lang="en-US" b="0" i="1" dirty="0" smtClean="0">
                                  <a:latin typeface="Cambria Math" panose="02040503050406030204" pitchFamily="18" charset="0"/>
                                </a:rPr>
                                <m:t>𝑖</m:t>
                              </m:r>
                            </m:sub>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𝑚</m:t>
                                  </m:r>
                                </m:e>
                                <m:sub>
                                  <m:r>
                                    <a:rPr lang="en-US" b="0" i="1" dirty="0" smtClean="0">
                                      <a:latin typeface="Cambria Math" panose="02040503050406030204" pitchFamily="18" charset="0"/>
                                    </a:rPr>
                                    <m:t>𝑖</m:t>
                                  </m:r>
                                </m:sub>
                              </m:sSub>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𝑟</m:t>
                                      </m:r>
                                    </m:e>
                                  </m:acc>
                                </m:e>
                                <m:sub>
                                  <m:r>
                                    <a:rPr lang="en-US" b="0" i="1" smtClean="0">
                                      <a:latin typeface="Cambria Math" panose="02040503050406030204" pitchFamily="18" charset="0"/>
                                    </a:rPr>
                                    <m:t>𝑖</m:t>
                                  </m:r>
                                </m:sub>
                              </m:sSub>
                            </m:e>
                          </m:nary>
                        </m:num>
                        <m:den>
                          <m:nary>
                            <m:naryPr>
                              <m:chr m:val="∑"/>
                              <m:supHide m:val="on"/>
                              <m:ctrlPr>
                                <a:rPr lang="en-US" i="1" dirty="0">
                                  <a:latin typeface="Cambria Math" panose="02040503050406030204" pitchFamily="18" charset="0"/>
                                </a:rPr>
                              </m:ctrlPr>
                            </m:naryPr>
                            <m:sub>
                              <m:r>
                                <m:rPr>
                                  <m:brk m:alnAt="7"/>
                                </m:rPr>
                                <a:rPr lang="en-US" i="1" dirty="0">
                                  <a:latin typeface="Cambria Math" panose="02040503050406030204" pitchFamily="18" charset="0"/>
                                </a:rPr>
                                <m:t>𝑖</m:t>
                              </m:r>
                            </m:sub>
                            <m:sup/>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𝑖</m:t>
                                  </m:r>
                                </m:sub>
                              </m:sSub>
                            </m:e>
                          </m:nary>
                        </m:den>
                      </m:f>
                    </m:oMath>
                  </m:oMathPara>
                </a14:m>
                <a:endParaRPr lang="en-US" dirty="0"/>
              </a:p>
              <a:p>
                <a:r>
                  <a:rPr lang="ru-RU" dirty="0"/>
                  <a:t>2) Скорость центра масс:</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dirty="0">
                              <a:latin typeface="Cambria Math" panose="02040503050406030204" pitchFamily="18" charset="0"/>
                            </a:rPr>
                            <m:t>𝑐</m:t>
                          </m:r>
                        </m:sub>
                      </m:sSub>
                      <m:r>
                        <a:rPr lang="ru-RU"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𝑑</m:t>
                          </m:r>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𝑟</m:t>
                                  </m:r>
                                </m:e>
                              </m:acc>
                            </m:e>
                            <m:sub>
                              <m:r>
                                <a:rPr lang="en-US" i="1" dirty="0">
                                  <a:latin typeface="Cambria Math" panose="02040503050406030204" pitchFamily="18" charset="0"/>
                                </a:rPr>
                                <m:t>𝑐</m:t>
                              </m:r>
                            </m:sub>
                          </m:sSub>
                        </m:num>
                        <m:den>
                          <m:r>
                            <m:rPr>
                              <m:sty m:val="p"/>
                            </m:rPr>
                            <a:rPr lang="en-US" b="0" i="0" dirty="0" smtClean="0">
                              <a:latin typeface="Cambria Math" panose="02040503050406030204" pitchFamily="18" charset="0"/>
                            </a:rPr>
                            <m:t>dt</m:t>
                          </m:r>
                        </m:den>
                      </m:f>
                      <m:r>
                        <a:rPr lang="en-US" b="0" i="0" dirty="0" smtClean="0">
                          <a:latin typeface="Cambria Math" panose="02040503050406030204" pitchFamily="18" charset="0"/>
                        </a:rPr>
                        <m:t>=</m:t>
                      </m:r>
                      <m:f>
                        <m:fPr>
                          <m:ctrlPr>
                            <a:rPr lang="en-US" i="1" dirty="0">
                              <a:latin typeface="Cambria Math" panose="02040503050406030204" pitchFamily="18" charset="0"/>
                            </a:rPr>
                          </m:ctrlPr>
                        </m:fPr>
                        <m:num>
                          <m:nary>
                            <m:naryPr>
                              <m:chr m:val="∑"/>
                              <m:supHide m:val="on"/>
                              <m:ctrlPr>
                                <a:rPr lang="en-US" i="1" dirty="0">
                                  <a:latin typeface="Cambria Math" panose="02040503050406030204" pitchFamily="18" charset="0"/>
                                </a:rPr>
                              </m:ctrlPr>
                            </m:naryPr>
                            <m:sub>
                              <m:r>
                                <m:rPr>
                                  <m:brk m:alnAt="7"/>
                                </m:rPr>
                                <a:rPr lang="en-US" i="1" dirty="0">
                                  <a:latin typeface="Cambria Math" panose="02040503050406030204" pitchFamily="18" charset="0"/>
                                </a:rPr>
                                <m:t>𝑖</m:t>
                              </m:r>
                            </m:sub>
                            <m:sup/>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𝑖</m:t>
                                  </m:r>
                                </m:sub>
                              </m:sSub>
                              <m:sSub>
                                <m:sSubPr>
                                  <m:ctrlPr>
                                    <a:rPr lang="en-US" i="1" dirty="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𝑣</m:t>
                                      </m:r>
                                    </m:e>
                                  </m:acc>
                                </m:e>
                                <m:sub>
                                  <m:r>
                                    <a:rPr lang="en-US" i="1">
                                      <a:latin typeface="Cambria Math" panose="02040503050406030204" pitchFamily="18" charset="0"/>
                                    </a:rPr>
                                    <m:t>𝑖</m:t>
                                  </m:r>
                                </m:sub>
                              </m:sSub>
                            </m:e>
                          </m:nary>
                        </m:num>
                        <m:den>
                          <m:nary>
                            <m:naryPr>
                              <m:chr m:val="∑"/>
                              <m:supHide m:val="on"/>
                              <m:ctrlPr>
                                <a:rPr lang="en-US" i="1" dirty="0">
                                  <a:latin typeface="Cambria Math" panose="02040503050406030204" pitchFamily="18" charset="0"/>
                                </a:rPr>
                              </m:ctrlPr>
                            </m:naryPr>
                            <m:sub>
                              <m:r>
                                <m:rPr>
                                  <m:brk m:alnAt="7"/>
                                </m:rPr>
                                <a:rPr lang="en-US" i="1" dirty="0">
                                  <a:latin typeface="Cambria Math" panose="02040503050406030204" pitchFamily="18" charset="0"/>
                                </a:rPr>
                                <m:t>𝑖</m:t>
                              </m:r>
                            </m:sub>
                            <m:sup/>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𝑖</m:t>
                                  </m:r>
                                </m:sub>
                              </m:sSub>
                            </m:e>
                          </m:nary>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m:rPr>
                                      <m:sty m:val="p"/>
                                    </m:rPr>
                                    <a:rPr lang="en-US" i="1" dirty="0">
                                      <a:latin typeface="Cambria Math" panose="02040503050406030204" pitchFamily="18" charset="0"/>
                                    </a:rPr>
                                    <m:t>P</m:t>
                                  </m:r>
                                </m:e>
                              </m:acc>
                            </m:e>
                            <m:sub>
                              <m:r>
                                <a:rPr lang="ru-RU" i="1" dirty="0">
                                  <a:latin typeface="Cambria Math" panose="02040503050406030204" pitchFamily="18" charset="0"/>
                                </a:rPr>
                                <m:t>системы</m:t>
                              </m:r>
                            </m:sub>
                          </m:sSub>
                        </m:num>
                        <m:den>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ru-RU" i="1" dirty="0">
                                  <a:latin typeface="Cambria Math" panose="02040503050406030204" pitchFamily="18" charset="0"/>
                                </a:rPr>
                                <m:t>системы</m:t>
                              </m:r>
                            </m:sub>
                          </m:sSub>
                        </m:den>
                      </m:f>
                    </m:oMath>
                  </m:oMathPara>
                </a14:m>
                <a:endParaRPr lang="ru-RU" dirty="0"/>
              </a:p>
              <a:p>
                <a:r>
                  <a:rPr lang="ru-RU" dirty="0"/>
                  <a:t>3) Закон движения центра масс системы частиц:</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ru-RU" i="1" dirty="0">
                              <a:latin typeface="Cambria Math" panose="02040503050406030204" pitchFamily="18" charset="0"/>
                            </a:rPr>
                            <m:t>системы</m:t>
                          </m:r>
                        </m:sub>
                      </m:sSub>
                      <m:f>
                        <m:fPr>
                          <m:ctrlPr>
                            <a:rPr lang="en-US" i="1" dirty="0">
                              <a:latin typeface="Cambria Math" panose="02040503050406030204" pitchFamily="18" charset="0"/>
                            </a:rPr>
                          </m:ctrlPr>
                        </m:fPr>
                        <m:num>
                          <m:r>
                            <a:rPr lang="en-US" i="1" dirty="0">
                              <a:latin typeface="Cambria Math" panose="02040503050406030204" pitchFamily="18" charset="0"/>
                            </a:rPr>
                            <m:t>𝑑</m:t>
                          </m:r>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b="0" i="1" smtClean="0">
                                      <a:latin typeface="Cambria Math" panose="02040503050406030204" pitchFamily="18" charset="0"/>
                                    </a:rPr>
                                    <m:t>𝑣</m:t>
                                  </m:r>
                                </m:e>
                              </m:acc>
                            </m:e>
                            <m:sub>
                              <m:r>
                                <a:rPr lang="en-US" i="1" dirty="0">
                                  <a:latin typeface="Cambria Math" panose="02040503050406030204" pitchFamily="18" charset="0"/>
                                </a:rPr>
                                <m:t>𝑐</m:t>
                              </m:r>
                            </m:sub>
                          </m:sSub>
                        </m:num>
                        <m:den>
                          <m:r>
                            <m:rPr>
                              <m:sty m:val="p"/>
                            </m:rPr>
                            <a:rPr lang="en-US" dirty="0">
                              <a:latin typeface="Cambria Math" panose="02040503050406030204" pitchFamily="18" charset="0"/>
                            </a:rPr>
                            <m:t>dt</m:t>
                          </m:r>
                        </m:den>
                      </m:f>
                      <m:r>
                        <a:rPr lang="ru-RU" b="0" i="1" dirty="0" smtClean="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𝑑</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m:rPr>
                                      <m:sty m:val="p"/>
                                    </m:rPr>
                                    <a:rPr lang="en-US" i="1" dirty="0">
                                      <a:latin typeface="Cambria Math" panose="02040503050406030204" pitchFamily="18" charset="0"/>
                                    </a:rPr>
                                    <m:t>P</m:t>
                                  </m:r>
                                </m:e>
                              </m:acc>
                            </m:e>
                            <m:sub>
                              <m:r>
                                <a:rPr lang="ru-RU" i="1" dirty="0">
                                  <a:latin typeface="Cambria Math" panose="02040503050406030204" pitchFamily="18" charset="0"/>
                                </a:rPr>
                                <m:t>системы</m:t>
                              </m:r>
                            </m:sub>
                          </m:sSub>
                        </m:num>
                        <m:den>
                          <m:r>
                            <m:rPr>
                              <m:sty m:val="p"/>
                            </m:rPr>
                            <a:rPr lang="en-US" dirty="0">
                              <a:latin typeface="Cambria Math" panose="02040503050406030204" pitchFamily="18" charset="0"/>
                            </a:rPr>
                            <m:t>dt</m:t>
                          </m:r>
                        </m:den>
                      </m:f>
                      <m:r>
                        <a:rPr lang="en-US" b="0" i="1" dirty="0" smtClean="0">
                          <a:latin typeface="Cambria Math" panose="02040503050406030204" pitchFamily="18" charset="0"/>
                        </a:rPr>
                        <m:t>=</m:t>
                      </m:r>
                      <m:nary>
                        <m:naryPr>
                          <m:chr m:val="∑"/>
                          <m:supHide m:val="on"/>
                          <m:ctrlPr>
                            <a:rPr lang="en-US" i="1" dirty="0">
                              <a:latin typeface="Cambria Math" panose="02040503050406030204" pitchFamily="18" charset="0"/>
                            </a:rPr>
                          </m:ctrlPr>
                        </m:naryPr>
                        <m:sub>
                          <m:r>
                            <m:rPr>
                              <m:brk m:alnAt="7"/>
                            </m:rPr>
                            <a:rPr lang="en-US" i="1" dirty="0">
                              <a:latin typeface="Cambria Math" panose="02040503050406030204" pitchFamily="18" charset="0"/>
                            </a:rPr>
                            <m:t>𝑖</m:t>
                          </m:r>
                        </m:sub>
                        <m:sup/>
                        <m:e>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e>
                            <m:sub>
                              <m:r>
                                <a:rPr lang="en-US" b="0" i="1" dirty="0" smtClean="0">
                                  <a:latin typeface="Cambria Math" panose="02040503050406030204" pitchFamily="18" charset="0"/>
                                </a:rPr>
                                <m:t>𝑖</m:t>
                              </m:r>
                              <m:r>
                                <a:rPr lang="en-US" b="0" i="1" dirty="0" smtClean="0">
                                  <a:latin typeface="Cambria Math" panose="02040503050406030204" pitchFamily="18" charset="0"/>
                                </a:rPr>
                                <m:t> внешн.</m:t>
                              </m:r>
                            </m:sub>
                          </m:sSub>
                        </m:e>
                      </m:nary>
                    </m:oMath>
                  </m:oMathPara>
                </a14:m>
                <a:endParaRPr lang="ru-RU" dirty="0"/>
              </a:p>
              <a:p>
                <a:r>
                  <a:rPr lang="ru-RU" b="1" dirty="0"/>
                  <a:t>Ц-система</a:t>
                </a:r>
                <a:r>
                  <a:rPr lang="ru-RU" dirty="0"/>
                  <a:t> – система отсчёта, жёстко связанная с центром масс. Полный импульс системы всегда равен нулю.</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m:rPr>
                                  <m:sty m:val="p"/>
                                </m:rPr>
                                <a:rPr lang="en-US" i="1" dirty="0">
                                  <a:latin typeface="Cambria Math" panose="02040503050406030204" pitchFamily="18" charset="0"/>
                                </a:rPr>
                                <m:t>P</m:t>
                              </m:r>
                            </m:e>
                          </m:acc>
                        </m:e>
                        <m:sub>
                          <m:r>
                            <a:rPr lang="ru-RU" i="1" dirty="0">
                              <a:latin typeface="Cambria Math" panose="02040503050406030204" pitchFamily="18" charset="0"/>
                            </a:rPr>
                            <m:t>системы</m:t>
                          </m:r>
                        </m:sub>
                      </m:sSub>
                      <m:r>
                        <a:rPr lang="ru-RU" i="1" dirty="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dirty="0">
                              <a:latin typeface="Cambria Math" panose="02040503050406030204" pitchFamily="18" charset="0"/>
                            </a:rPr>
                            <m:t>𝑐</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ru-RU" i="1" dirty="0">
                              <a:latin typeface="Cambria Math" panose="02040503050406030204" pitchFamily="18" charset="0"/>
                            </a:rPr>
                            <m:t>системы</m:t>
                          </m:r>
                        </m:sub>
                      </m:sSub>
                      <m:r>
                        <a:rPr lang="ru-RU" i="1" dirty="0">
                          <a:latin typeface="Cambria Math" panose="02040503050406030204" pitchFamily="18" charset="0"/>
                        </a:rPr>
                        <m:t>=0</m:t>
                      </m:r>
                    </m:oMath>
                  </m:oMathPara>
                </a14:m>
                <a:endParaRPr lang="ru-RU" dirty="0"/>
              </a:p>
              <a:p>
                <a:r>
                  <a:rPr lang="ru-RU" dirty="0"/>
                  <a:t>В замкнутой системе она инерциальная.</a:t>
                </a:r>
              </a:p>
              <a:p>
                <a:endParaRPr lang="ru-RU" dirty="0"/>
              </a:p>
            </p:txBody>
          </p:sp>
        </mc:Choice>
        <mc:Fallback xmlns="">
          <p:sp>
            <p:nvSpPr>
              <p:cNvPr id="3" name="Текст 2">
                <a:extLst>
                  <a:ext uri="{FF2B5EF4-FFF2-40B4-BE49-F238E27FC236}">
                    <a16:creationId xmlns:a16="http://schemas.microsoft.com/office/drawing/2014/main" id="{9FA17CDC-AF31-C845-15AD-4FF9AF39E4DF}"/>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522" t="-1235" r="-464"/>
                </a:stretch>
              </a:blipFill>
            </p:spPr>
            <p:txBody>
              <a:bodyPr/>
              <a:lstStyle/>
              <a:p>
                <a:r>
                  <a:rPr lang="ru-RU">
                    <a:noFill/>
                  </a:rPr>
                  <a:t> </a:t>
                </a:r>
              </a:p>
            </p:txBody>
          </p:sp>
        </mc:Fallback>
      </mc:AlternateContent>
    </p:spTree>
    <p:extLst>
      <p:ext uri="{BB962C8B-B14F-4D97-AF65-F5344CB8AC3E}">
        <p14:creationId xmlns:p14="http://schemas.microsoft.com/office/powerpoint/2010/main" val="1277665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C7FE0-2CE6-9786-AD9A-15D16D40B51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218436-267F-1270-7B42-3CBA0C0C75A6}"/>
              </a:ext>
            </a:extLst>
          </p:cNvPr>
          <p:cNvSpPr>
            <a:spLocks noGrp="1"/>
          </p:cNvSpPr>
          <p:nvPr>
            <p:ph type="title"/>
          </p:nvPr>
        </p:nvSpPr>
        <p:spPr>
          <a:xfrm>
            <a:off x="838200" y="399678"/>
            <a:ext cx="10515600" cy="848829"/>
          </a:xfrm>
        </p:spPr>
        <p:txBody>
          <a:bodyPr/>
          <a:lstStyle/>
          <a:p>
            <a:r>
              <a:rPr lang="ru-RU" dirty="0"/>
              <a:t>5. Получите закон динамики центра масс системы взаимодействующих частиц? Что такое Ц-система. Когда удобно решать задачи в Ц-системе? Приведите пример. </a:t>
            </a:r>
          </a:p>
        </p:txBody>
      </p:sp>
      <p:pic>
        <p:nvPicPr>
          <p:cNvPr id="5" name="Рисунок 4">
            <a:extLst>
              <a:ext uri="{FF2B5EF4-FFF2-40B4-BE49-F238E27FC236}">
                <a16:creationId xmlns:a16="http://schemas.microsoft.com/office/drawing/2014/main" id="{ADD1F537-D979-B412-6C8C-BBCAE98E4E4A}"/>
              </a:ext>
            </a:extLst>
          </p:cNvPr>
          <p:cNvPicPr>
            <a:picLocks noChangeAspect="1"/>
          </p:cNvPicPr>
          <p:nvPr/>
        </p:nvPicPr>
        <p:blipFill>
          <a:blip r:embed="rId2"/>
          <a:stretch>
            <a:fillRect/>
          </a:stretch>
        </p:blipFill>
        <p:spPr>
          <a:xfrm>
            <a:off x="6689846" y="1221206"/>
            <a:ext cx="4070104" cy="1602935"/>
          </a:xfrm>
          <a:prstGeom prst="rect">
            <a:avLst/>
          </a:prstGeom>
        </p:spPr>
      </p:pic>
      <p:pic>
        <p:nvPicPr>
          <p:cNvPr id="7" name="Рисунок 6">
            <a:extLst>
              <a:ext uri="{FF2B5EF4-FFF2-40B4-BE49-F238E27FC236}">
                <a16:creationId xmlns:a16="http://schemas.microsoft.com/office/drawing/2014/main" id="{5F28A4FC-F6C5-AC03-5D40-F3DD0B6A0B88}"/>
              </a:ext>
            </a:extLst>
          </p:cNvPr>
          <p:cNvPicPr>
            <a:picLocks noChangeAspect="1"/>
          </p:cNvPicPr>
          <p:nvPr/>
        </p:nvPicPr>
        <p:blipFill>
          <a:blip r:embed="rId3"/>
          <a:stretch>
            <a:fillRect/>
          </a:stretch>
        </p:blipFill>
        <p:spPr>
          <a:xfrm>
            <a:off x="838199" y="1221206"/>
            <a:ext cx="5257799" cy="4128034"/>
          </a:xfrm>
          <a:prstGeom prst="rect">
            <a:avLst/>
          </a:prstGeom>
        </p:spPr>
      </p:pic>
      <p:pic>
        <p:nvPicPr>
          <p:cNvPr id="9" name="Рисунок 8">
            <a:extLst>
              <a:ext uri="{FF2B5EF4-FFF2-40B4-BE49-F238E27FC236}">
                <a16:creationId xmlns:a16="http://schemas.microsoft.com/office/drawing/2014/main" id="{CB5F2486-7137-EF1E-2551-A50CEA1FDB11}"/>
              </a:ext>
            </a:extLst>
          </p:cNvPr>
          <p:cNvPicPr>
            <a:picLocks noChangeAspect="1"/>
          </p:cNvPicPr>
          <p:nvPr/>
        </p:nvPicPr>
        <p:blipFill>
          <a:blip r:embed="rId4"/>
          <a:stretch>
            <a:fillRect/>
          </a:stretch>
        </p:blipFill>
        <p:spPr>
          <a:xfrm>
            <a:off x="6095998" y="2824141"/>
            <a:ext cx="5257800" cy="3089148"/>
          </a:xfrm>
          <a:prstGeom prst="rect">
            <a:avLst/>
          </a:prstGeom>
        </p:spPr>
      </p:pic>
      <p:sp>
        <p:nvSpPr>
          <p:cNvPr id="10" name="Прямоугольник 9">
            <a:extLst>
              <a:ext uri="{FF2B5EF4-FFF2-40B4-BE49-F238E27FC236}">
                <a16:creationId xmlns:a16="http://schemas.microsoft.com/office/drawing/2014/main" id="{5F8DDCE2-DC04-AB4D-4E79-D674A3666BE5}"/>
              </a:ext>
            </a:extLst>
          </p:cNvPr>
          <p:cNvSpPr/>
          <p:nvPr/>
        </p:nvSpPr>
        <p:spPr>
          <a:xfrm>
            <a:off x="6689846" y="1221206"/>
            <a:ext cx="4070104" cy="160293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ru-RU"/>
          </a:p>
        </p:txBody>
      </p:sp>
    </p:spTree>
    <p:extLst>
      <p:ext uri="{BB962C8B-B14F-4D97-AF65-F5344CB8AC3E}">
        <p14:creationId xmlns:p14="http://schemas.microsoft.com/office/powerpoint/2010/main" val="2849177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8EC49-CA9B-E390-8A47-F0F7986565D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89F544-9214-95F4-6804-0036FEC8DF85}"/>
              </a:ext>
            </a:extLst>
          </p:cNvPr>
          <p:cNvSpPr>
            <a:spLocks noGrp="1"/>
          </p:cNvSpPr>
          <p:nvPr>
            <p:ph type="title"/>
          </p:nvPr>
        </p:nvSpPr>
        <p:spPr>
          <a:xfrm>
            <a:off x="838200" y="399679"/>
            <a:ext cx="10515600" cy="346770"/>
          </a:xfrm>
        </p:spPr>
        <p:txBody>
          <a:bodyPr>
            <a:normAutofit/>
          </a:bodyPr>
          <a:lstStyle/>
          <a:p>
            <a:r>
              <a:rPr lang="ru-RU" dirty="0"/>
              <a:t>6. Сформулируйте и докажите теорему о кинетической энергии.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E28769E4-E0CA-3AE9-93CF-AF97CE77C31E}"/>
                  </a:ext>
                </a:extLst>
              </p:cNvPr>
              <p:cNvSpPr>
                <a:spLocks noGrp="1"/>
              </p:cNvSpPr>
              <p:nvPr>
                <p:ph type="body" sz="quarter" idx="13"/>
              </p:nvPr>
            </p:nvSpPr>
            <p:spPr>
              <a:xfrm>
                <a:off x="838200" y="746449"/>
                <a:ext cx="10515600" cy="1493831"/>
              </a:xfrm>
            </p:spPr>
            <p:txBody>
              <a:bodyPr/>
              <a:lstStyle/>
              <a:p>
                <a:r>
                  <a:rPr lang="ru-RU" b="1" dirty="0"/>
                  <a:t>Кинетическая энергия </a:t>
                </a:r>
                <a:r>
                  <a:rPr lang="ru-RU" dirty="0"/>
                  <a:t>тела – энергия его механического движения.</a:t>
                </a:r>
              </a:p>
              <a:p>
                <a:r>
                  <a:rPr lang="ru-RU" b="1" dirty="0"/>
                  <a:t>Теорема</a:t>
                </a:r>
                <a:r>
                  <a:rPr lang="ru-RU" dirty="0"/>
                  <a:t>. Сумма работ всех сил, приложенных к телу, равна приращению кинетической энергии тела.</a:t>
                </a:r>
                <a:r>
                  <a:rPr lang="en-US" dirty="0"/>
                  <a:t> </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𝐾</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oMath>
                  </m:oMathPara>
                </a14:m>
                <a:endParaRPr lang="en-US" dirty="0"/>
              </a:p>
              <a:p>
                <a:endParaRPr lang="ru-RU" dirty="0"/>
              </a:p>
            </p:txBody>
          </p:sp>
        </mc:Choice>
        <mc:Fallback xmlns="">
          <p:sp>
            <p:nvSpPr>
              <p:cNvPr id="3" name="Текст 2">
                <a:extLst>
                  <a:ext uri="{FF2B5EF4-FFF2-40B4-BE49-F238E27FC236}">
                    <a16:creationId xmlns:a16="http://schemas.microsoft.com/office/drawing/2014/main" id="{E28769E4-E0CA-3AE9-93CF-AF97CE77C31E}"/>
                  </a:ext>
                </a:extLst>
              </p:cNvPr>
              <p:cNvSpPr>
                <a:spLocks noGrp="1" noRot="1" noChangeAspect="1" noMove="1" noResize="1" noEditPoints="1" noAdjustHandles="1" noChangeArrowheads="1" noChangeShapeType="1" noTextEdit="1"/>
              </p:cNvSpPr>
              <p:nvPr>
                <p:ph type="body" sz="quarter" idx="13"/>
              </p:nvPr>
            </p:nvSpPr>
            <p:spPr>
              <a:xfrm>
                <a:off x="838200" y="746449"/>
                <a:ext cx="10515600" cy="1493831"/>
              </a:xfrm>
              <a:blipFill>
                <a:blip r:embed="rId2"/>
                <a:stretch>
                  <a:fillRect l="-522" t="-3659" r="-464"/>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B2E500C9-0EEF-F196-CA94-87B902E27564}"/>
              </a:ext>
            </a:extLst>
          </p:cNvPr>
          <p:cNvPicPr>
            <a:picLocks noChangeAspect="1"/>
          </p:cNvPicPr>
          <p:nvPr/>
        </p:nvPicPr>
        <p:blipFill>
          <a:blip r:embed="rId3"/>
          <a:stretch>
            <a:fillRect/>
          </a:stretch>
        </p:blipFill>
        <p:spPr>
          <a:xfrm>
            <a:off x="7038373" y="2091562"/>
            <a:ext cx="4315427" cy="2753109"/>
          </a:xfrm>
          <a:prstGeom prst="rect">
            <a:avLst/>
          </a:prstGeom>
        </p:spPr>
      </p:pic>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D4DF6BFA-59EF-1DE2-6F72-4D7C242B86F5}"/>
                  </a:ext>
                </a:extLst>
              </p:cNvPr>
              <p:cNvSpPr txBox="1">
                <a:spLocks/>
              </p:cNvSpPr>
              <p:nvPr/>
            </p:nvSpPr>
            <p:spPr>
              <a:xfrm>
                <a:off x="838200" y="2091562"/>
                <a:ext cx="6200173" cy="2861438"/>
              </a:xfrm>
              <a:prstGeom prst="rect">
                <a:avLst/>
              </a:prstGeom>
            </p:spPr>
            <p:txBody>
              <a:bodyPr>
                <a:normAutofit fontScale="92500" lnSpcReduction="10000"/>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b="1" dirty="0"/>
                  <a:t>Доказательство</a:t>
                </a:r>
                <a:r>
                  <a:rPr lang="ru-RU" dirty="0"/>
                  <a:t>.</a:t>
                </a:r>
              </a:p>
              <a:p>
                <a:r>
                  <a:rPr lang="ru-RU" dirty="0"/>
                  <a:t>По 2 закону Ньютона:</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𝐹</m:t>
                        </m:r>
                      </m:e>
                    </m:acc>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𝑑</m:t>
                        </m:r>
                        <m:acc>
                          <m:accPr>
                            <m:chr m:val="⃗"/>
                            <m:ctrlPr>
                              <a:rPr lang="en-US" i="1" dirty="0">
                                <a:latin typeface="Cambria Math" panose="02040503050406030204" pitchFamily="18" charset="0"/>
                              </a:rPr>
                            </m:ctrlPr>
                          </m:accPr>
                          <m:e>
                            <m:r>
                              <a:rPr lang="en-US" i="1" dirty="0">
                                <a:latin typeface="Cambria Math" panose="02040503050406030204" pitchFamily="18" charset="0"/>
                              </a:rPr>
                              <m:t>𝑝</m:t>
                            </m:r>
                          </m:e>
                        </m:acc>
                      </m:num>
                      <m:den>
                        <m:r>
                          <a:rPr lang="en-US" i="1" dirty="0">
                            <a:latin typeface="Cambria Math" panose="02040503050406030204" pitchFamily="18" charset="0"/>
                          </a:rPr>
                          <m:t>𝑑𝑡</m:t>
                        </m:r>
                      </m:den>
                    </m:f>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𝑚𝑑</m:t>
                        </m:r>
                        <m:acc>
                          <m:accPr>
                            <m:chr m:val="⃗"/>
                            <m:ctrlPr>
                              <a:rPr lang="en-US" i="1" dirty="0">
                                <a:latin typeface="Cambria Math" panose="02040503050406030204" pitchFamily="18" charset="0"/>
                              </a:rPr>
                            </m:ctrlPr>
                          </m:accPr>
                          <m:e>
                            <m:r>
                              <a:rPr lang="en-US" i="1" dirty="0">
                                <a:latin typeface="Cambria Math" panose="02040503050406030204" pitchFamily="18" charset="0"/>
                              </a:rPr>
                              <m:t>𝑣</m:t>
                            </m:r>
                          </m:e>
                        </m:acc>
                      </m:num>
                      <m:den>
                        <m:r>
                          <a:rPr lang="en-US" i="1" dirty="0">
                            <a:latin typeface="Cambria Math" panose="02040503050406030204" pitchFamily="18" charset="0"/>
                          </a:rPr>
                          <m:t>𝑑𝑡</m:t>
                        </m:r>
                      </m:den>
                    </m:f>
                  </m:oMath>
                </a14:m>
                <a:endParaRPr lang="en-US" dirty="0"/>
              </a:p>
              <a:p>
                <a:r>
                  <a:rPr lang="ru-RU" dirty="0"/>
                  <a:t>По определению скорости: </a:t>
                </a:r>
                <a14:m>
                  <m:oMath xmlns:m="http://schemas.openxmlformats.org/officeDocument/2006/math">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𝑣</m:t>
                        </m:r>
                      </m:e>
                    </m:acc>
                    <m:r>
                      <a:rPr lang="en-US" b="0" i="1" dirty="0" smtClean="0">
                        <a:latin typeface="Cambria Math" panose="02040503050406030204" pitchFamily="18" charset="0"/>
                      </a:rPr>
                      <m:t>𝑑𝑡</m:t>
                    </m:r>
                  </m:oMath>
                </a14:m>
                <a:endParaRPr lang="en-US" dirty="0"/>
              </a:p>
              <a:p>
                <a:r>
                  <a:rPr lang="ru-RU" dirty="0"/>
                  <a:t>Элементарная работа силы на перемещении:</a:t>
                </a:r>
              </a:p>
              <a:p>
                <a:pPr/>
                <a14:m>
                  <m:oMathPara xmlns:m="http://schemas.openxmlformats.org/officeDocument/2006/math">
                    <m:oMathParaPr>
                      <m:jc m:val="centerGroup"/>
                    </m:oMathParaPr>
                    <m:oMath xmlns:m="http://schemas.openxmlformats.org/officeDocument/2006/math">
                      <m:r>
                        <a:rPr lang="ru-RU" b="0" i="1" smtClean="0">
                          <a:effectLst/>
                          <a:latin typeface="Cambria Math" panose="02040503050406030204" pitchFamily="18" charset="0"/>
                        </a:rPr>
                        <m:t>𝛿</m:t>
                      </m:r>
                      <m:r>
                        <a:rPr lang="en-US" b="0" i="1" smtClean="0">
                          <a:effectLst/>
                          <a:latin typeface="Cambria Math" panose="02040503050406030204" pitchFamily="18" charset="0"/>
                        </a:rPr>
                        <m:t>𝐴</m:t>
                      </m:r>
                      <m:r>
                        <a:rPr lang="en-US" b="0" i="1" smtClean="0">
                          <a:effectLst/>
                          <a:latin typeface="Cambria Math" panose="02040503050406030204" pitchFamily="18" charset="0"/>
                        </a:rPr>
                        <m:t>=</m:t>
                      </m:r>
                      <m:acc>
                        <m:accPr>
                          <m:chr m:val="⃗"/>
                          <m:ctrlPr>
                            <a:rPr lang="en-US" b="0" i="1" smtClean="0">
                              <a:effectLst/>
                              <a:latin typeface="Cambria Math" panose="02040503050406030204" pitchFamily="18" charset="0"/>
                            </a:rPr>
                          </m:ctrlPr>
                        </m:accPr>
                        <m:e>
                          <m:r>
                            <a:rPr lang="en-US" b="0" i="1" smtClean="0">
                              <a:effectLst/>
                              <a:latin typeface="Cambria Math" panose="02040503050406030204" pitchFamily="18" charset="0"/>
                            </a:rPr>
                            <m:t>𝐹</m:t>
                          </m:r>
                        </m:e>
                      </m:acc>
                      <m:r>
                        <a:rPr lang="en-US" b="0" i="1" dirty="0" smtClean="0">
                          <a:effectLst/>
                          <a:latin typeface="Cambria Math" panose="02040503050406030204" pitchFamily="18" charset="0"/>
                        </a:rPr>
                        <m:t>⋅</m:t>
                      </m:r>
                      <m:r>
                        <a:rPr lang="en-US" b="0" i="1" dirty="0" smtClean="0">
                          <a:effectLst/>
                          <a:latin typeface="Cambria Math" panose="02040503050406030204" pitchFamily="18" charset="0"/>
                        </a:rPr>
                        <m:t>𝑑</m:t>
                      </m:r>
                      <m:acc>
                        <m:accPr>
                          <m:chr m:val="⃗"/>
                          <m:ctrlPr>
                            <a:rPr lang="en-US" b="0" i="1" dirty="0" smtClean="0">
                              <a:effectLst/>
                              <a:latin typeface="Cambria Math" panose="02040503050406030204" pitchFamily="18" charset="0"/>
                            </a:rPr>
                          </m:ctrlPr>
                        </m:accPr>
                        <m:e>
                          <m:r>
                            <a:rPr lang="en-US" b="0" i="1" dirty="0" smtClean="0">
                              <a:effectLst/>
                              <a:latin typeface="Cambria Math" panose="02040503050406030204" pitchFamily="18" charset="0"/>
                            </a:rPr>
                            <m:t>𝑟</m:t>
                          </m:r>
                        </m:e>
                      </m:acc>
                      <m:r>
                        <a:rPr lang="en-US" b="0" i="1" dirty="0" smtClean="0">
                          <a:effectLst/>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𝑚𝑑</m:t>
                          </m:r>
                          <m:acc>
                            <m:accPr>
                              <m:chr m:val="⃗"/>
                              <m:ctrlPr>
                                <a:rPr lang="en-US" i="1" dirty="0">
                                  <a:latin typeface="Cambria Math" panose="02040503050406030204" pitchFamily="18" charset="0"/>
                                </a:rPr>
                              </m:ctrlPr>
                            </m:accPr>
                            <m:e>
                              <m:r>
                                <a:rPr lang="en-US" i="1" dirty="0">
                                  <a:latin typeface="Cambria Math" panose="02040503050406030204" pitchFamily="18" charset="0"/>
                                </a:rPr>
                                <m:t>𝑣</m:t>
                              </m:r>
                            </m:e>
                          </m:acc>
                        </m:num>
                        <m:den>
                          <m:r>
                            <a:rPr lang="en-US" i="1" dirty="0">
                              <a:latin typeface="Cambria Math" panose="02040503050406030204" pitchFamily="18" charset="0"/>
                            </a:rPr>
                            <m:t>𝑑𝑡</m:t>
                          </m:r>
                        </m:den>
                      </m:f>
                      <m:r>
                        <a:rPr lang="en-US" b="0" i="1" dirty="0" smtClean="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𝑣</m:t>
                          </m:r>
                        </m:e>
                      </m:acc>
                      <m:r>
                        <a:rPr lang="en-US" i="1" dirty="0">
                          <a:latin typeface="Cambria Math" panose="02040503050406030204" pitchFamily="18" charset="0"/>
                        </a:rPr>
                        <m:t>𝑑𝑡</m:t>
                      </m:r>
                      <m:r>
                        <a:rPr lang="en-US" b="0" i="1" dirty="0" smtClean="0">
                          <a:latin typeface="Cambria Math" panose="02040503050406030204" pitchFamily="18" charset="0"/>
                        </a:rPr>
                        <m:t>=</m:t>
                      </m:r>
                      <m:r>
                        <a:rPr lang="en-US" i="1" dirty="0">
                          <a:latin typeface="Cambria Math" panose="02040503050406030204" pitchFamily="18" charset="0"/>
                        </a:rPr>
                        <m:t>𝑚</m:t>
                      </m:r>
                      <m:r>
                        <a:rPr lang="en-US" b="0" i="1" dirty="0" smtClean="0">
                          <a:latin typeface="Cambria Math" panose="02040503050406030204" pitchFamily="18" charset="0"/>
                        </a:rPr>
                        <m:t>⋅</m:t>
                      </m:r>
                      <m:r>
                        <a:rPr lang="en-US" i="1" dirty="0">
                          <a:latin typeface="Cambria Math" panose="02040503050406030204" pitchFamily="18" charset="0"/>
                        </a:rPr>
                        <m:t>𝑑</m:t>
                      </m:r>
                      <m:acc>
                        <m:accPr>
                          <m:chr m:val="⃗"/>
                          <m:ctrlPr>
                            <a:rPr lang="en-US" i="1" dirty="0">
                              <a:latin typeface="Cambria Math" panose="02040503050406030204" pitchFamily="18" charset="0"/>
                            </a:rPr>
                          </m:ctrlPr>
                        </m:accPr>
                        <m:e>
                          <m:r>
                            <a:rPr lang="en-US" i="1" dirty="0">
                              <a:latin typeface="Cambria Math" panose="02040503050406030204" pitchFamily="18" charset="0"/>
                            </a:rPr>
                            <m:t>𝑣</m:t>
                          </m:r>
                        </m:e>
                      </m:acc>
                      <m:r>
                        <a:rPr lang="en-US" b="0" i="1" dirty="0" smtClean="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𝑣</m:t>
                          </m:r>
                        </m:e>
                      </m:acc>
                      <m:r>
                        <a:rPr lang="en-US" b="0" i="1" dirty="0" smtClean="0">
                          <a:latin typeface="Cambria Math" panose="02040503050406030204" pitchFamily="18" charset="0"/>
                        </a:rPr>
                        <m:t>=</m:t>
                      </m:r>
                      <m:r>
                        <a:rPr lang="en-US" b="0" i="1" dirty="0" smtClean="0">
                          <a:latin typeface="Cambria Math" panose="02040503050406030204" pitchFamily="18" charset="0"/>
                        </a:rPr>
                        <m:t>𝑚</m:t>
                      </m:r>
                      <m:r>
                        <a:rPr lang="en-US" b="0" i="1" dirty="0" smtClean="0">
                          <a:latin typeface="Cambria Math" panose="02040503050406030204" pitchFamily="18" charset="0"/>
                        </a:rPr>
                        <m:t> </m:t>
                      </m:r>
                      <m:r>
                        <a:rPr lang="en-US" b="0" i="1" dirty="0" smtClean="0">
                          <a:latin typeface="Cambria Math" panose="02040503050406030204" pitchFamily="18" charset="0"/>
                        </a:rPr>
                        <m:t>𝑣</m:t>
                      </m:r>
                      <m:r>
                        <a:rPr lang="en-US" b="0" i="1" dirty="0" smtClean="0">
                          <a:latin typeface="Cambria Math" panose="02040503050406030204" pitchFamily="18" charset="0"/>
                        </a:rPr>
                        <m:t> </m:t>
                      </m:r>
                      <m:r>
                        <a:rPr lang="en-US" b="0" i="1" dirty="0" smtClean="0">
                          <a:latin typeface="Cambria Math" panose="02040503050406030204" pitchFamily="18" charset="0"/>
                        </a:rPr>
                        <m:t>𝑑𝑣</m:t>
                      </m:r>
                    </m:oMath>
                  </m:oMathPara>
                </a14:m>
                <a:endParaRPr lang="en-US" dirty="0">
                  <a:effectLst/>
                </a:endParaRPr>
              </a:p>
              <a:p>
                <a:r>
                  <a:rPr lang="ru-RU" dirty="0"/>
                  <a:t>Работа:</a:t>
                </a:r>
              </a:p>
              <a:p>
                <a:pPr/>
                <a14:m>
                  <m:oMathPara xmlns:m="http://schemas.openxmlformats.org/officeDocument/2006/math">
                    <m:oMathParaPr>
                      <m:jc m:val="centerGroup"/>
                    </m:oMathParaPr>
                    <m:oMath xmlns:m="http://schemas.openxmlformats.org/officeDocument/2006/math">
                      <m:r>
                        <a:rPr lang="en-US" b="0" i="1" smtClean="0">
                          <a:effectLst/>
                          <a:latin typeface="Cambria Math" panose="02040503050406030204" pitchFamily="18" charset="0"/>
                        </a:rPr>
                        <m:t>𝐴</m:t>
                      </m:r>
                      <m:r>
                        <a:rPr lang="en-US" b="0" i="1" smtClean="0">
                          <a:effectLst/>
                          <a:latin typeface="Cambria Math" panose="02040503050406030204" pitchFamily="18" charset="0"/>
                        </a:rPr>
                        <m:t>=</m:t>
                      </m:r>
                      <m:nary>
                        <m:naryPr>
                          <m:ctrlPr>
                            <a:rPr lang="en-US" b="0" i="1" smtClean="0">
                              <a:effectLst/>
                              <a:latin typeface="Cambria Math" panose="02040503050406030204" pitchFamily="18" charset="0"/>
                            </a:rPr>
                          </m:ctrlPr>
                        </m:naryPr>
                        <m:sub>
                          <m:r>
                            <m:rPr>
                              <m:brk m:alnAt="23"/>
                            </m:rPr>
                            <a:rPr lang="en-US" b="0" i="1" smtClean="0">
                              <a:effectLst/>
                              <a:latin typeface="Cambria Math" panose="02040503050406030204" pitchFamily="18" charset="0"/>
                            </a:rPr>
                            <m:t>𝐼</m:t>
                          </m:r>
                        </m:sub>
                        <m:sup>
                          <m:r>
                            <a:rPr lang="en-US" b="0" i="1" smtClean="0">
                              <a:effectLst/>
                              <a:latin typeface="Cambria Math" panose="02040503050406030204" pitchFamily="18" charset="0"/>
                            </a:rPr>
                            <m:t>𝐼𝐼</m:t>
                          </m:r>
                        </m:sup>
                        <m:e>
                          <m:r>
                            <a:rPr lang="en-US" b="0" i="1" smtClean="0">
                              <a:effectLst/>
                              <a:latin typeface="Cambria Math" panose="02040503050406030204" pitchFamily="18" charset="0"/>
                            </a:rPr>
                            <m:t>𝑚𝑣𝑑𝑣</m:t>
                          </m:r>
                        </m:e>
                      </m:nary>
                      <m:r>
                        <a:rPr lang="en-US" b="0" i="1" smtClean="0">
                          <a:effectLst/>
                          <a:latin typeface="Cambria Math" panose="02040503050406030204" pitchFamily="18" charset="0"/>
                        </a:rPr>
                        <m:t>=</m:t>
                      </m:r>
                      <m:f>
                        <m:fPr>
                          <m:ctrlPr>
                            <a:rPr lang="en-US" b="0" i="1" smtClean="0">
                              <a:effectLst/>
                              <a:latin typeface="Cambria Math" panose="02040503050406030204" pitchFamily="18" charset="0"/>
                            </a:rPr>
                          </m:ctrlPr>
                        </m:fPr>
                        <m:num>
                          <m:r>
                            <a:rPr lang="en-US" b="0" i="1" smtClean="0">
                              <a:effectLst/>
                              <a:latin typeface="Cambria Math" panose="02040503050406030204" pitchFamily="18" charset="0"/>
                            </a:rPr>
                            <m:t>𝑚</m:t>
                          </m:r>
                          <m:sSubSup>
                            <m:sSubSupPr>
                              <m:ctrlPr>
                                <a:rPr lang="en-US" b="0" i="1" smtClean="0">
                                  <a:effectLst/>
                                  <a:latin typeface="Cambria Math" panose="02040503050406030204" pitchFamily="18" charset="0"/>
                                </a:rPr>
                              </m:ctrlPr>
                            </m:sSubSupPr>
                            <m:e>
                              <m:r>
                                <a:rPr lang="en-US" b="0" i="1" smtClean="0">
                                  <a:effectLst/>
                                  <a:latin typeface="Cambria Math" panose="02040503050406030204" pitchFamily="18" charset="0"/>
                                </a:rPr>
                                <m:t>𝑣</m:t>
                              </m:r>
                            </m:e>
                            <m:sub>
                              <m:r>
                                <a:rPr lang="en-US" b="0" i="1" smtClean="0">
                                  <a:effectLst/>
                                  <a:latin typeface="Cambria Math" panose="02040503050406030204" pitchFamily="18" charset="0"/>
                                </a:rPr>
                                <m:t>𝐼𝐼</m:t>
                              </m:r>
                            </m:sub>
                            <m:sup>
                              <m:r>
                                <a:rPr lang="en-US" b="0" i="1" smtClean="0">
                                  <a:effectLst/>
                                  <a:latin typeface="Cambria Math" panose="02040503050406030204" pitchFamily="18" charset="0"/>
                                </a:rPr>
                                <m:t>2</m:t>
                              </m:r>
                            </m:sup>
                          </m:sSubSup>
                        </m:num>
                        <m:den>
                          <m:r>
                            <a:rPr lang="en-US" b="0" i="1" smtClean="0">
                              <a:effectLst/>
                              <a:latin typeface="Cambria Math" panose="02040503050406030204" pitchFamily="18" charset="0"/>
                            </a:rPr>
                            <m:t>2</m:t>
                          </m:r>
                        </m:den>
                      </m:f>
                      <m:r>
                        <a:rPr lang="en-US" b="0" i="1" smtClean="0">
                          <a:effectLst/>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𝑚</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𝐼</m:t>
                              </m:r>
                            </m:sub>
                            <m:sup>
                              <m:r>
                                <a:rPr lang="en-US" i="1">
                                  <a:latin typeface="Cambria Math" panose="02040503050406030204" pitchFamily="18" charset="0"/>
                                </a:rPr>
                                <m:t>2</m:t>
                              </m:r>
                            </m:sup>
                          </m:sSubSup>
                        </m:num>
                        <m:den>
                          <m:r>
                            <a:rPr lang="en-US" i="1">
                              <a:latin typeface="Cambria Math" panose="02040503050406030204" pitchFamily="18" charset="0"/>
                            </a:rPr>
                            <m:t>2</m:t>
                          </m:r>
                        </m:den>
                      </m:f>
                      <m:r>
                        <a:rPr lang="en-US" b="0" i="1" smtClean="0">
                          <a:latin typeface="Cambria Math" panose="02040503050406030204" pitchFamily="18" charset="0"/>
                        </a:rPr>
                        <m:t>=</m:t>
                      </m:r>
                      <m:r>
                        <m:rPr>
                          <m:sty m:val="p"/>
                        </m:rPr>
                        <a:rPr lang="en-US" b="0" i="0" smtClean="0">
                          <a:latin typeface="Cambria Math" panose="02040503050406030204" pitchFamily="18" charset="0"/>
                        </a:rPr>
                        <m:t>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𝐾</m:t>
                          </m:r>
                        </m:sub>
                      </m:sSub>
                    </m:oMath>
                  </m:oMathPara>
                </a14:m>
                <a:endParaRPr lang="en-US" dirty="0">
                  <a:effectLst/>
                </a:endParaRPr>
              </a:p>
            </p:txBody>
          </p:sp>
        </mc:Choice>
        <mc:Fallback xmlns="">
          <p:sp>
            <p:nvSpPr>
              <p:cNvPr id="6" name="Текст 2">
                <a:extLst>
                  <a:ext uri="{FF2B5EF4-FFF2-40B4-BE49-F238E27FC236}">
                    <a16:creationId xmlns:a16="http://schemas.microsoft.com/office/drawing/2014/main" id="{D4DF6BFA-59EF-1DE2-6F72-4D7C242B86F5}"/>
                  </a:ext>
                </a:extLst>
              </p:cNvPr>
              <p:cNvSpPr txBox="1">
                <a:spLocks noRot="1" noChangeAspect="1" noMove="1" noResize="1" noEditPoints="1" noAdjustHandles="1" noChangeArrowheads="1" noChangeShapeType="1" noTextEdit="1"/>
              </p:cNvSpPr>
              <p:nvPr/>
            </p:nvSpPr>
            <p:spPr>
              <a:xfrm>
                <a:off x="838200" y="2091562"/>
                <a:ext cx="6200173" cy="2861438"/>
              </a:xfrm>
              <a:prstGeom prst="rect">
                <a:avLst/>
              </a:prstGeom>
              <a:blipFill>
                <a:blip r:embed="rId4"/>
                <a:stretch>
                  <a:fillRect l="-688" t="-2128"/>
                </a:stretch>
              </a:blipFill>
            </p:spPr>
            <p:txBody>
              <a:bodyPr/>
              <a:lstStyle/>
              <a:p>
                <a:r>
                  <a:rPr lang="ru-RU">
                    <a:noFill/>
                  </a:rPr>
                  <a:t> </a:t>
                </a:r>
              </a:p>
            </p:txBody>
          </p:sp>
        </mc:Fallback>
      </mc:AlternateContent>
    </p:spTree>
    <p:extLst>
      <p:ext uri="{BB962C8B-B14F-4D97-AF65-F5344CB8AC3E}">
        <p14:creationId xmlns:p14="http://schemas.microsoft.com/office/powerpoint/2010/main" val="3770441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DD201-086E-1058-321C-8C5A637D6C5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E307C1-CA6E-B8A5-1E54-EBDFC7DEC031}"/>
              </a:ext>
            </a:extLst>
          </p:cNvPr>
          <p:cNvSpPr>
            <a:spLocks noGrp="1"/>
          </p:cNvSpPr>
          <p:nvPr>
            <p:ph type="title"/>
          </p:nvPr>
        </p:nvSpPr>
        <p:spPr>
          <a:xfrm>
            <a:off x="838200" y="399679"/>
            <a:ext cx="10515600" cy="346770"/>
          </a:xfrm>
        </p:spPr>
        <p:txBody>
          <a:bodyPr>
            <a:normAutofit/>
          </a:bodyPr>
          <a:lstStyle/>
          <a:p>
            <a:r>
              <a:rPr lang="ru-RU" dirty="0"/>
              <a:t>7. Докажите, что центральные силы являются консервативными. </a:t>
            </a:r>
          </a:p>
        </p:txBody>
      </p:sp>
      <p:sp>
        <p:nvSpPr>
          <p:cNvPr id="3" name="Текст 2">
            <a:extLst>
              <a:ext uri="{FF2B5EF4-FFF2-40B4-BE49-F238E27FC236}">
                <a16:creationId xmlns:a16="http://schemas.microsoft.com/office/drawing/2014/main" id="{A116D0AB-B7C4-427A-AFF9-34D395F93E19}"/>
              </a:ext>
            </a:extLst>
          </p:cNvPr>
          <p:cNvSpPr>
            <a:spLocks noGrp="1"/>
          </p:cNvSpPr>
          <p:nvPr>
            <p:ph type="body" sz="quarter" idx="13"/>
          </p:nvPr>
        </p:nvSpPr>
        <p:spPr>
          <a:xfrm>
            <a:off x="838200" y="746449"/>
            <a:ext cx="10515600" cy="1829111"/>
          </a:xfrm>
        </p:spPr>
        <p:txBody>
          <a:bodyPr/>
          <a:lstStyle/>
          <a:p>
            <a:r>
              <a:rPr lang="ru-RU" b="1" dirty="0"/>
              <a:t>Стационарным</a:t>
            </a:r>
            <a:r>
              <a:rPr lang="ru-RU" dirty="0"/>
              <a:t> называют поле, остающееся постоянным во времени.</a:t>
            </a:r>
          </a:p>
          <a:p>
            <a:r>
              <a:rPr lang="ru-RU" b="1" dirty="0"/>
              <a:t>Консервативными</a:t>
            </a:r>
            <a:r>
              <a:rPr lang="ru-RU" dirty="0"/>
              <a:t> называются силы, работа которых при перемещении частицы из одной точки  в другую не зависит от пути между этими точками.</a:t>
            </a:r>
          </a:p>
          <a:p>
            <a:r>
              <a:rPr lang="ru-RU" b="1" dirty="0"/>
              <a:t>Центральными</a:t>
            </a:r>
            <a:r>
              <a:rPr lang="ru-RU" dirty="0"/>
              <a:t> называются силы, зависящие только от расстояния между взаимодействующими частицами, и направленные по прямой, проходящей через эти частицы.</a:t>
            </a:r>
          </a:p>
        </p:txBody>
      </p:sp>
      <mc:AlternateContent xmlns:mc="http://schemas.openxmlformats.org/markup-compatibility/2006" xmlns:a14="http://schemas.microsoft.com/office/drawing/2010/main">
        <mc:Choice Requires="a14">
          <p:sp>
            <p:nvSpPr>
              <p:cNvPr id="4" name="Текст 2">
                <a:extLst>
                  <a:ext uri="{FF2B5EF4-FFF2-40B4-BE49-F238E27FC236}">
                    <a16:creationId xmlns:a16="http://schemas.microsoft.com/office/drawing/2014/main" id="{EA8A516F-774C-DE2D-B3FE-28782BAB380F}"/>
                  </a:ext>
                </a:extLst>
              </p:cNvPr>
              <p:cNvSpPr txBox="1">
                <a:spLocks/>
              </p:cNvSpPr>
              <p:nvPr/>
            </p:nvSpPr>
            <p:spPr>
              <a:xfrm>
                <a:off x="838199" y="2575560"/>
                <a:ext cx="7345401" cy="3535991"/>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𝐹</m:t>
                          </m:r>
                        </m:e>
                      </m:acc>
                      <m:r>
                        <a:rPr lang="en-US" i="1">
                          <a:latin typeface="Cambria Math" panose="02040503050406030204" pitchFamily="18" charset="0"/>
                        </a:rPr>
                        <m:t>=±</m:t>
                      </m:r>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𝑟</m:t>
                          </m:r>
                        </m:e>
                      </m:d>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𝑟</m:t>
                              </m:r>
                            </m:e>
                          </m:acc>
                        </m:num>
                        <m:den>
                          <m:r>
                            <a:rPr lang="en-US" i="1">
                              <a:latin typeface="Cambria Math" panose="02040503050406030204" pitchFamily="18" charset="0"/>
                            </a:rPr>
                            <m:t>𝑟</m:t>
                          </m:r>
                        </m:den>
                      </m:f>
                    </m:oMath>
                  </m:oMathPara>
                </a14:m>
                <a:endParaRPr lang="ru-RU" dirty="0">
                  <a:effectLst/>
                </a:endParaRPr>
              </a:p>
              <a:p>
                <a:r>
                  <a:rPr lang="ru-RU" b="1" dirty="0"/>
                  <a:t>Все центральные силы являются консервативными</a:t>
                </a:r>
                <a:endParaRPr lang="ru-RU" b="1" dirty="0">
                  <a:effectLst/>
                </a:endParaRPr>
              </a:p>
              <a:p>
                <a:r>
                  <a:rPr lang="ru-RU" i="1" dirty="0"/>
                  <a:t>Подставляем центральную силу в работу.</a:t>
                </a:r>
                <a:endParaRPr lang="en-US" i="1" dirty="0"/>
              </a:p>
              <a:p>
                <a14:m>
                  <m:oMath xmlns:m="http://schemas.openxmlformats.org/officeDocument/2006/math">
                    <m:r>
                      <a:rPr lang="en-US" i="1">
                        <a:latin typeface="Cambria Math" panose="02040503050406030204" pitchFamily="18" charset="0"/>
                      </a:rPr>
                      <m:t>𝛿</m:t>
                    </m:r>
                    <m:r>
                      <a:rPr lang="en-US" i="1">
                        <a:latin typeface="Cambria Math" panose="02040503050406030204" pitchFamily="18" charset="0"/>
                      </a:rPr>
                      <m:t>𝐴</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𝐹</m:t>
                        </m:r>
                      </m:e>
                    </m:acc>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𝑟</m:t>
                        </m:r>
                      </m:e>
                    </m:acc>
                    <m:r>
                      <a:rPr lang="en-US" i="1">
                        <a:latin typeface="Cambria Math" panose="02040503050406030204" pitchFamily="18" charset="0"/>
                      </a:rPr>
                      <m:t>=±</m:t>
                    </m:r>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𝑟</m:t>
                        </m:r>
                      </m:e>
                    </m:d>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𝑟</m:t>
                            </m:r>
                          </m:e>
                        </m:acc>
                      </m:num>
                      <m:den>
                        <m:r>
                          <a:rPr lang="en-US" i="1">
                            <a:latin typeface="Cambria Math" panose="02040503050406030204" pitchFamily="18" charset="0"/>
                          </a:rPr>
                          <m:t>𝑟</m:t>
                        </m:r>
                      </m:den>
                    </m:f>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𝑟</m:t>
                        </m:r>
                      </m:e>
                    </m:acc>
                    <m:r>
                      <a:rPr lang="en-US" i="1">
                        <a:latin typeface="Cambria Math" panose="02040503050406030204" pitchFamily="18" charset="0"/>
                      </a:rPr>
                      <m:t>=±</m:t>
                    </m:r>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𝑟</m:t>
                        </m:r>
                      </m:e>
                    </m:d>
                    <m:r>
                      <a:rPr lang="en-US" i="1">
                        <a:latin typeface="Cambria Math" panose="02040503050406030204" pitchFamily="18" charset="0"/>
                      </a:rPr>
                      <m:t>𝑑𝑟</m:t>
                    </m:r>
                  </m:oMath>
                </a14:m>
                <a:r>
                  <a:rPr lang="en-US" dirty="0"/>
                  <a:t>, </a:t>
                </a:r>
                <a:r>
                  <a:rPr lang="ru-RU" dirty="0"/>
                  <a:t>так как</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𝑟</m:t>
                        </m:r>
                      </m:e>
                    </m:acc>
                    <m:r>
                      <a:rPr lang="en-US" i="1">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i="1">
                        <a:latin typeface="Cambria Math" panose="02040503050406030204" pitchFamily="18" charset="0"/>
                      </a:rPr>
                      <m:t>=</m:t>
                    </m:r>
                    <m:r>
                      <a:rPr lang="en-US" b="0" i="1" smtClean="0">
                        <a:latin typeface="Cambria Math" panose="02040503050406030204" pitchFamily="18" charset="0"/>
                      </a:rPr>
                      <m:t>𝑟</m:t>
                    </m:r>
                    <m:r>
                      <a:rPr lang="en-US" i="1">
                        <a:latin typeface="Cambria Math" panose="02040503050406030204" pitchFamily="18" charset="0"/>
                      </a:rPr>
                      <m:t>𝑑𝑟</m:t>
                    </m:r>
                  </m:oMath>
                </a14:m>
                <a:endParaRPr lang="ru-RU" dirty="0">
                  <a:effectLst/>
                </a:endParaRPr>
              </a:p>
              <a:p>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nary>
                      <m:naryPr>
                        <m:limLoc m:val="undOvr"/>
                        <m:ctrlPr>
                          <a:rPr lang="en-US" i="1">
                            <a:latin typeface="Cambria Math" panose="02040503050406030204" pitchFamily="18" charset="0"/>
                          </a:rPr>
                        </m:ctrlPr>
                      </m:naryPr>
                      <m:sub>
                        <m:sSub>
                          <m:sSubPr>
                            <m:ctrlPr>
                              <a:rPr lang="en-US" i="1">
                                <a:latin typeface="Cambria Math" panose="02040503050406030204" pitchFamily="18" charset="0"/>
                              </a:rPr>
                            </m:ctrlPr>
                          </m:sSubPr>
                          <m:e>
                            <m:r>
                              <m:rPr>
                                <m:brk m:alnAt="24"/>
                              </m:rPr>
                              <a:rPr lang="en-US" i="1">
                                <a:latin typeface="Cambria Math" panose="02040503050406030204" pitchFamily="18" charset="0"/>
                              </a:rPr>
                              <m:t>𝑟</m:t>
                            </m:r>
                          </m:e>
                          <m:sub>
                            <m:r>
                              <m:rPr>
                                <m:brk m:alnAt="24"/>
                              </m:rPr>
                              <a:rPr lang="en-US" i="1">
                                <a:latin typeface="Cambria Math" panose="02040503050406030204" pitchFamily="18" charset="0"/>
                              </a:rPr>
                              <m:t>1</m:t>
                            </m:r>
                          </m:sub>
                        </m:sSub>
                      </m:sub>
                      <m:sup>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sub>
                        </m:sSub>
                      </m:sup>
                      <m:e>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𝑟</m:t>
                            </m:r>
                          </m:e>
                        </m:d>
                        <m:r>
                          <a:rPr lang="en-US" i="1">
                            <a:latin typeface="Cambria Math" panose="02040503050406030204" pitchFamily="18" charset="0"/>
                          </a:rPr>
                          <m:t>𝑑𝑟</m:t>
                        </m:r>
                      </m:e>
                    </m:nary>
                  </m:oMath>
                </a14:m>
                <a:r>
                  <a:rPr lang="en-US" dirty="0"/>
                  <a:t>.</a:t>
                </a:r>
                <a:endParaRPr lang="ru-RU" dirty="0">
                  <a:effectLst/>
                </a:endParaRPr>
              </a:p>
              <a:p>
                <a:r>
                  <a:rPr lang="ru-RU" dirty="0"/>
                  <a:t>Полученное выражение зависит только от характера взаимодействия</a:t>
                </a:r>
                <a:r>
                  <a:rPr lang="en-US" dirty="0"/>
                  <a:t> (</a:t>
                </a:r>
                <a14:m>
                  <m:oMath xmlns:m="http://schemas.openxmlformats.org/officeDocument/2006/math">
                    <m:r>
                      <a:rPr lang="en-US" i="1">
                        <a:latin typeface="Cambria Math" panose="02040503050406030204" pitchFamily="18" charset="0"/>
                      </a:rPr>
                      <m:t>𝐹</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oMath>
                </a14:m>
                <a:r>
                  <a:rPr lang="en-US" dirty="0"/>
                  <a:t>)</a:t>
                </a:r>
                <a:r>
                  <a:rPr lang="ru-RU" dirty="0"/>
                  <a:t>, начального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oMath>
                </a14:m>
                <a:r>
                  <a:rPr lang="ru-RU" dirty="0"/>
                  <a:t> и конечного</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sub>
                    </m:sSub>
                  </m:oMath>
                </a14:m>
                <a:r>
                  <a:rPr lang="ru-RU" dirty="0"/>
                  <a:t> расстояния от частицы до силового центра и не зависит от пути.</a:t>
                </a:r>
                <a:endParaRPr lang="ru-RU" dirty="0">
                  <a:effectLst/>
                </a:endParaRPr>
              </a:p>
            </p:txBody>
          </p:sp>
        </mc:Choice>
        <mc:Fallback xmlns="">
          <p:sp>
            <p:nvSpPr>
              <p:cNvPr id="4" name="Текст 2">
                <a:extLst>
                  <a:ext uri="{FF2B5EF4-FFF2-40B4-BE49-F238E27FC236}">
                    <a16:creationId xmlns:a16="http://schemas.microsoft.com/office/drawing/2014/main" id="{EA8A516F-774C-DE2D-B3FE-28782BAB380F}"/>
                  </a:ext>
                </a:extLst>
              </p:cNvPr>
              <p:cNvSpPr txBox="1">
                <a:spLocks noRot="1" noChangeAspect="1" noMove="1" noResize="1" noEditPoints="1" noAdjustHandles="1" noChangeArrowheads="1" noChangeShapeType="1" noTextEdit="1"/>
              </p:cNvSpPr>
              <p:nvPr/>
            </p:nvSpPr>
            <p:spPr>
              <a:xfrm>
                <a:off x="838199" y="2575560"/>
                <a:ext cx="7345401" cy="3535991"/>
              </a:xfrm>
              <a:prstGeom prst="rect">
                <a:avLst/>
              </a:prstGeom>
              <a:blipFill>
                <a:blip r:embed="rId2"/>
                <a:stretch>
                  <a:fillRect l="-664" r="-747"/>
                </a:stretch>
              </a:blipFill>
            </p:spPr>
            <p:txBody>
              <a:bodyPr/>
              <a:lstStyle/>
              <a:p>
                <a:r>
                  <a:rPr lang="ru-RU">
                    <a:noFill/>
                  </a:rPr>
                  <a:t> </a:t>
                </a:r>
              </a:p>
            </p:txBody>
          </p:sp>
        </mc:Fallback>
      </mc:AlternateContent>
      <p:pic>
        <p:nvPicPr>
          <p:cNvPr id="6" name="Рисунок 5">
            <a:extLst>
              <a:ext uri="{FF2B5EF4-FFF2-40B4-BE49-F238E27FC236}">
                <a16:creationId xmlns:a16="http://schemas.microsoft.com/office/drawing/2014/main" id="{F7C1D1F9-D297-C82F-3A84-D59D40FF41D4}"/>
              </a:ext>
            </a:extLst>
          </p:cNvPr>
          <p:cNvPicPr>
            <a:picLocks noChangeAspect="1"/>
          </p:cNvPicPr>
          <p:nvPr/>
        </p:nvPicPr>
        <p:blipFill>
          <a:blip r:embed="rId3"/>
          <a:stretch>
            <a:fillRect/>
          </a:stretch>
        </p:blipFill>
        <p:spPr>
          <a:xfrm>
            <a:off x="8183601" y="2575560"/>
            <a:ext cx="3170199" cy="3535991"/>
          </a:xfrm>
          <a:prstGeom prst="rect">
            <a:avLst/>
          </a:prstGeom>
        </p:spPr>
      </p:pic>
    </p:spTree>
    <p:extLst>
      <p:ext uri="{BB962C8B-B14F-4D97-AF65-F5344CB8AC3E}">
        <p14:creationId xmlns:p14="http://schemas.microsoft.com/office/powerpoint/2010/main" val="3289657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4CAD7-1C19-B354-3D18-71BC3C89BAE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4DB03E-2CD5-B80A-9FE3-CBBE04D441F7}"/>
              </a:ext>
            </a:extLst>
          </p:cNvPr>
          <p:cNvSpPr>
            <a:spLocks noGrp="1"/>
          </p:cNvSpPr>
          <p:nvPr>
            <p:ph type="title"/>
          </p:nvPr>
        </p:nvSpPr>
        <p:spPr>
          <a:xfrm>
            <a:off x="838200" y="399679"/>
            <a:ext cx="10515600" cy="645350"/>
          </a:xfrm>
        </p:spPr>
        <p:txBody>
          <a:bodyPr>
            <a:normAutofit/>
          </a:bodyPr>
          <a:lstStyle/>
          <a:p>
            <a:r>
              <a:rPr lang="ru-RU" dirty="0"/>
              <a:t>8. Получите связь потенциальной энергии частицы в поле консервативных сил и сил этого поля.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35C3ECC4-33E0-42D1-6D3F-3075E9055985}"/>
                  </a:ext>
                </a:extLst>
              </p:cNvPr>
              <p:cNvSpPr>
                <a:spLocks noGrp="1"/>
              </p:cNvSpPr>
              <p:nvPr>
                <p:ph type="body" sz="quarter" idx="13"/>
              </p:nvPr>
            </p:nvSpPr>
            <p:spPr>
              <a:xfrm>
                <a:off x="838200" y="1045029"/>
                <a:ext cx="10515600" cy="5144755"/>
              </a:xfrm>
            </p:spPr>
            <p:txBody>
              <a:bodyPr/>
              <a:lstStyle/>
              <a:p>
                <a:r>
                  <a:rPr lang="ru-RU" b="1" dirty="0"/>
                  <a:t>Потенциальной энергией частицы </a:t>
                </a:r>
                <a:r>
                  <a:rPr lang="ru-RU" dirty="0"/>
                  <a:t>называется энергия, зависящая от её положения в потенциальном поле.</a:t>
                </a:r>
              </a:p>
              <a:p>
                <a:endParaRPr lang="ru-RU" dirty="0"/>
              </a:p>
              <a:p>
                <a:endParaRPr lang="ru-RU" dirty="0"/>
              </a:p>
              <a:p>
                <a:endParaRPr lang="ru-RU" dirty="0"/>
              </a:p>
              <a:p>
                <a:r>
                  <a:rPr lang="ru-RU" dirty="0"/>
                  <a:t>Поскольку работа консервативной силы не зависит от пути, а зависит только от начальных и конечных координат частицы, существует скалярная функция координат, такая, что работа равна разности значений этой функции.</a:t>
                </a:r>
              </a:p>
              <a:p>
                <a:r>
                  <a:rPr lang="ru-RU" dirty="0"/>
                  <a:t>Потенциальная энергия</a:t>
                </a:r>
                <a:r>
                  <a:rPr lang="en-US" dirty="0"/>
                  <a:t>:</a:t>
                </a:r>
                <a:r>
                  <a:rPr lang="ru-RU" dirty="0"/>
                  <a:t>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smtClean="0">
                        <a:latin typeface="Cambria Math" panose="02040503050406030204" pitchFamily="18" charset="0"/>
                      </a:rPr>
                      <m:t>)</m:t>
                    </m:r>
                  </m:oMath>
                </a14:m>
                <a:r>
                  <a:rPr lang="en-US" dirty="0"/>
                  <a:t>.</a:t>
                </a:r>
              </a:p>
              <a:p>
                <a:endParaRPr lang="en-US" dirty="0"/>
              </a:p>
              <a:p>
                <a:endParaRPr lang="en-US" dirty="0"/>
              </a:p>
              <a:p>
                <a:endParaRPr lang="en-US" dirty="0"/>
              </a:p>
              <a:p>
                <a:r>
                  <a:rPr lang="ru-RU" dirty="0"/>
                  <a:t>Работа сил поля на пути 1-2 равна убыли потенциальной энергии частицы в данном поле. Потенциальная энергия определяется с точностью до произвольной (не зависящей от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𝑟</m:t>
                        </m:r>
                      </m:e>
                    </m:acc>
                  </m:oMath>
                </a14:m>
                <a:r>
                  <a:rPr lang="ru-RU" dirty="0"/>
                  <a:t>) постоянной.</a:t>
                </a:r>
              </a:p>
              <a:p>
                <a:endParaRPr lang="ru-RU" dirty="0"/>
              </a:p>
              <a:p>
                <a:endParaRPr lang="ru-RU" dirty="0"/>
              </a:p>
            </p:txBody>
          </p:sp>
        </mc:Choice>
        <mc:Fallback xmlns="">
          <p:sp>
            <p:nvSpPr>
              <p:cNvPr id="3" name="Текст 2">
                <a:extLst>
                  <a:ext uri="{FF2B5EF4-FFF2-40B4-BE49-F238E27FC236}">
                    <a16:creationId xmlns:a16="http://schemas.microsoft.com/office/drawing/2014/main" id="{35C3ECC4-33E0-42D1-6D3F-3075E9055985}"/>
                  </a:ext>
                </a:extLst>
              </p:cNvPr>
              <p:cNvSpPr>
                <a:spLocks noGrp="1" noRot="1" noChangeAspect="1" noMove="1" noResize="1" noEditPoints="1" noAdjustHandles="1" noChangeArrowheads="1" noChangeShapeType="1" noTextEdit="1"/>
              </p:cNvSpPr>
              <p:nvPr>
                <p:ph type="body" sz="quarter" idx="13"/>
              </p:nvPr>
            </p:nvSpPr>
            <p:spPr>
              <a:xfrm>
                <a:off x="838200" y="1045029"/>
                <a:ext cx="10515600" cy="5144755"/>
              </a:xfrm>
              <a:blipFill>
                <a:blip r:embed="rId2"/>
                <a:stretch>
                  <a:fillRect l="-522" t="-1066" r="-464"/>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614A9959-AC65-2EC8-0773-6950F973DD4E}"/>
              </a:ext>
            </a:extLst>
          </p:cNvPr>
          <p:cNvPicPr>
            <a:picLocks noChangeAspect="1"/>
          </p:cNvPicPr>
          <p:nvPr/>
        </p:nvPicPr>
        <p:blipFill>
          <a:blip r:embed="rId3"/>
          <a:stretch>
            <a:fillRect/>
          </a:stretch>
        </p:blipFill>
        <p:spPr>
          <a:xfrm>
            <a:off x="3390634" y="1583699"/>
            <a:ext cx="5410732" cy="1122727"/>
          </a:xfrm>
          <a:prstGeom prst="rect">
            <a:avLst/>
          </a:prstGeom>
        </p:spPr>
      </p:pic>
      <p:pic>
        <p:nvPicPr>
          <p:cNvPr id="7" name="Рисунок 6">
            <a:extLst>
              <a:ext uri="{FF2B5EF4-FFF2-40B4-BE49-F238E27FC236}">
                <a16:creationId xmlns:a16="http://schemas.microsoft.com/office/drawing/2014/main" id="{53352E24-1C9A-CE47-FDD6-6592AFA0D804}"/>
              </a:ext>
            </a:extLst>
          </p:cNvPr>
          <p:cNvPicPr>
            <a:picLocks noChangeAspect="1"/>
          </p:cNvPicPr>
          <p:nvPr/>
        </p:nvPicPr>
        <p:blipFill>
          <a:blip r:embed="rId4"/>
          <a:stretch>
            <a:fillRect/>
          </a:stretch>
        </p:blipFill>
        <p:spPr>
          <a:xfrm>
            <a:off x="3390633" y="4151575"/>
            <a:ext cx="5410733" cy="1074605"/>
          </a:xfrm>
          <a:prstGeom prst="rect">
            <a:avLst/>
          </a:prstGeom>
        </p:spPr>
      </p:pic>
    </p:spTree>
    <p:extLst>
      <p:ext uri="{BB962C8B-B14F-4D97-AF65-F5344CB8AC3E}">
        <p14:creationId xmlns:p14="http://schemas.microsoft.com/office/powerpoint/2010/main" val="4175920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68AD2-0E78-E967-95EF-C00DDF02628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FEAD60-D169-38D2-38B1-D7862CE82CA0}"/>
              </a:ext>
            </a:extLst>
          </p:cNvPr>
          <p:cNvSpPr>
            <a:spLocks noGrp="1"/>
          </p:cNvSpPr>
          <p:nvPr>
            <p:ph type="title"/>
          </p:nvPr>
        </p:nvSpPr>
        <p:spPr>
          <a:xfrm>
            <a:off x="838200" y="399679"/>
            <a:ext cx="10515600" cy="645350"/>
          </a:xfrm>
        </p:spPr>
        <p:txBody>
          <a:bodyPr>
            <a:normAutofit/>
          </a:bodyPr>
          <a:lstStyle/>
          <a:p>
            <a:r>
              <a:rPr lang="ru-RU" dirty="0"/>
              <a:t>8. Получите связь потенциальной энергии частицы в поле консервативных сил и сил этого поля. </a:t>
            </a:r>
          </a:p>
        </p:txBody>
      </p:sp>
      <p:pic>
        <p:nvPicPr>
          <p:cNvPr id="9" name="Рисунок 8">
            <a:extLst>
              <a:ext uri="{FF2B5EF4-FFF2-40B4-BE49-F238E27FC236}">
                <a16:creationId xmlns:a16="http://schemas.microsoft.com/office/drawing/2014/main" id="{418B287C-E0B4-7E2C-A1ED-BEAD43BAD226}"/>
              </a:ext>
            </a:extLst>
          </p:cNvPr>
          <p:cNvPicPr>
            <a:picLocks noChangeAspect="1"/>
          </p:cNvPicPr>
          <p:nvPr/>
        </p:nvPicPr>
        <p:blipFill>
          <a:blip r:embed="rId2"/>
          <a:srcRect l="364" b="7609"/>
          <a:stretch>
            <a:fillRect/>
          </a:stretch>
        </p:blipFill>
        <p:spPr>
          <a:xfrm>
            <a:off x="1632978" y="1045029"/>
            <a:ext cx="8926044" cy="5413292"/>
          </a:xfrm>
          <a:prstGeom prst="rect">
            <a:avLst/>
          </a:prstGeom>
        </p:spPr>
      </p:pic>
    </p:spTree>
    <p:extLst>
      <p:ext uri="{BB962C8B-B14F-4D97-AF65-F5344CB8AC3E}">
        <p14:creationId xmlns:p14="http://schemas.microsoft.com/office/powerpoint/2010/main" val="983717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F71B9-42DA-05DE-B8CA-03C5412AE27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BFC2A5-ED76-8D12-3F80-7CD880A4F5A9}"/>
              </a:ext>
            </a:extLst>
          </p:cNvPr>
          <p:cNvSpPr>
            <a:spLocks noGrp="1"/>
          </p:cNvSpPr>
          <p:nvPr>
            <p:ph type="title"/>
          </p:nvPr>
        </p:nvSpPr>
        <p:spPr>
          <a:xfrm>
            <a:off x="838200" y="399678"/>
            <a:ext cx="10515600" cy="848829"/>
          </a:xfrm>
        </p:spPr>
        <p:txBody>
          <a:bodyPr>
            <a:normAutofit fontScale="90000"/>
          </a:bodyPr>
          <a:lstStyle/>
          <a:p>
            <a:r>
              <a:rPr lang="ru-RU" dirty="0"/>
              <a:t>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a:t>
            </a:r>
          </a:p>
        </p:txBody>
      </p:sp>
      <p:sp>
        <p:nvSpPr>
          <p:cNvPr id="3" name="Текст 2">
            <a:extLst>
              <a:ext uri="{FF2B5EF4-FFF2-40B4-BE49-F238E27FC236}">
                <a16:creationId xmlns:a16="http://schemas.microsoft.com/office/drawing/2014/main" id="{5B2C86F6-D799-7267-D973-FB7B00A9B1D9}"/>
              </a:ext>
            </a:extLst>
          </p:cNvPr>
          <p:cNvSpPr>
            <a:spLocks noGrp="1"/>
          </p:cNvSpPr>
          <p:nvPr>
            <p:ph type="body" sz="quarter" idx="13"/>
          </p:nvPr>
        </p:nvSpPr>
        <p:spPr>
          <a:xfrm>
            <a:off x="838200" y="1362269"/>
            <a:ext cx="10515600" cy="4827515"/>
          </a:xfrm>
        </p:spPr>
        <p:txBody>
          <a:bodyPr/>
          <a:lstStyle/>
          <a:p>
            <a:r>
              <a:rPr lang="ru-RU" b="1" dirty="0"/>
              <a:t>Удар</a:t>
            </a:r>
            <a:r>
              <a:rPr lang="ru-RU" dirty="0"/>
              <a:t> – столкновение тел, при котором за весьма малый промежуток времени происходит значительное изменение скоростей тел.</a:t>
            </a:r>
          </a:p>
          <a:p>
            <a:r>
              <a:rPr lang="ru-RU" b="1" dirty="0"/>
              <a:t>Линия удара </a:t>
            </a:r>
            <a:r>
              <a:rPr lang="ru-RU" dirty="0"/>
              <a:t>– общая нормаль, проведённая к поверхностям двух соприкасающихся тел в месте их соприкосновения при ударе.</a:t>
            </a:r>
          </a:p>
          <a:p>
            <a:r>
              <a:rPr lang="ru-RU" dirty="0"/>
              <a:t>Удар называется </a:t>
            </a:r>
            <a:r>
              <a:rPr lang="ru-RU" b="1" dirty="0"/>
              <a:t>центральным</a:t>
            </a:r>
            <a:r>
              <a:rPr lang="ru-RU" dirty="0"/>
              <a:t>, если в момент удара центры масс сталкивающихся тел находятся на линии удара.</a:t>
            </a:r>
          </a:p>
          <a:p>
            <a:r>
              <a:rPr lang="ru-RU" dirty="0"/>
              <a:t>Удар двух тел называется </a:t>
            </a:r>
            <a:r>
              <a:rPr lang="ru-RU" b="1" dirty="0"/>
              <a:t>абсолютно упругим</a:t>
            </a:r>
            <a:r>
              <a:rPr lang="ru-RU" dirty="0"/>
              <a:t>, если при этом ударе полная механическая энергия системы не изменяется.</a:t>
            </a:r>
          </a:p>
          <a:p>
            <a:r>
              <a:rPr lang="ru-RU" dirty="0"/>
              <a:t>Удар двух тел называется </a:t>
            </a:r>
            <a:r>
              <a:rPr lang="ru-RU" b="1" dirty="0"/>
              <a:t>абсолютно неупругим</a:t>
            </a:r>
            <a:r>
              <a:rPr lang="ru-RU" dirty="0"/>
              <a:t>, если после удара оба тела движутся как одно целое.</a:t>
            </a:r>
          </a:p>
        </p:txBody>
      </p:sp>
    </p:spTree>
    <p:extLst>
      <p:ext uri="{BB962C8B-B14F-4D97-AF65-F5344CB8AC3E}">
        <p14:creationId xmlns:p14="http://schemas.microsoft.com/office/powerpoint/2010/main" val="3815750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0A564-4DA7-081C-D24A-E79C258A4D0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E1F469-3B4A-DC69-6CEE-F420D0C50481}"/>
              </a:ext>
            </a:extLst>
          </p:cNvPr>
          <p:cNvSpPr>
            <a:spLocks noGrp="1"/>
          </p:cNvSpPr>
          <p:nvPr>
            <p:ph type="title"/>
          </p:nvPr>
        </p:nvSpPr>
        <p:spPr>
          <a:xfrm>
            <a:off x="838200" y="399678"/>
            <a:ext cx="10515600" cy="848829"/>
          </a:xfrm>
        </p:spPr>
        <p:txBody>
          <a:bodyPr>
            <a:normAutofit fontScale="90000"/>
          </a:bodyPr>
          <a:lstStyle/>
          <a:p>
            <a:r>
              <a:rPr lang="ru-RU" dirty="0"/>
              <a:t>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A2EFC773-1142-F5AB-29F7-05C911FB9720}"/>
                  </a:ext>
                </a:extLst>
              </p:cNvPr>
              <p:cNvSpPr>
                <a:spLocks noGrp="1"/>
              </p:cNvSpPr>
              <p:nvPr>
                <p:ph type="body" sz="quarter" idx="13"/>
              </p:nvPr>
            </p:nvSpPr>
            <p:spPr>
              <a:xfrm>
                <a:off x="838200" y="1362269"/>
                <a:ext cx="10515600" cy="4827515"/>
              </a:xfrm>
            </p:spPr>
            <p:txBody>
              <a:bodyPr/>
              <a:lstStyle/>
              <a:p>
                <a:r>
                  <a:rPr lang="ru-RU" dirty="0"/>
                  <a:t>Закон сохранения импульса и закон сохранения полной механической энергии:</a:t>
                </a:r>
              </a:p>
              <a:p>
                <a:pPr algn="ctr"/>
                <a:r>
                  <a:rPr lang="ru-RU" dirty="0"/>
                  <a:t>ЗСИ: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b="0" i="1" smtClean="0">
                            <a:latin typeface="Cambria Math" panose="02040503050406030204" pitchFamily="18" charset="0"/>
                          </a:rPr>
                          <m:t>2</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1</m:t>
                        </m:r>
                      </m:sub>
                      <m:sup>
                        <m:r>
                          <a:rPr lang="en-US" b="0" i="1" smtClean="0">
                            <a:latin typeface="Cambria Math" panose="02040503050406030204" pitchFamily="18" charset="0"/>
                          </a:rPr>
                          <m:t>′</m:t>
                        </m:r>
                      </m:sup>
                    </m:sSubSup>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en-US" b="0" i="1" smtClean="0">
                            <a:latin typeface="Cambria Math" panose="02040503050406030204" pitchFamily="18" charset="0"/>
                          </a:rPr>
                          <m:t>′</m:t>
                        </m:r>
                      </m:sup>
                    </m:sSub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2</m:t>
                        </m:r>
                      </m:sub>
                      <m:sup>
                        <m:r>
                          <a:rPr lang="en-US" b="0" i="1" smtClean="0">
                            <a:latin typeface="Cambria Math" panose="02040503050406030204" pitchFamily="18" charset="0"/>
                          </a:rPr>
                          <m:t>′</m:t>
                        </m:r>
                      </m:sup>
                    </m:sSubSup>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b="0" i="1" smtClean="0">
                            <a:latin typeface="Cambria Math" panose="02040503050406030204" pitchFamily="18" charset="0"/>
                          </a:rPr>
                          <m:t>′</m:t>
                        </m:r>
                      </m:sup>
                    </m:sSubSup>
                  </m:oMath>
                </a14:m>
                <a:r>
                  <a:rPr lang="ru-RU" dirty="0"/>
                  <a:t> (1)</a:t>
                </a:r>
                <a:endParaRPr lang="en-US" dirty="0"/>
              </a:p>
              <a:p>
                <a:pPr algn="ctr"/>
                <a:r>
                  <a:rPr lang="ru-RU" b="0" dirty="0"/>
                  <a:t>ЗСМИ: </a:t>
                </a:r>
                <a14:m>
                  <m:oMath xmlns:m="http://schemas.openxmlformats.org/officeDocument/2006/math">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r>
                      <a:rPr lang="en-US" i="1">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2</m:t>
                            </m:r>
                          </m:sub>
                        </m:sSub>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r>
                      <a:rPr lang="en-US" i="1">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1</m:t>
                            </m:r>
                          </m:sub>
                          <m:sup>
                            <m:r>
                              <a:rPr lang="en-US" i="1">
                                <a:latin typeface="Cambria Math" panose="02040503050406030204" pitchFamily="18" charset="0"/>
                              </a:rPr>
                              <m:t>′</m:t>
                            </m:r>
                          </m:sup>
                        </m:sSubSup>
                        <m:sSup>
                          <m:sSupPr>
                            <m:ctrlPr>
                              <a:rPr lang="en-US" b="0" i="1" smtClean="0">
                                <a:latin typeface="Cambria Math" panose="02040503050406030204" pitchFamily="18" charset="0"/>
                              </a:rPr>
                            </m:ctrlPr>
                          </m:sSupPr>
                          <m:e>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en-US" i="1">
                                    <a:latin typeface="Cambria Math" panose="02040503050406030204" pitchFamily="18" charset="0"/>
                                  </a:rPr>
                                  <m:t>′</m:t>
                                </m:r>
                              </m:sup>
                            </m:sSubSup>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r>
                      <a:rPr lang="en-US" i="1">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2</m:t>
                            </m:r>
                          </m:sub>
                          <m:sup>
                            <m:r>
                              <a:rPr lang="en-US" i="1">
                                <a:latin typeface="Cambria Math" panose="02040503050406030204" pitchFamily="18" charset="0"/>
                              </a:rPr>
                              <m:t>′</m:t>
                            </m:r>
                          </m:sup>
                        </m:sSubSup>
                        <m:sSup>
                          <m:sSupPr>
                            <m:ctrlPr>
                              <a:rPr lang="en-US" b="0" i="1" smtClean="0">
                                <a:latin typeface="Cambria Math" panose="02040503050406030204" pitchFamily="18" charset="0"/>
                              </a:rPr>
                            </m:ctrlPr>
                          </m:sSupPr>
                          <m:e>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i="1">
                                    <a:latin typeface="Cambria Math" panose="02040503050406030204" pitchFamily="18" charset="0"/>
                                  </a:rPr>
                                  <m:t>′</m:t>
                                </m:r>
                              </m:sup>
                            </m:sSubSup>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oMath>
                </a14:m>
                <a:r>
                  <a:rPr lang="ru-RU" dirty="0"/>
                  <a:t> (2)</a:t>
                </a:r>
              </a:p>
              <a:p>
                <a:pPr algn="ctr"/>
                <a:r>
                  <a:rPr lang="ru-RU" dirty="0"/>
                  <a:t>Из 1: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Sub>
                    <m:r>
                      <a:rPr lang="ru-RU"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1</m:t>
                        </m:r>
                      </m:sub>
                      <m:sup>
                        <m:r>
                          <a:rPr lang="en-US" i="1">
                            <a:latin typeface="Cambria Math" panose="02040503050406030204" pitchFamily="18" charset="0"/>
                          </a:rPr>
                          <m:t>′</m:t>
                        </m:r>
                      </m:sup>
                    </m:sSubSup>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2</m:t>
                        </m:r>
                      </m:sub>
                      <m:sup>
                        <m:r>
                          <a:rPr lang="en-US" i="1">
                            <a:latin typeface="Cambria Math" panose="02040503050406030204" pitchFamily="18" charset="0"/>
                          </a:rPr>
                          <m:t>′</m:t>
                        </m:r>
                      </m:sup>
                    </m:sSubSup>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i="1">
                            <a:latin typeface="Cambria Math" panose="02040503050406030204" pitchFamily="18" charset="0"/>
                          </a:rPr>
                          <m:t>′</m:t>
                        </m:r>
                      </m:sup>
                    </m:sSubSup>
                    <m:r>
                      <a:rPr lang="ru-RU"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2</m:t>
                        </m:r>
                      </m:sub>
                    </m:sSub>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Sub>
                  </m:oMath>
                </a14:m>
                <a:r>
                  <a:rPr lang="ru-RU" dirty="0"/>
                  <a:t>(3)</a:t>
                </a:r>
              </a:p>
              <a:p>
                <a:pPr algn="ctr"/>
                <a:r>
                  <a:rPr lang="ru-RU" dirty="0"/>
                  <a:t>Из 2: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ru-RU" b="0" i="1" smtClean="0">
                        <a:latin typeface="Cambria Math" panose="02040503050406030204" pitchFamily="18" charset="0"/>
                      </a:rPr>
                      <m:t>(</m:t>
                    </m:r>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ru-RU" b="0" i="1" smtClean="0">
                            <a:latin typeface="Cambria Math" panose="02040503050406030204" pitchFamily="18" charset="0"/>
                          </a:rPr>
                          <m:t>2</m:t>
                        </m:r>
                      </m:sup>
                    </m:sSubSup>
                    <m:r>
                      <a:rPr lang="ru-RU" b="0" i="1" smtClean="0">
                        <a:latin typeface="Cambria Math" panose="02040503050406030204" pitchFamily="18" charset="0"/>
                      </a:rPr>
                      <m:t> </m:t>
                    </m:r>
                    <m:r>
                      <a:rPr lang="ru-RU" i="1">
                        <a:latin typeface="Cambria Math" panose="02040503050406030204" pitchFamily="18" charset="0"/>
                      </a:rPr>
                      <m:t>−</m:t>
                    </m:r>
                    <m:sSup>
                      <m:sSupPr>
                        <m:ctrlPr>
                          <a:rPr lang="en-US" b="0" i="1" smtClean="0">
                            <a:latin typeface="Cambria Math" panose="02040503050406030204" pitchFamily="18" charset="0"/>
                          </a:rPr>
                        </m:ctrlPr>
                      </m:sSupPr>
                      <m:e>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1</m:t>
                            </m:r>
                          </m:sub>
                          <m:sup>
                            <m:r>
                              <a:rPr lang="en-US" i="1">
                                <a:latin typeface="Cambria Math" panose="02040503050406030204" pitchFamily="18" charset="0"/>
                              </a:rPr>
                              <m:t>′</m:t>
                            </m:r>
                          </m:sup>
                        </m:sSubSup>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2</m:t>
                        </m:r>
                      </m:sub>
                      <m:sup>
                        <m:r>
                          <a:rPr lang="en-US" i="1">
                            <a:latin typeface="Cambria Math" panose="02040503050406030204" pitchFamily="18" charset="0"/>
                          </a:rPr>
                          <m:t>′</m:t>
                        </m:r>
                      </m:sup>
                    </m:sSub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Sup>
                          <m:sSubSupPr>
                            <m:ctrlPr>
                              <a:rPr lang="en-US" i="1">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i="1">
                                <a:latin typeface="Cambria Math" panose="02040503050406030204" pitchFamily="18" charset="0"/>
                              </a:rPr>
                              <m:t>′</m:t>
                            </m:r>
                          </m:sup>
                        </m:sSubSup>
                      </m:e>
                      <m:sup>
                        <m:r>
                          <a:rPr lang="en-US" b="0" i="1" smtClean="0">
                            <a:latin typeface="Cambria Math" panose="02040503050406030204" pitchFamily="18" charset="0"/>
                          </a:rPr>
                          <m:t>2</m:t>
                        </m:r>
                      </m:sup>
                    </m:sSup>
                    <m:r>
                      <a:rPr lang="ru-RU" i="1">
                        <a:latin typeface="Cambria Math" panose="02040503050406030204" pitchFamily="18" charset="0"/>
                      </a:rPr>
                      <m:t>−</m:t>
                    </m:r>
                    <m:sSubSup>
                      <m:sSubSupPr>
                        <m:ctrlPr>
                          <a:rPr lang="en-US" b="0" i="1" smtClean="0">
                            <a:latin typeface="Cambria Math" panose="02040503050406030204" pitchFamily="18" charset="0"/>
                          </a:rPr>
                        </m:ctrlPr>
                      </m:sSubSup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oMath>
                </a14:m>
                <a:r>
                  <a:rPr lang="ru-RU" dirty="0"/>
                  <a:t>(</a:t>
                </a:r>
                <a:r>
                  <a:rPr lang="en-US" dirty="0"/>
                  <a:t>4</a:t>
                </a:r>
                <a:r>
                  <a:rPr lang="ru-RU" dirty="0"/>
                  <a:t>)</a:t>
                </a:r>
              </a:p>
              <a:p>
                <a:pPr algn="ctr"/>
                <a:r>
                  <a:rPr lang="ru-RU" dirty="0"/>
                  <a:t>Поделим 3 на 4: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a14:m>
                <a:endParaRPr lang="en-US" dirty="0"/>
              </a:p>
              <a:p>
                <a:pPr algn="ctr"/>
                <a:endParaRPr lang="ru-RU" dirty="0"/>
              </a:p>
            </p:txBody>
          </p:sp>
        </mc:Choice>
        <mc:Fallback xmlns="">
          <p:sp>
            <p:nvSpPr>
              <p:cNvPr id="3" name="Текст 2">
                <a:extLst>
                  <a:ext uri="{FF2B5EF4-FFF2-40B4-BE49-F238E27FC236}">
                    <a16:creationId xmlns:a16="http://schemas.microsoft.com/office/drawing/2014/main" id="{A2EFC773-1142-F5AB-29F7-05C911FB9720}"/>
                  </a:ext>
                </a:extLst>
              </p:cNvPr>
              <p:cNvSpPr>
                <a:spLocks noGrp="1" noRot="1" noChangeAspect="1" noMove="1" noResize="1" noEditPoints="1" noAdjustHandles="1" noChangeArrowheads="1" noChangeShapeType="1" noTextEdit="1"/>
              </p:cNvSpPr>
              <p:nvPr>
                <p:ph type="body" sz="quarter" idx="13"/>
              </p:nvPr>
            </p:nvSpPr>
            <p:spPr>
              <a:xfrm>
                <a:off x="838200" y="1362269"/>
                <a:ext cx="10515600" cy="4827515"/>
              </a:xfrm>
              <a:blipFill>
                <a:blip r:embed="rId2"/>
                <a:stretch>
                  <a:fillRect l="-522" t="-1136"/>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9E20DCE2-E62E-C2C7-8062-7B95B12C942C}"/>
              </a:ext>
            </a:extLst>
          </p:cNvPr>
          <p:cNvPicPr>
            <a:picLocks noChangeAspect="1"/>
          </p:cNvPicPr>
          <p:nvPr/>
        </p:nvPicPr>
        <p:blipFill>
          <a:blip r:embed="rId3"/>
          <a:stretch>
            <a:fillRect/>
          </a:stretch>
        </p:blipFill>
        <p:spPr>
          <a:xfrm>
            <a:off x="2560999" y="3761353"/>
            <a:ext cx="7070002" cy="2838322"/>
          </a:xfrm>
          <a:prstGeom prst="rect">
            <a:avLst/>
          </a:prstGeom>
        </p:spPr>
      </p:pic>
    </p:spTree>
    <p:extLst>
      <p:ext uri="{BB962C8B-B14F-4D97-AF65-F5344CB8AC3E}">
        <p14:creationId xmlns:p14="http://schemas.microsoft.com/office/powerpoint/2010/main" val="1908350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B831C-72BD-A4C9-F89E-E9832A81BAA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680A30-7658-182B-FAC9-681A2AB66DF0}"/>
              </a:ext>
            </a:extLst>
          </p:cNvPr>
          <p:cNvSpPr>
            <a:spLocks noGrp="1"/>
          </p:cNvSpPr>
          <p:nvPr>
            <p:ph type="title"/>
          </p:nvPr>
        </p:nvSpPr>
        <p:spPr>
          <a:xfrm>
            <a:off x="838200" y="399678"/>
            <a:ext cx="10515600" cy="848829"/>
          </a:xfrm>
        </p:spPr>
        <p:txBody>
          <a:bodyPr>
            <a:normAutofit fontScale="90000"/>
          </a:bodyPr>
          <a:lstStyle/>
          <a:p>
            <a:r>
              <a:rPr lang="ru-RU" dirty="0"/>
              <a:t>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a:t>
            </a:r>
          </a:p>
        </p:txBody>
      </p:sp>
      <mc:AlternateContent xmlns:mc="http://schemas.openxmlformats.org/markup-compatibility/2006" xmlns:a14="http://schemas.microsoft.com/office/drawing/2010/main">
        <mc:Choice Requires="a14">
          <p:sp>
            <p:nvSpPr>
              <p:cNvPr id="6" name="Текст 5">
                <a:extLst>
                  <a:ext uri="{FF2B5EF4-FFF2-40B4-BE49-F238E27FC236}">
                    <a16:creationId xmlns:a16="http://schemas.microsoft.com/office/drawing/2014/main" id="{DFC2820E-FD0E-918B-98A1-A6F85EEFCFE5}"/>
                  </a:ext>
                </a:extLst>
              </p:cNvPr>
              <p:cNvSpPr>
                <a:spLocks noGrp="1"/>
              </p:cNvSpPr>
              <p:nvPr>
                <p:ph type="body" sz="quarter" idx="13"/>
              </p:nvPr>
            </p:nvSpPr>
            <p:spPr>
              <a:xfrm>
                <a:off x="838200" y="1350409"/>
                <a:ext cx="10515600" cy="4839375"/>
              </a:xfrm>
            </p:spPr>
            <p:txBody>
              <a:bodyPr/>
              <a:lstStyle/>
              <a:p>
                <a:r>
                  <a:rPr lang="ru-RU" dirty="0"/>
                  <a:t>Пример. Мяч, летящий со скоростью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smtClean="0">
                            <a:latin typeface="Cambria Math" panose="02040503050406030204" pitchFamily="18" charset="0"/>
                          </a:rPr>
                          <m:t>1</m:t>
                        </m:r>
                      </m:sub>
                    </m:sSub>
                  </m:oMath>
                </a14:m>
                <a:r>
                  <a:rPr lang="en-US" dirty="0"/>
                  <a:t> </a:t>
                </a:r>
                <a:r>
                  <a:rPr lang="ru-RU" dirty="0"/>
                  <a:t>ударяется о мишень, движущийся в том же направлении со скоростью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dirty="0" smtClean="0">
                            <a:latin typeface="Cambria Math" panose="02040503050406030204" pitchFamily="18" charset="0"/>
                          </a:rPr>
                          <m:t>2</m:t>
                        </m:r>
                      </m:sub>
                    </m:sSub>
                  </m:oMath>
                </a14:m>
                <a:r>
                  <a:rPr lang="en-US" dirty="0"/>
                  <a:t>. </a:t>
                </a:r>
                <a:r>
                  <a:rPr lang="ru-RU" dirty="0"/>
                  <a:t>Вычислите скорость мяча относительно земли после удара.</a:t>
                </a:r>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den>
                      </m:f>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oMath>
                  </m:oMathPara>
                </a14:m>
                <a:endParaRPr lang="en-US" dirty="0"/>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a:p>
                <a:r>
                  <a:rPr lang="ru-RU" dirty="0"/>
                  <a:t>Скорость мяча относительно вагона до удара равна по модулю скорости мяча относительно вагона после удара.</a:t>
                </a:r>
              </a:p>
            </p:txBody>
          </p:sp>
        </mc:Choice>
        <mc:Fallback xmlns="">
          <p:sp>
            <p:nvSpPr>
              <p:cNvPr id="6" name="Текст 5">
                <a:extLst>
                  <a:ext uri="{FF2B5EF4-FFF2-40B4-BE49-F238E27FC236}">
                    <a16:creationId xmlns:a16="http://schemas.microsoft.com/office/drawing/2014/main" id="{DFC2820E-FD0E-918B-98A1-A6F85EEFCFE5}"/>
                  </a:ext>
                </a:extLst>
              </p:cNvPr>
              <p:cNvSpPr>
                <a:spLocks noGrp="1" noRot="1" noChangeAspect="1" noMove="1" noResize="1" noEditPoints="1" noAdjustHandles="1" noChangeArrowheads="1" noChangeShapeType="1" noTextEdit="1"/>
              </p:cNvSpPr>
              <p:nvPr>
                <p:ph type="body" sz="quarter" idx="13"/>
              </p:nvPr>
            </p:nvSpPr>
            <p:spPr>
              <a:xfrm>
                <a:off x="838200" y="1350409"/>
                <a:ext cx="10515600" cy="4839375"/>
              </a:xfrm>
              <a:blipFill>
                <a:blip r:embed="rId2"/>
                <a:stretch>
                  <a:fillRect l="-522" t="-2270" r="-464"/>
                </a:stretch>
              </a:blipFill>
            </p:spPr>
            <p:txBody>
              <a:bodyPr/>
              <a:lstStyle/>
              <a:p>
                <a:r>
                  <a:rPr lang="ru-RU">
                    <a:noFill/>
                  </a:rPr>
                  <a:t> </a:t>
                </a:r>
              </a:p>
            </p:txBody>
          </p:sp>
        </mc:Fallback>
      </mc:AlternateContent>
      <p:pic>
        <p:nvPicPr>
          <p:cNvPr id="8" name="Рисунок 7">
            <a:extLst>
              <a:ext uri="{FF2B5EF4-FFF2-40B4-BE49-F238E27FC236}">
                <a16:creationId xmlns:a16="http://schemas.microsoft.com/office/drawing/2014/main" id="{BFD6197F-6D84-25C1-9DA7-0F38EBF8D1E9}"/>
              </a:ext>
            </a:extLst>
          </p:cNvPr>
          <p:cNvPicPr>
            <a:picLocks noChangeAspect="1"/>
          </p:cNvPicPr>
          <p:nvPr/>
        </p:nvPicPr>
        <p:blipFill>
          <a:blip r:embed="rId3"/>
          <a:srcRect l="18423" t="56175" r="4878" b="1941"/>
          <a:stretch>
            <a:fillRect/>
          </a:stretch>
        </p:blipFill>
        <p:spPr>
          <a:xfrm>
            <a:off x="2987040" y="3770096"/>
            <a:ext cx="6217920" cy="2026920"/>
          </a:xfrm>
          <a:prstGeom prst="rect">
            <a:avLst/>
          </a:prstGeom>
        </p:spPr>
      </p:pic>
    </p:spTree>
    <p:extLst>
      <p:ext uri="{BB962C8B-B14F-4D97-AF65-F5344CB8AC3E}">
        <p14:creationId xmlns:p14="http://schemas.microsoft.com/office/powerpoint/2010/main" val="3375377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7AFDF-D4FD-2F46-6B06-8CBA57A5AC7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625247-769C-F3A8-C9E1-46136BA296DA}"/>
              </a:ext>
            </a:extLst>
          </p:cNvPr>
          <p:cNvSpPr>
            <a:spLocks noGrp="1"/>
          </p:cNvSpPr>
          <p:nvPr>
            <p:ph type="title"/>
          </p:nvPr>
        </p:nvSpPr>
        <p:spPr>
          <a:xfrm>
            <a:off x="838200" y="399679"/>
            <a:ext cx="10515600" cy="346770"/>
          </a:xfrm>
        </p:spPr>
        <p:txBody>
          <a:bodyPr>
            <a:normAutofit/>
          </a:bodyPr>
          <a:lstStyle/>
          <a:p>
            <a:r>
              <a:rPr lang="ru-RU" dirty="0"/>
              <a:t>10. Что называют реактивной силой? Получите уравнение Мещерского. </a:t>
            </a:r>
          </a:p>
        </p:txBody>
      </p:sp>
      <p:pic>
        <p:nvPicPr>
          <p:cNvPr id="5" name="Рисунок 4">
            <a:extLst>
              <a:ext uri="{FF2B5EF4-FFF2-40B4-BE49-F238E27FC236}">
                <a16:creationId xmlns:a16="http://schemas.microsoft.com/office/drawing/2014/main" id="{4FCFC2E9-971F-487A-4712-95F4B52A24A3}"/>
              </a:ext>
            </a:extLst>
          </p:cNvPr>
          <p:cNvPicPr>
            <a:picLocks noChangeAspect="1"/>
          </p:cNvPicPr>
          <p:nvPr/>
        </p:nvPicPr>
        <p:blipFill>
          <a:blip r:embed="rId2"/>
          <a:stretch>
            <a:fillRect/>
          </a:stretch>
        </p:blipFill>
        <p:spPr>
          <a:xfrm>
            <a:off x="2252840" y="725716"/>
            <a:ext cx="7686319" cy="5732605"/>
          </a:xfrm>
          <a:prstGeom prst="rect">
            <a:avLst/>
          </a:prstGeom>
        </p:spPr>
      </p:pic>
    </p:spTree>
    <p:extLst>
      <p:ext uri="{BB962C8B-B14F-4D97-AF65-F5344CB8AC3E}">
        <p14:creationId xmlns:p14="http://schemas.microsoft.com/office/powerpoint/2010/main" val="2555900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52BDD-09B0-CC4F-EA04-0A22342146F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878BEF-007B-70BA-FF89-0AE34D31A289}"/>
              </a:ext>
            </a:extLst>
          </p:cNvPr>
          <p:cNvSpPr>
            <a:spLocks noGrp="1"/>
          </p:cNvSpPr>
          <p:nvPr>
            <p:ph type="title"/>
          </p:nvPr>
        </p:nvSpPr>
        <p:spPr>
          <a:xfrm>
            <a:off x="838200" y="399679"/>
            <a:ext cx="10515600" cy="346770"/>
          </a:xfrm>
        </p:spPr>
        <p:txBody>
          <a:bodyPr>
            <a:normAutofit/>
          </a:bodyPr>
          <a:lstStyle/>
          <a:p>
            <a:r>
              <a:rPr lang="ru-RU" dirty="0"/>
              <a:t>10. Что называют реактивной силой? Получите уравнение Мещерского. </a:t>
            </a:r>
          </a:p>
        </p:txBody>
      </p:sp>
      <p:pic>
        <p:nvPicPr>
          <p:cNvPr id="7" name="Рисунок 6">
            <a:extLst>
              <a:ext uri="{FF2B5EF4-FFF2-40B4-BE49-F238E27FC236}">
                <a16:creationId xmlns:a16="http://schemas.microsoft.com/office/drawing/2014/main" id="{D5E4FE38-0B7A-5B53-5E11-522573AFA9D2}"/>
              </a:ext>
            </a:extLst>
          </p:cNvPr>
          <p:cNvPicPr>
            <a:picLocks noChangeAspect="1"/>
          </p:cNvPicPr>
          <p:nvPr/>
        </p:nvPicPr>
        <p:blipFill>
          <a:blip r:embed="rId2"/>
          <a:stretch>
            <a:fillRect/>
          </a:stretch>
        </p:blipFill>
        <p:spPr>
          <a:xfrm>
            <a:off x="2174259" y="746449"/>
            <a:ext cx="7843482" cy="5886979"/>
          </a:xfrm>
          <a:prstGeom prst="rect">
            <a:avLst/>
          </a:prstGeom>
        </p:spPr>
      </p:pic>
    </p:spTree>
    <p:extLst>
      <p:ext uri="{BB962C8B-B14F-4D97-AF65-F5344CB8AC3E}">
        <p14:creationId xmlns:p14="http://schemas.microsoft.com/office/powerpoint/2010/main" val="2161935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CB4AA-4687-9718-CF18-E1CFD67A3F2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A91476-8646-2A08-4A2C-5F86D11E23AB}"/>
              </a:ext>
            </a:extLst>
          </p:cNvPr>
          <p:cNvSpPr>
            <a:spLocks noGrp="1"/>
          </p:cNvSpPr>
          <p:nvPr>
            <p:ph type="title"/>
          </p:nvPr>
        </p:nvSpPr>
        <p:spPr>
          <a:xfrm>
            <a:off x="838200" y="399679"/>
            <a:ext cx="10515600" cy="346770"/>
          </a:xfrm>
        </p:spPr>
        <p:txBody>
          <a:bodyPr>
            <a:normAutofit/>
          </a:bodyPr>
          <a:lstStyle/>
          <a:p>
            <a:r>
              <a:rPr lang="ru-RU" dirty="0"/>
              <a:t>11. Что называют реактивной силой? Получите формулу Циолковского. </a:t>
            </a:r>
          </a:p>
        </p:txBody>
      </p:sp>
      <p:pic>
        <p:nvPicPr>
          <p:cNvPr id="4" name="Рисунок 3">
            <a:extLst>
              <a:ext uri="{FF2B5EF4-FFF2-40B4-BE49-F238E27FC236}">
                <a16:creationId xmlns:a16="http://schemas.microsoft.com/office/drawing/2014/main" id="{D947E767-2D2B-7AB7-7553-97FACA4F2087}"/>
              </a:ext>
            </a:extLst>
          </p:cNvPr>
          <p:cNvPicPr>
            <a:picLocks noChangeAspect="1"/>
          </p:cNvPicPr>
          <p:nvPr/>
        </p:nvPicPr>
        <p:blipFill>
          <a:blip r:embed="rId2"/>
          <a:stretch>
            <a:fillRect/>
          </a:stretch>
        </p:blipFill>
        <p:spPr>
          <a:xfrm>
            <a:off x="2181404" y="746449"/>
            <a:ext cx="7829192" cy="5895950"/>
          </a:xfrm>
          <a:prstGeom prst="rect">
            <a:avLst/>
          </a:prstGeom>
        </p:spPr>
      </p:pic>
    </p:spTree>
    <p:extLst>
      <p:ext uri="{BB962C8B-B14F-4D97-AF65-F5344CB8AC3E}">
        <p14:creationId xmlns:p14="http://schemas.microsoft.com/office/powerpoint/2010/main" val="2667052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498922-7BE1-E848-5C8E-CFF57A5C0123}"/>
              </a:ext>
            </a:extLst>
          </p:cNvPr>
          <p:cNvSpPr>
            <a:spLocks noGrp="1"/>
          </p:cNvSpPr>
          <p:nvPr>
            <p:ph type="title"/>
          </p:nvPr>
        </p:nvSpPr>
        <p:spPr/>
        <p:txBody>
          <a:bodyPr>
            <a:normAutofit/>
          </a:bodyPr>
          <a:lstStyle/>
          <a:p>
            <a:r>
              <a:rPr lang="ru-RU" dirty="0"/>
              <a:t>12. Дайте определение момента импульса частицы относительно точки и момента силы, действующей на частицу, относительно точки. Получите уравнение моментов для вращения частицы вокруг точки. </a:t>
            </a:r>
          </a:p>
        </p:txBody>
      </p:sp>
      <p:pic>
        <p:nvPicPr>
          <p:cNvPr id="5" name="Рисунок 4">
            <a:extLst>
              <a:ext uri="{FF2B5EF4-FFF2-40B4-BE49-F238E27FC236}">
                <a16:creationId xmlns:a16="http://schemas.microsoft.com/office/drawing/2014/main" id="{178CEC44-3ED0-6625-91D6-D16D8DDFA13B}"/>
              </a:ext>
            </a:extLst>
          </p:cNvPr>
          <p:cNvPicPr>
            <a:picLocks noChangeAspect="1"/>
          </p:cNvPicPr>
          <p:nvPr/>
        </p:nvPicPr>
        <p:blipFill>
          <a:blip r:embed="rId2"/>
          <a:srcRect l="2488" t="1443"/>
          <a:stretch>
            <a:fillRect/>
          </a:stretch>
        </p:blipFill>
        <p:spPr>
          <a:xfrm>
            <a:off x="0" y="1372166"/>
            <a:ext cx="6096000" cy="4253476"/>
          </a:xfrm>
          <a:prstGeom prst="rect">
            <a:avLst/>
          </a:prstGeom>
        </p:spPr>
      </p:pic>
      <p:pic>
        <p:nvPicPr>
          <p:cNvPr id="7" name="Рисунок 6">
            <a:extLst>
              <a:ext uri="{FF2B5EF4-FFF2-40B4-BE49-F238E27FC236}">
                <a16:creationId xmlns:a16="http://schemas.microsoft.com/office/drawing/2014/main" id="{13E3A302-394A-0ADD-3A34-495B1AE2A4B8}"/>
              </a:ext>
            </a:extLst>
          </p:cNvPr>
          <p:cNvPicPr>
            <a:picLocks noChangeAspect="1"/>
          </p:cNvPicPr>
          <p:nvPr/>
        </p:nvPicPr>
        <p:blipFill>
          <a:blip r:embed="rId3"/>
          <a:srcRect l="1931" t="2568"/>
          <a:stretch>
            <a:fillRect/>
          </a:stretch>
        </p:blipFill>
        <p:spPr>
          <a:xfrm>
            <a:off x="6192847" y="1412382"/>
            <a:ext cx="5999153" cy="4073451"/>
          </a:xfrm>
          <a:prstGeom prst="rect">
            <a:avLst/>
          </a:prstGeom>
        </p:spPr>
      </p:pic>
    </p:spTree>
    <p:extLst>
      <p:ext uri="{BB962C8B-B14F-4D97-AF65-F5344CB8AC3E}">
        <p14:creationId xmlns:p14="http://schemas.microsoft.com/office/powerpoint/2010/main" val="3404785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AA74A-E440-A0B5-75BA-CD7AC6B363A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392814-8134-0FF1-4056-185E7A9289FD}"/>
              </a:ext>
            </a:extLst>
          </p:cNvPr>
          <p:cNvSpPr>
            <a:spLocks noGrp="1"/>
          </p:cNvSpPr>
          <p:nvPr>
            <p:ph type="title"/>
          </p:nvPr>
        </p:nvSpPr>
        <p:spPr/>
        <p:txBody>
          <a:bodyPr>
            <a:normAutofit/>
          </a:bodyPr>
          <a:lstStyle/>
          <a:p>
            <a:r>
              <a:rPr lang="ru-RU" dirty="0"/>
              <a:t>12. Дайте определение момента импульса частицы относительно точки и момента силы, действующей на частицу, относительно точки. Получите уравнение моментов для вращения частицы вокруг точки. </a:t>
            </a:r>
          </a:p>
        </p:txBody>
      </p:sp>
      <p:pic>
        <p:nvPicPr>
          <p:cNvPr id="3" name="Рисунок 2">
            <a:extLst>
              <a:ext uri="{FF2B5EF4-FFF2-40B4-BE49-F238E27FC236}">
                <a16:creationId xmlns:a16="http://schemas.microsoft.com/office/drawing/2014/main" id="{0E3F3879-C429-4731-EA9D-FC979EE67C40}"/>
              </a:ext>
            </a:extLst>
          </p:cNvPr>
          <p:cNvPicPr>
            <a:picLocks noChangeAspect="1"/>
          </p:cNvPicPr>
          <p:nvPr/>
        </p:nvPicPr>
        <p:blipFill>
          <a:blip r:embed="rId2"/>
          <a:srcRect l="1501" t="3996"/>
          <a:stretch>
            <a:fillRect/>
          </a:stretch>
        </p:blipFill>
        <p:spPr>
          <a:xfrm>
            <a:off x="2147209" y="1248508"/>
            <a:ext cx="7897581" cy="5403331"/>
          </a:xfrm>
          <a:prstGeom prst="rect">
            <a:avLst/>
          </a:prstGeom>
        </p:spPr>
      </p:pic>
    </p:spTree>
    <p:extLst>
      <p:ext uri="{BB962C8B-B14F-4D97-AF65-F5344CB8AC3E}">
        <p14:creationId xmlns:p14="http://schemas.microsoft.com/office/powerpoint/2010/main" val="790442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746B9-8CD5-0E58-8A06-4586A1810ED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D32474-5FDF-C5A2-6C60-1F3D6077AFD9}"/>
              </a:ext>
            </a:extLst>
          </p:cNvPr>
          <p:cNvSpPr>
            <a:spLocks noGrp="1"/>
          </p:cNvSpPr>
          <p:nvPr>
            <p:ph type="title"/>
          </p:nvPr>
        </p:nvSpPr>
        <p:spPr/>
        <p:txBody>
          <a:bodyPr>
            <a:normAutofit/>
          </a:bodyPr>
          <a:lstStyle/>
          <a:p>
            <a:r>
              <a:rPr lang="ru-RU" dirty="0"/>
              <a:t>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a:t>
            </a:r>
          </a:p>
        </p:txBody>
      </p:sp>
      <p:pic>
        <p:nvPicPr>
          <p:cNvPr id="11" name="Рисунок 10">
            <a:extLst>
              <a:ext uri="{FF2B5EF4-FFF2-40B4-BE49-F238E27FC236}">
                <a16:creationId xmlns:a16="http://schemas.microsoft.com/office/drawing/2014/main" id="{9FBAC85C-1028-F4CB-75A7-2CB6EFD273CB}"/>
              </a:ext>
            </a:extLst>
          </p:cNvPr>
          <p:cNvPicPr>
            <a:picLocks noChangeAspect="1"/>
          </p:cNvPicPr>
          <p:nvPr/>
        </p:nvPicPr>
        <p:blipFill>
          <a:blip r:embed="rId2"/>
          <a:stretch>
            <a:fillRect/>
          </a:stretch>
        </p:blipFill>
        <p:spPr>
          <a:xfrm>
            <a:off x="838200" y="1248507"/>
            <a:ext cx="7627883" cy="4943684"/>
          </a:xfrm>
          <a:prstGeom prst="rect">
            <a:avLst/>
          </a:prstGeom>
        </p:spPr>
      </p:pic>
      <p:pic>
        <p:nvPicPr>
          <p:cNvPr id="13" name="Рисунок 12">
            <a:extLst>
              <a:ext uri="{FF2B5EF4-FFF2-40B4-BE49-F238E27FC236}">
                <a16:creationId xmlns:a16="http://schemas.microsoft.com/office/drawing/2014/main" id="{EC1B15B4-A2C6-074C-1413-A50669F1BE82}"/>
              </a:ext>
            </a:extLst>
          </p:cNvPr>
          <p:cNvPicPr>
            <a:picLocks noChangeAspect="1"/>
          </p:cNvPicPr>
          <p:nvPr/>
        </p:nvPicPr>
        <p:blipFill>
          <a:blip r:embed="rId3"/>
          <a:stretch>
            <a:fillRect/>
          </a:stretch>
        </p:blipFill>
        <p:spPr>
          <a:xfrm>
            <a:off x="8595100" y="3563631"/>
            <a:ext cx="2758700" cy="848830"/>
          </a:xfrm>
          <a:prstGeom prst="rect">
            <a:avLst/>
          </a:prstGeom>
        </p:spPr>
      </p:pic>
    </p:spTree>
    <p:extLst>
      <p:ext uri="{BB962C8B-B14F-4D97-AF65-F5344CB8AC3E}">
        <p14:creationId xmlns:p14="http://schemas.microsoft.com/office/powerpoint/2010/main" val="1002826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8C8AA-6667-B83F-D0FD-3F29161D028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0077B5-3C21-A59F-8446-3BF259F1F30C}"/>
              </a:ext>
            </a:extLst>
          </p:cNvPr>
          <p:cNvSpPr>
            <a:spLocks noGrp="1"/>
          </p:cNvSpPr>
          <p:nvPr>
            <p:ph type="title"/>
          </p:nvPr>
        </p:nvSpPr>
        <p:spPr/>
        <p:txBody>
          <a:bodyPr>
            <a:normAutofit/>
          </a:bodyPr>
          <a:lstStyle/>
          <a:p>
            <a:r>
              <a:rPr lang="ru-RU" dirty="0"/>
              <a:t>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a:t>
            </a:r>
          </a:p>
        </p:txBody>
      </p:sp>
      <p:pic>
        <p:nvPicPr>
          <p:cNvPr id="4" name="Рисунок 3">
            <a:extLst>
              <a:ext uri="{FF2B5EF4-FFF2-40B4-BE49-F238E27FC236}">
                <a16:creationId xmlns:a16="http://schemas.microsoft.com/office/drawing/2014/main" id="{B0A1760C-4D30-1E1E-470F-C42331E86C98}"/>
              </a:ext>
            </a:extLst>
          </p:cNvPr>
          <p:cNvPicPr>
            <a:picLocks noChangeAspect="1"/>
          </p:cNvPicPr>
          <p:nvPr/>
        </p:nvPicPr>
        <p:blipFill>
          <a:blip r:embed="rId2"/>
          <a:stretch>
            <a:fillRect/>
          </a:stretch>
        </p:blipFill>
        <p:spPr>
          <a:xfrm>
            <a:off x="838200" y="1248508"/>
            <a:ext cx="7091855" cy="4936252"/>
          </a:xfrm>
          <a:prstGeom prst="rect">
            <a:avLst/>
          </a:prstGeom>
        </p:spPr>
      </p:pic>
      <p:pic>
        <p:nvPicPr>
          <p:cNvPr id="6" name="Рисунок 5">
            <a:extLst>
              <a:ext uri="{FF2B5EF4-FFF2-40B4-BE49-F238E27FC236}">
                <a16:creationId xmlns:a16="http://schemas.microsoft.com/office/drawing/2014/main" id="{CD12DED5-2F20-B54F-D5F8-10FA8A3C8CB8}"/>
              </a:ext>
            </a:extLst>
          </p:cNvPr>
          <p:cNvPicPr>
            <a:picLocks noChangeAspect="1"/>
          </p:cNvPicPr>
          <p:nvPr/>
        </p:nvPicPr>
        <p:blipFill>
          <a:blip r:embed="rId3"/>
          <a:stretch>
            <a:fillRect/>
          </a:stretch>
        </p:blipFill>
        <p:spPr>
          <a:xfrm>
            <a:off x="8257743" y="3716634"/>
            <a:ext cx="3096057" cy="952633"/>
          </a:xfrm>
          <a:prstGeom prst="rect">
            <a:avLst/>
          </a:prstGeom>
        </p:spPr>
      </p:pic>
    </p:spTree>
    <p:extLst>
      <p:ext uri="{BB962C8B-B14F-4D97-AF65-F5344CB8AC3E}">
        <p14:creationId xmlns:p14="http://schemas.microsoft.com/office/powerpoint/2010/main" val="2516766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FD884-D9BD-0225-30CD-1FDC66CA2EB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AD3FBF-24EB-059E-8055-81F58BA5870F}"/>
              </a:ext>
            </a:extLst>
          </p:cNvPr>
          <p:cNvSpPr>
            <a:spLocks noGrp="1"/>
          </p:cNvSpPr>
          <p:nvPr>
            <p:ph type="title"/>
          </p:nvPr>
        </p:nvSpPr>
        <p:spPr/>
        <p:txBody>
          <a:bodyPr>
            <a:normAutofit/>
          </a:bodyPr>
          <a:lstStyle/>
          <a:p>
            <a:r>
              <a:rPr lang="ru-RU" dirty="0"/>
              <a:t>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a:t>
            </a:r>
          </a:p>
        </p:txBody>
      </p:sp>
      <p:pic>
        <p:nvPicPr>
          <p:cNvPr id="5" name="Рисунок 4">
            <a:extLst>
              <a:ext uri="{FF2B5EF4-FFF2-40B4-BE49-F238E27FC236}">
                <a16:creationId xmlns:a16="http://schemas.microsoft.com/office/drawing/2014/main" id="{3555E3AF-424D-A54B-5CC4-7EFA6A1E9299}"/>
              </a:ext>
            </a:extLst>
          </p:cNvPr>
          <p:cNvPicPr>
            <a:picLocks noChangeAspect="1"/>
          </p:cNvPicPr>
          <p:nvPr/>
        </p:nvPicPr>
        <p:blipFill>
          <a:blip r:embed="rId2"/>
          <a:stretch>
            <a:fillRect/>
          </a:stretch>
        </p:blipFill>
        <p:spPr>
          <a:xfrm>
            <a:off x="2352675" y="1248508"/>
            <a:ext cx="7486650" cy="5238750"/>
          </a:xfrm>
          <a:prstGeom prst="rect">
            <a:avLst/>
          </a:prstGeom>
        </p:spPr>
      </p:pic>
    </p:spTree>
    <p:extLst>
      <p:ext uri="{BB962C8B-B14F-4D97-AF65-F5344CB8AC3E}">
        <p14:creationId xmlns:p14="http://schemas.microsoft.com/office/powerpoint/2010/main" val="3455470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F46542-28F3-073A-C2E7-4494FA196A1B}"/>
              </a:ext>
            </a:extLst>
          </p:cNvPr>
          <p:cNvSpPr>
            <a:spLocks noGrp="1"/>
          </p:cNvSpPr>
          <p:nvPr>
            <p:ph type="title"/>
          </p:nvPr>
        </p:nvSpPr>
        <p:spPr/>
        <p:txBody>
          <a:bodyPr>
            <a:normAutofit fontScale="90000"/>
          </a:bodyPr>
          <a:lstStyle/>
          <a:p>
            <a:r>
              <a:rPr lang="ru-RU" dirty="0"/>
              <a:t>14. Вращение твёрдого тела вокруг оси. Дайте определение момента импульса твёрдого тела относительно оси. Как влияют на вращение твёрдого тела вокруг оси внутренние силы? Получите закон динамики вращательного движения твёрдого тела вокруг оси.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DFED92EC-BCA4-8C62-52F5-07D9B07FE2CE}"/>
                  </a:ext>
                </a:extLst>
              </p:cNvPr>
              <p:cNvSpPr>
                <a:spLocks noGrp="1"/>
              </p:cNvSpPr>
              <p:nvPr>
                <p:ph type="body" sz="quarter" idx="13"/>
              </p:nvPr>
            </p:nvSpPr>
            <p:spPr/>
            <p:txBody>
              <a:bodyPr/>
              <a:lstStyle/>
              <a:p>
                <a:r>
                  <a:rPr lang="ru-RU" dirty="0"/>
                  <a:t>Уравнения из билетов 12 и 13 справедливы для каждой точки тела при вращении. Внутренние силы (взаимодействия) образуют пары. </a:t>
                </a:r>
                <a:r>
                  <a:rPr lang="ru-RU" b="1" dirty="0"/>
                  <a:t>Моменты пар внутренних сил равны нулю</a:t>
                </a:r>
                <a:r>
                  <a:rPr lang="ru-RU" dirty="0"/>
                  <a:t>. Момент импульса твёрдого тела может изменятся под действием только внешних сил.</a:t>
                </a:r>
              </a:p>
              <a:p>
                <a:r>
                  <a:rPr lang="ru-RU" dirty="0"/>
                  <a:t>Для каждой точки справедливо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𝑧</m:t>
                            </m:r>
                          </m:sub>
                        </m:sSub>
                      </m:num>
                      <m:den>
                        <m:r>
                          <a:rPr lang="en-US" i="1">
                            <a:latin typeface="Cambria Math" panose="02040503050406030204" pitchFamily="18" charset="0"/>
                          </a:rPr>
                          <m:t>𝑑𝑡</m:t>
                        </m:r>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𝑧</m:t>
                        </m:r>
                      </m:sub>
                    </m:sSub>
                  </m:oMath>
                </a14:m>
                <a:r>
                  <a:rPr lang="en-US" dirty="0"/>
                  <a:t> </a:t>
                </a:r>
                <a:r>
                  <a:rPr lang="ru-RU" dirty="0"/>
                  <a:t>и </a:t>
                </a:r>
                <a14:m>
                  <m:oMath xmlns:m="http://schemas.openxmlformats.org/officeDocument/2006/math">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𝜌</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𝑧</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𝑧</m:t>
                        </m:r>
                      </m:sub>
                    </m:sSub>
                  </m:oMath>
                </a14:m>
                <a:r>
                  <a:rPr lang="en-US" dirty="0"/>
                  <a:t>.</a:t>
                </a:r>
              </a:p>
              <a:p>
                <a:r>
                  <a:rPr lang="ru-RU" dirty="0"/>
                  <a:t>Произведения </a:t>
                </a:r>
                <a14:m>
                  <m:oMath xmlns:m="http://schemas.openxmlformats.org/officeDocument/2006/math">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𝜌</m:t>
                        </m:r>
                      </m:e>
                      <m:sup>
                        <m:r>
                          <a:rPr lang="en-US" i="1">
                            <a:latin typeface="Cambria Math" panose="02040503050406030204" pitchFamily="18" charset="0"/>
                          </a:rPr>
                          <m:t>2</m:t>
                        </m:r>
                      </m:sup>
                    </m:sSup>
                  </m:oMath>
                </a14:m>
                <a:r>
                  <a:rPr lang="ru-RU" dirty="0"/>
                  <a:t> для всех точек различны, просуммируем эти значения для всех точек твёрдого тела – получим </a:t>
                </a:r>
                <a:r>
                  <a:rPr lang="ru-RU" b="1" dirty="0"/>
                  <a:t>момент инерции</a:t>
                </a:r>
                <a:r>
                  <a:rPr lang="ru-RU" dirty="0"/>
                  <a:t>.</a:t>
                </a:r>
              </a:p>
              <a:p>
                <a:r>
                  <a:rPr lang="ru-RU" b="1" dirty="0"/>
                  <a:t>Момент инерции твёрдого тела </a:t>
                </a:r>
                <a:r>
                  <a:rPr lang="ru-RU" dirty="0"/>
                  <a:t>равен сумме произведений элементарных масс на квадрат расстояния до оси вращения.</a:t>
                </a:r>
              </a:p>
              <a:p>
                <a:endParaRPr lang="ru-RU" dirty="0"/>
              </a:p>
              <a:p>
                <a:endParaRPr lang="ru-RU" dirty="0"/>
              </a:p>
              <a:p>
                <a:endParaRPr lang="ru-RU" dirty="0"/>
              </a:p>
              <a:p>
                <a:r>
                  <a:rPr lang="ru-RU" b="1" dirty="0"/>
                  <a:t>Теорема Штейнера</a:t>
                </a:r>
                <a:r>
                  <a:rPr lang="ru-RU" dirty="0"/>
                  <a:t>: </a:t>
                </a:r>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a14:m>
                <a:endParaRPr lang="ru-RU" dirty="0"/>
              </a:p>
            </p:txBody>
          </p:sp>
        </mc:Choice>
        <mc:Fallback xmlns="">
          <p:sp>
            <p:nvSpPr>
              <p:cNvPr id="3" name="Текст 2">
                <a:extLst>
                  <a:ext uri="{FF2B5EF4-FFF2-40B4-BE49-F238E27FC236}">
                    <a16:creationId xmlns:a16="http://schemas.microsoft.com/office/drawing/2014/main" id="{DFED92EC-BCA4-8C62-52F5-07D9B07FE2CE}"/>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522" t="-1235" r="-464"/>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099C6298-58F0-7190-D74A-E71CFB43B14E}"/>
              </a:ext>
            </a:extLst>
          </p:cNvPr>
          <p:cNvPicPr>
            <a:picLocks noChangeAspect="1"/>
          </p:cNvPicPr>
          <p:nvPr/>
        </p:nvPicPr>
        <p:blipFill>
          <a:blip r:embed="rId3"/>
          <a:stretch>
            <a:fillRect/>
          </a:stretch>
        </p:blipFill>
        <p:spPr>
          <a:xfrm>
            <a:off x="838200" y="4005097"/>
            <a:ext cx="3029373" cy="1086002"/>
          </a:xfrm>
          <a:prstGeom prst="rect">
            <a:avLst/>
          </a:prstGeom>
        </p:spPr>
      </p:pic>
      <p:pic>
        <p:nvPicPr>
          <p:cNvPr id="7" name="Рисунок 6">
            <a:extLst>
              <a:ext uri="{FF2B5EF4-FFF2-40B4-BE49-F238E27FC236}">
                <a16:creationId xmlns:a16="http://schemas.microsoft.com/office/drawing/2014/main" id="{6A06A788-8DC7-EADC-6756-2DCA6F0EADF3}"/>
              </a:ext>
            </a:extLst>
          </p:cNvPr>
          <p:cNvPicPr>
            <a:picLocks noChangeAspect="1"/>
          </p:cNvPicPr>
          <p:nvPr/>
        </p:nvPicPr>
        <p:blipFill>
          <a:blip r:embed="rId4"/>
          <a:srcRect t="8657"/>
          <a:stretch>
            <a:fillRect/>
          </a:stretch>
        </p:blipFill>
        <p:spPr>
          <a:xfrm>
            <a:off x="4286086" y="4005097"/>
            <a:ext cx="2748866" cy="1086002"/>
          </a:xfrm>
          <a:prstGeom prst="rect">
            <a:avLst/>
          </a:prstGeom>
        </p:spPr>
      </p:pic>
      <p:pic>
        <p:nvPicPr>
          <p:cNvPr id="9" name="Рисунок 8">
            <a:extLst>
              <a:ext uri="{FF2B5EF4-FFF2-40B4-BE49-F238E27FC236}">
                <a16:creationId xmlns:a16="http://schemas.microsoft.com/office/drawing/2014/main" id="{286F62AD-0316-C465-AB6D-86B2430841A7}"/>
              </a:ext>
            </a:extLst>
          </p:cNvPr>
          <p:cNvPicPr>
            <a:picLocks noChangeAspect="1"/>
          </p:cNvPicPr>
          <p:nvPr/>
        </p:nvPicPr>
        <p:blipFill>
          <a:blip r:embed="rId5"/>
          <a:srcRect l="865" t="4030" r="1"/>
          <a:stretch>
            <a:fillRect/>
          </a:stretch>
        </p:blipFill>
        <p:spPr>
          <a:xfrm>
            <a:off x="7453466" y="3747168"/>
            <a:ext cx="3900334" cy="1343931"/>
          </a:xfrm>
          <a:prstGeom prst="rect">
            <a:avLst/>
          </a:prstGeom>
        </p:spPr>
      </p:pic>
    </p:spTree>
    <p:extLst>
      <p:ext uri="{BB962C8B-B14F-4D97-AF65-F5344CB8AC3E}">
        <p14:creationId xmlns:p14="http://schemas.microsoft.com/office/powerpoint/2010/main" val="1720833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DA01D-1480-BCF7-7399-27B3889E6E5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43AFEF-E149-816D-5050-21AE9BF6BCAF}"/>
              </a:ext>
            </a:extLst>
          </p:cNvPr>
          <p:cNvSpPr>
            <a:spLocks noGrp="1"/>
          </p:cNvSpPr>
          <p:nvPr>
            <p:ph type="title"/>
          </p:nvPr>
        </p:nvSpPr>
        <p:spPr/>
        <p:txBody>
          <a:bodyPr>
            <a:normAutofit fontScale="90000"/>
          </a:bodyPr>
          <a:lstStyle/>
          <a:p>
            <a:r>
              <a:rPr lang="ru-RU" dirty="0"/>
              <a:t>14. Вращение твёрдого тела вокруг оси. Дайте определение момента импульса твёрдого тела относительно оси. Как влияют на вращение твёрдого тела вокруг оси внутренние силы? Получите закон динамики вращательного движения твёрдого тела вокруг оси. </a:t>
            </a:r>
          </a:p>
        </p:txBody>
      </p:sp>
      <p:sp>
        <p:nvSpPr>
          <p:cNvPr id="3" name="Текст 2">
            <a:extLst>
              <a:ext uri="{FF2B5EF4-FFF2-40B4-BE49-F238E27FC236}">
                <a16:creationId xmlns:a16="http://schemas.microsoft.com/office/drawing/2014/main" id="{A77975B0-001F-9E57-1D08-D8AAA8E0720F}"/>
              </a:ext>
            </a:extLst>
          </p:cNvPr>
          <p:cNvSpPr>
            <a:spLocks noGrp="1"/>
          </p:cNvSpPr>
          <p:nvPr>
            <p:ph type="body" sz="quarter" idx="13"/>
          </p:nvPr>
        </p:nvSpPr>
        <p:spPr/>
        <p:txBody>
          <a:bodyPr/>
          <a:lstStyle/>
          <a:p>
            <a:r>
              <a:rPr lang="ru-RU" b="1" dirty="0"/>
              <a:t>Закон динамики вращения твёрдого тела вокруг неподвижной оси</a:t>
            </a:r>
            <a:r>
              <a:rPr lang="ru-RU" dirty="0"/>
              <a:t>.</a:t>
            </a:r>
          </a:p>
        </p:txBody>
      </p:sp>
      <p:pic>
        <p:nvPicPr>
          <p:cNvPr id="6" name="Рисунок 5">
            <a:extLst>
              <a:ext uri="{FF2B5EF4-FFF2-40B4-BE49-F238E27FC236}">
                <a16:creationId xmlns:a16="http://schemas.microsoft.com/office/drawing/2014/main" id="{3E46F537-64F6-2321-344B-019FA8DD84D8}"/>
              </a:ext>
            </a:extLst>
          </p:cNvPr>
          <p:cNvPicPr>
            <a:picLocks noChangeAspect="1"/>
          </p:cNvPicPr>
          <p:nvPr/>
        </p:nvPicPr>
        <p:blipFill>
          <a:blip r:embed="rId2"/>
          <a:srcRect b="1199"/>
          <a:stretch>
            <a:fillRect/>
          </a:stretch>
        </p:blipFill>
        <p:spPr>
          <a:xfrm>
            <a:off x="2017309" y="1667316"/>
            <a:ext cx="8157381" cy="4522468"/>
          </a:xfrm>
          <a:prstGeom prst="rect">
            <a:avLst/>
          </a:prstGeom>
        </p:spPr>
      </p:pic>
    </p:spTree>
    <p:extLst>
      <p:ext uri="{BB962C8B-B14F-4D97-AF65-F5344CB8AC3E}">
        <p14:creationId xmlns:p14="http://schemas.microsoft.com/office/powerpoint/2010/main" val="3477987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BC5469-22AD-65FD-6121-03B1CF202DA0}"/>
              </a:ext>
            </a:extLst>
          </p:cNvPr>
          <p:cNvSpPr>
            <a:spLocks noGrp="1"/>
          </p:cNvSpPr>
          <p:nvPr>
            <p:ph type="title"/>
          </p:nvPr>
        </p:nvSpPr>
        <p:spPr/>
        <p:txBody>
          <a:bodyPr>
            <a:normAutofit/>
          </a:bodyPr>
          <a:lstStyle/>
          <a:p>
            <a:r>
              <a:rPr lang="ru-RU" dirty="0"/>
              <a:t>15. Объясните за счёт чего возникает прецессия гироскопа. Выведите формулы, отражающие зависимость угловой скорости прецессии от частоты вращения гироскопа.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1AC5131B-1B92-F039-58A2-8EC115DDB6D3}"/>
                  </a:ext>
                </a:extLst>
              </p:cNvPr>
              <p:cNvSpPr>
                <a:spLocks noGrp="1"/>
              </p:cNvSpPr>
              <p:nvPr>
                <p:ph type="body" sz="quarter" idx="13"/>
              </p:nvPr>
            </p:nvSpPr>
            <p:spPr>
              <a:xfrm>
                <a:off x="838200" y="1248508"/>
                <a:ext cx="10515600" cy="1132085"/>
              </a:xfrm>
            </p:spPr>
            <p:txBody>
              <a:bodyPr/>
              <a:lstStyle/>
              <a:p>
                <a:r>
                  <a:rPr lang="ru-RU" b="1" dirty="0"/>
                  <a:t>Гироскопом</a:t>
                </a:r>
                <a:r>
                  <a:rPr lang="ru-RU" dirty="0"/>
                  <a:t> называют массивное симметричное тело, вращающееся с большой угловой скоростью </a:t>
                </a:r>
                <a14:m>
                  <m:oMath xmlns:m="http://schemas.openxmlformats.org/officeDocument/2006/math">
                    <m:sSub>
                      <m:sSubPr>
                        <m:ctrlPr>
                          <a:rPr lang="ru-RU" b="0" i="1" smtClean="0">
                            <a:latin typeface="Cambria Math" panose="02040503050406030204" pitchFamily="18" charset="0"/>
                          </a:rPr>
                        </m:ctrlPr>
                      </m:sSubPr>
                      <m:e>
                        <m:acc>
                          <m:accPr>
                            <m:chr m:val="⃗"/>
                            <m:ctrlPr>
                              <a:rPr lang="ru-RU" b="0" i="1" smtClean="0">
                                <a:latin typeface="Cambria Math" panose="02040503050406030204" pitchFamily="18" charset="0"/>
                              </a:rPr>
                            </m:ctrlPr>
                          </m:accPr>
                          <m:e>
                            <m:r>
                              <a:rPr lang="ru-RU" b="0" i="1" smtClean="0">
                                <a:latin typeface="Cambria Math" panose="02040503050406030204" pitchFamily="18" charset="0"/>
                              </a:rPr>
                              <m:t>𝜔</m:t>
                            </m:r>
                          </m:e>
                        </m:acc>
                      </m:e>
                      <m:sub>
                        <m:r>
                          <a:rPr lang="en-US" b="0" i="1" smtClean="0">
                            <a:latin typeface="Cambria Math" panose="02040503050406030204" pitchFamily="18" charset="0"/>
                          </a:rPr>
                          <m:t>0</m:t>
                        </m:r>
                      </m:sub>
                    </m:sSub>
                  </m:oMath>
                </a14:m>
                <a:r>
                  <a:rPr lang="en-US" dirty="0"/>
                  <a:t> </a:t>
                </a:r>
                <a:r>
                  <a:rPr lang="ru-RU" dirty="0"/>
                  <a:t>вокруг своей оси симметрии, называемой осью фигуры гироскопа. Обычно одна из точек оси фигуры закреплена (точка </a:t>
                </a:r>
                <a14:m>
                  <m:oMath xmlns:m="http://schemas.openxmlformats.org/officeDocument/2006/math">
                    <m:r>
                      <a:rPr lang="en-US" i="1" dirty="0" smtClean="0">
                        <a:latin typeface="Cambria Math" panose="02040503050406030204" pitchFamily="18" charset="0"/>
                      </a:rPr>
                      <m:t>𝑂</m:t>
                    </m:r>
                  </m:oMath>
                </a14:m>
                <a:r>
                  <a:rPr lang="ru-RU" dirty="0"/>
                  <a:t>).</a:t>
                </a:r>
                <a:endParaRPr lang="en-US" dirty="0"/>
              </a:p>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0</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𝜔</m:t>
                              </m:r>
                            </m:e>
                          </m:acc>
                        </m:e>
                        <m:sub>
                          <m:r>
                            <a:rPr lang="en-US" b="0" i="1" smtClean="0">
                              <a:latin typeface="Cambria Math" panose="02040503050406030204" pitchFamily="18" charset="0"/>
                            </a:rPr>
                            <m:t>0</m:t>
                          </m:r>
                        </m:sub>
                      </m:sSub>
                    </m:oMath>
                  </m:oMathPara>
                </a14:m>
                <a:endParaRPr lang="en-US" dirty="0"/>
              </a:p>
              <a:p>
                <a:endParaRPr lang="ru-RU" dirty="0"/>
              </a:p>
            </p:txBody>
          </p:sp>
        </mc:Choice>
        <mc:Fallback xmlns="">
          <p:sp>
            <p:nvSpPr>
              <p:cNvPr id="3" name="Текст 2">
                <a:extLst>
                  <a:ext uri="{FF2B5EF4-FFF2-40B4-BE49-F238E27FC236}">
                    <a16:creationId xmlns:a16="http://schemas.microsoft.com/office/drawing/2014/main" id="{1AC5131B-1B92-F039-58A2-8EC115DDB6D3}"/>
                  </a:ext>
                </a:extLst>
              </p:cNvPr>
              <p:cNvSpPr>
                <a:spLocks noGrp="1" noRot="1" noChangeAspect="1" noMove="1" noResize="1" noEditPoints="1" noAdjustHandles="1" noChangeArrowheads="1" noChangeShapeType="1" noTextEdit="1"/>
              </p:cNvSpPr>
              <p:nvPr>
                <p:ph type="body" sz="quarter" idx="13"/>
              </p:nvPr>
            </p:nvSpPr>
            <p:spPr>
              <a:xfrm>
                <a:off x="838200" y="1248508"/>
                <a:ext cx="10515600" cy="1132085"/>
              </a:xfrm>
              <a:blipFill>
                <a:blip r:embed="rId2"/>
                <a:stretch>
                  <a:fillRect l="-522" t="-5376" r="-464"/>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53BDF775-51CB-099F-6DFE-E5131A7F812B}"/>
              </a:ext>
            </a:extLst>
          </p:cNvPr>
          <p:cNvPicPr>
            <a:picLocks noChangeAspect="1"/>
          </p:cNvPicPr>
          <p:nvPr/>
        </p:nvPicPr>
        <p:blipFill>
          <a:blip r:embed="rId3"/>
          <a:stretch>
            <a:fillRect/>
          </a:stretch>
        </p:blipFill>
        <p:spPr>
          <a:xfrm>
            <a:off x="838200" y="2380593"/>
            <a:ext cx="2563646" cy="3809191"/>
          </a:xfrm>
          <a:prstGeom prst="rect">
            <a:avLst/>
          </a:prstGeom>
        </p:spPr>
      </p:pic>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04FC3FFA-52E6-84E1-5F54-A35D23178B32}"/>
                  </a:ext>
                </a:extLst>
              </p:cNvPr>
              <p:cNvSpPr txBox="1">
                <a:spLocks/>
              </p:cNvSpPr>
              <p:nvPr/>
            </p:nvSpPr>
            <p:spPr>
              <a:xfrm>
                <a:off x="3401846" y="2380593"/>
                <a:ext cx="7951953" cy="3809191"/>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𝐿</m:t>
                            </m:r>
                          </m:e>
                        </m:acc>
                      </m:e>
                      <m:sub>
                        <m:r>
                          <a:rPr lang="en-US" i="1">
                            <a:latin typeface="Cambria Math" panose="02040503050406030204" pitchFamily="18" charset="0"/>
                          </a:rPr>
                          <m:t>0</m:t>
                        </m:r>
                      </m:sub>
                    </m:sSub>
                  </m:oMath>
                </a14:m>
                <a:r>
                  <a:rPr lang="en-US" dirty="0"/>
                  <a:t> –</a:t>
                </a:r>
                <a:r>
                  <a:rPr lang="ru-RU" dirty="0"/>
                  <a:t> момент импульса вращения вокруг оси симметрии,</a:t>
                </a:r>
              </a:p>
              <a:p>
                <a14:m>
                  <m:oMath xmlns:m="http://schemas.openxmlformats.org/officeDocument/2006/math">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𝐿</m:t>
                            </m:r>
                          </m:e>
                        </m:acc>
                      </m:e>
                      <m:sup>
                        <m:r>
                          <a:rPr lang="en-US" i="1">
                            <a:latin typeface="Cambria Math" panose="02040503050406030204" pitchFamily="18" charset="0"/>
                          </a:rPr>
                          <m:t>′</m:t>
                        </m:r>
                      </m:sup>
                    </m:sSup>
                  </m:oMath>
                </a14:m>
                <a:r>
                  <a:rPr lang="en-US" dirty="0"/>
                  <a:t> –</a:t>
                </a:r>
                <a:r>
                  <a:rPr lang="ru-RU" dirty="0"/>
                  <a:t> момент импульса вращения вокруг оси </a:t>
                </a:r>
                <a14:m>
                  <m:oMath xmlns:m="http://schemas.openxmlformats.org/officeDocument/2006/math">
                    <m:r>
                      <a:rPr lang="en-US" i="1">
                        <a:latin typeface="Cambria Math" panose="02040503050406030204" pitchFamily="18" charset="0"/>
                      </a:rPr>
                      <m:t>𝑂𝑍</m:t>
                    </m:r>
                  </m:oMath>
                </a14:m>
                <a:r>
                  <a:rPr lang="ru-RU" dirty="0"/>
                  <a:t>.</a:t>
                </a:r>
                <a:endParaRPr lang="en-US" dirty="0"/>
              </a:p>
              <a:p>
                <a:endParaRPr lang="en-US" dirty="0"/>
              </a:p>
              <a:p>
                <a:r>
                  <a:rPr lang="ru-RU" dirty="0"/>
                  <a:t>Сила тяжести создаёт вращающий момент относительно точки </a:t>
                </a:r>
                <a14:m>
                  <m:oMath xmlns:m="http://schemas.openxmlformats.org/officeDocument/2006/math">
                    <m:r>
                      <a:rPr lang="en-US" i="1">
                        <a:latin typeface="Cambria Math" panose="02040503050406030204" pitchFamily="18" charset="0"/>
                      </a:rPr>
                      <m:t>𝑂</m:t>
                    </m:r>
                  </m:oMath>
                </a14:m>
                <a:r>
                  <a:rPr lang="ru-RU" dirty="0"/>
                  <a:t>. Из-за этого ось гироскопа описывает конус – совершает </a:t>
                </a:r>
                <a:r>
                  <a:rPr lang="ru-RU" b="1" dirty="0"/>
                  <a:t>прецессию</a:t>
                </a:r>
                <a:r>
                  <a:rPr lang="ru-RU" dirty="0"/>
                  <a:t>. </a:t>
                </a:r>
                <a14:m>
                  <m:oMath xmlns:m="http://schemas.openxmlformats.org/officeDocument/2006/math">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𝐿</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𝑀</m:t>
                        </m:r>
                      </m:e>
                    </m:acc>
                    <m:r>
                      <a:rPr lang="en-US" i="1">
                        <a:latin typeface="Cambria Math" panose="02040503050406030204" pitchFamily="18" charset="0"/>
                      </a:rPr>
                      <m:t>𝑑𝑡</m:t>
                    </m:r>
                    <m:r>
                      <a:rPr lang="en-US" i="1">
                        <a:latin typeface="Cambria Math" panose="02040503050406030204" pitchFamily="18" charset="0"/>
                      </a:rPr>
                      <m:t>,  </m:t>
                    </m:r>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𝐿</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𝐿</m:t>
                        </m:r>
                      </m:e>
                    </m:acc>
                  </m:oMath>
                </a14:m>
                <a:r>
                  <a:rPr lang="en-US" dirty="0"/>
                  <a:t>.</a:t>
                </a:r>
                <a:endParaRPr lang="ru-RU" dirty="0">
                  <a:effectLst/>
                </a:endParaRPr>
              </a:p>
            </p:txBody>
          </p:sp>
        </mc:Choice>
        <mc:Fallback xmlns="">
          <p:sp>
            <p:nvSpPr>
              <p:cNvPr id="6" name="Текст 2">
                <a:extLst>
                  <a:ext uri="{FF2B5EF4-FFF2-40B4-BE49-F238E27FC236}">
                    <a16:creationId xmlns:a16="http://schemas.microsoft.com/office/drawing/2014/main" id="{04FC3FFA-52E6-84E1-5F54-A35D23178B32}"/>
                  </a:ext>
                </a:extLst>
              </p:cNvPr>
              <p:cNvSpPr txBox="1">
                <a:spLocks noRot="1" noChangeAspect="1" noMove="1" noResize="1" noEditPoints="1" noAdjustHandles="1" noChangeArrowheads="1" noChangeShapeType="1" noTextEdit="1"/>
              </p:cNvSpPr>
              <p:nvPr/>
            </p:nvSpPr>
            <p:spPr>
              <a:xfrm>
                <a:off x="3401846" y="2380593"/>
                <a:ext cx="7951953" cy="3809191"/>
              </a:xfrm>
              <a:prstGeom prst="rect">
                <a:avLst/>
              </a:prstGeom>
              <a:blipFill>
                <a:blip r:embed="rId4"/>
                <a:stretch>
                  <a:fillRect l="-613" t="-801" r="-690"/>
                </a:stretch>
              </a:blipFill>
            </p:spPr>
            <p:txBody>
              <a:bodyPr/>
              <a:lstStyle/>
              <a:p>
                <a:r>
                  <a:rPr lang="ru-RU">
                    <a:noFill/>
                  </a:rPr>
                  <a:t> </a:t>
                </a:r>
              </a:p>
            </p:txBody>
          </p:sp>
        </mc:Fallback>
      </mc:AlternateContent>
    </p:spTree>
    <p:extLst>
      <p:ext uri="{BB962C8B-B14F-4D97-AF65-F5344CB8AC3E}">
        <p14:creationId xmlns:p14="http://schemas.microsoft.com/office/powerpoint/2010/main" val="45476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93F47-CBC3-8685-C2B8-D7C12EC521A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24B5F9-C1DB-9173-ED20-8F88967BAC7B}"/>
              </a:ext>
            </a:extLst>
          </p:cNvPr>
          <p:cNvSpPr>
            <a:spLocks noGrp="1"/>
          </p:cNvSpPr>
          <p:nvPr>
            <p:ph type="title"/>
          </p:nvPr>
        </p:nvSpPr>
        <p:spPr/>
        <p:txBody>
          <a:bodyPr>
            <a:normAutofit/>
          </a:bodyPr>
          <a:lstStyle/>
          <a:p>
            <a:r>
              <a:rPr lang="ru-RU" dirty="0"/>
              <a:t>15. Объясните за счёт чего возникает прецессия гироскопа. Выведите формулы, отражающие зависимость угловой скорости прецессии от частоты вращения гироскопа.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D3AC8150-0278-7B3F-6962-DED5EB0F1BDC}"/>
                  </a:ext>
                </a:extLst>
              </p:cNvPr>
              <p:cNvSpPr>
                <a:spLocks noGrp="1"/>
              </p:cNvSpPr>
              <p:nvPr>
                <p:ph type="body" sz="quarter" idx="13"/>
              </p:nvPr>
            </p:nvSpPr>
            <p:spPr>
              <a:xfrm>
                <a:off x="3057523" y="1248508"/>
                <a:ext cx="5126357" cy="2778092"/>
              </a:xfrm>
            </p:spPr>
            <p:txBody>
              <a:bodyPr>
                <a:normAutofit/>
              </a:bodyPr>
              <a:lstStyle/>
              <a:p>
                <a:r>
                  <a:rPr lang="ru-RU" b="1" dirty="0"/>
                  <a:t>Угловая скорость прецессии.</a:t>
                </a:r>
                <a:endParaRPr lang="en-US" b="1" dirty="0"/>
              </a:p>
              <a:p>
                <a:r>
                  <a:rPr lang="ru-RU" dirty="0"/>
                  <a:t>Из закона динамики вращения: </a:t>
                </a:r>
                <a14:m>
                  <m:oMath xmlns:m="http://schemas.openxmlformats.org/officeDocument/2006/math">
                    <m:r>
                      <a:rPr lang="en-US" b="0" i="1" smtClean="0">
                        <a:solidFill>
                          <a:srgbClr val="FF0000"/>
                        </a:solidFill>
                        <a:latin typeface="Cambria Math" panose="02040503050406030204" pitchFamily="18" charset="0"/>
                      </a:rPr>
                      <m:t>𝑑</m:t>
                    </m:r>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𝐿</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𝑀</m:t>
                        </m:r>
                      </m:e>
                    </m:acc>
                    <m:r>
                      <a:rPr lang="en-US" b="0" i="1" dirty="0" smtClean="0">
                        <a:latin typeface="Cambria Math" panose="02040503050406030204" pitchFamily="18" charset="0"/>
                      </a:rPr>
                      <m:t>𝑑𝑡</m:t>
                    </m:r>
                  </m:oMath>
                </a14:m>
                <a:r>
                  <a:rPr lang="ru-RU" dirty="0"/>
                  <a:t>.</a:t>
                </a:r>
              </a:p>
              <a:p>
                <a:r>
                  <a:rPr lang="ru-RU" dirty="0"/>
                  <a:t>Из рисунка: </a:t>
                </a:r>
                <a14:m>
                  <m:oMath xmlns:m="http://schemas.openxmlformats.org/officeDocument/2006/math">
                    <m:r>
                      <a:rPr lang="en-US" b="0" i="1" smtClean="0">
                        <a:latin typeface="Cambria Math" panose="02040503050406030204" pitchFamily="18" charset="0"/>
                      </a:rPr>
                      <m:t>𝑑𝐿</m:t>
                    </m:r>
                    <m:r>
                      <a:rPr lang="en-US" b="0" i="1" smtClean="0">
                        <a:latin typeface="Cambria Math" panose="02040503050406030204" pitchFamily="18" charset="0"/>
                      </a:rPr>
                      <m:t>=</m:t>
                    </m:r>
                    <m:r>
                      <a:rPr lang="en-US" i="1">
                        <a:latin typeface="Cambria Math" panose="02040503050406030204" pitchFamily="18" charset="0"/>
                      </a:rPr>
                      <m:t>𝐿𝑠𝑖𝑛</m:t>
                    </m:r>
                    <m:r>
                      <a:rPr lang="en-US" i="1">
                        <a:latin typeface="Cambria Math" panose="02040503050406030204" pitchFamily="18" charset="0"/>
                      </a:rPr>
                      <m:t>𝜃</m:t>
                    </m:r>
                    <m:r>
                      <a:rPr lang="en-US" i="1">
                        <a:latin typeface="Cambria Math" panose="02040503050406030204" pitchFamily="18" charset="0"/>
                      </a:rPr>
                      <m:t>⋅</m:t>
                    </m:r>
                    <m:r>
                      <a:rPr lang="en-US" b="0" i="1" smtClean="0">
                        <a:solidFill>
                          <a:schemeClr val="accent6"/>
                        </a:solidFill>
                        <a:latin typeface="Cambria Math" panose="02040503050406030204" pitchFamily="18" charset="0"/>
                      </a:rPr>
                      <m:t>𝑑</m:t>
                    </m:r>
                    <m:r>
                      <a:rPr lang="en-US" b="0" i="1" smtClean="0">
                        <a:solidFill>
                          <a:schemeClr val="accent6"/>
                        </a:solidFill>
                        <a:latin typeface="Cambria Math" panose="02040503050406030204" pitchFamily="18" charset="0"/>
                      </a:rPr>
                      <m:t>𝜑</m:t>
                    </m:r>
                    <m:r>
                      <a:rPr lang="en-US" b="0" i="1" smtClean="0">
                        <a:latin typeface="Cambria Math" panose="02040503050406030204" pitchFamily="18" charset="0"/>
                      </a:rPr>
                      <m:t>=</m:t>
                    </m:r>
                    <m:r>
                      <a:rPr lang="en-US" b="0" i="1" smtClean="0">
                        <a:latin typeface="Cambria Math" panose="02040503050406030204" pitchFamily="18" charset="0"/>
                      </a:rPr>
                      <m:t>𝐿𝑠𝑖𝑛</m:t>
                    </m:r>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solidFill>
                              <a:schemeClr val="accent6"/>
                            </a:solidFill>
                            <a:latin typeface="Cambria Math" panose="02040503050406030204" pitchFamily="18" charset="0"/>
                          </a:rPr>
                        </m:ctrlPr>
                      </m:sSupPr>
                      <m:e>
                        <m:r>
                          <a:rPr lang="en-US" b="0" i="1" smtClean="0">
                            <a:solidFill>
                              <a:schemeClr val="accent6"/>
                            </a:solidFill>
                            <a:latin typeface="Cambria Math" panose="02040503050406030204" pitchFamily="18" charset="0"/>
                          </a:rPr>
                          <m:t>𝜔</m:t>
                        </m:r>
                      </m:e>
                      <m:sup>
                        <m:r>
                          <a:rPr lang="en-US" b="0" i="1" smtClean="0">
                            <a:solidFill>
                              <a:schemeClr val="accent6"/>
                            </a:solidFill>
                            <a:latin typeface="Cambria Math" panose="02040503050406030204" pitchFamily="18" charset="0"/>
                          </a:rPr>
                          <m:t>′</m:t>
                        </m:r>
                      </m:sup>
                    </m:sSup>
                    <m:r>
                      <a:rPr lang="en-US" b="0" i="1" smtClean="0">
                        <a:solidFill>
                          <a:schemeClr val="accent6"/>
                        </a:solidFill>
                        <a:latin typeface="Cambria Math" panose="02040503050406030204" pitchFamily="18" charset="0"/>
                      </a:rPr>
                      <m:t>𝑑𝑡</m:t>
                    </m:r>
                  </m:oMath>
                </a14:m>
                <a:r>
                  <a:rPr lang="en-US" dirty="0"/>
                  <a:t>, </a:t>
                </a:r>
                <a:endParaRPr lang="ru-RU" dirty="0"/>
              </a:p>
              <a:p>
                <a:r>
                  <a:rPr lang="ru-RU" dirty="0"/>
                  <a:t>откуда в векторной форме </a:t>
                </a:r>
                <a14:m>
                  <m:oMath xmlns:m="http://schemas.openxmlformats.org/officeDocument/2006/math">
                    <m:r>
                      <a:rPr lang="en-US" b="0" i="1" smtClean="0">
                        <a:solidFill>
                          <a:srgbClr val="FF0000"/>
                        </a:solidFill>
                        <a:latin typeface="Cambria Math" panose="02040503050406030204" pitchFamily="18" charset="0"/>
                      </a:rPr>
                      <m:t>𝑑</m:t>
                    </m:r>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𝐿</m:t>
                        </m:r>
                      </m:e>
                    </m:acc>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sSup>
                          <m:sSupPr>
                            <m:ctrlPr>
                              <a:rPr lang="en-US" b="0" i="1" dirty="0" smtClean="0">
                                <a:latin typeface="Cambria Math" panose="02040503050406030204" pitchFamily="18" charset="0"/>
                              </a:rPr>
                            </m:ctrlPr>
                          </m:sSup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𝜔</m:t>
                                </m:r>
                              </m:e>
                            </m:acc>
                          </m:e>
                          <m:sup>
                            <m:r>
                              <a:rPr lang="en-US" b="0" i="1" dirty="0" smtClean="0">
                                <a:latin typeface="Cambria Math" panose="02040503050406030204" pitchFamily="18" charset="0"/>
                              </a:rPr>
                              <m:t>′</m:t>
                            </m:r>
                          </m:sup>
                        </m:sSup>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𝐿</m:t>
                            </m:r>
                          </m:e>
                        </m:acc>
                      </m:e>
                    </m:d>
                    <m:r>
                      <a:rPr lang="en-US" b="0" i="1" dirty="0" smtClean="0">
                        <a:latin typeface="Cambria Math" panose="02040503050406030204" pitchFamily="18" charset="0"/>
                      </a:rPr>
                      <m:t>𝑑𝑡</m:t>
                    </m:r>
                  </m:oMath>
                </a14:m>
                <a:endParaRPr lang="ru-RU" dirty="0"/>
              </a:p>
              <a:p>
                <a:r>
                  <a:rPr lang="ru-RU" dirty="0"/>
                  <a:t>Из равенств </a:t>
                </a:r>
                <a14:m>
                  <m:oMath xmlns:m="http://schemas.openxmlformats.org/officeDocument/2006/math">
                    <m:r>
                      <a:rPr lang="en-US" i="1">
                        <a:solidFill>
                          <a:srgbClr val="FF0000"/>
                        </a:solidFill>
                        <a:latin typeface="Cambria Math" panose="02040503050406030204" pitchFamily="18" charset="0"/>
                      </a:rPr>
                      <m:t>𝑑</m:t>
                    </m:r>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𝐿</m:t>
                        </m:r>
                      </m:e>
                    </m:acc>
                  </m:oMath>
                </a14:m>
                <a:r>
                  <a:rPr lang="ru-RU" dirty="0"/>
                  <a:t> получаем </a:t>
                </a:r>
                <a14:m>
                  <m:oMath xmlns:m="http://schemas.openxmlformats.org/officeDocument/2006/math">
                    <m:d>
                      <m:dPr>
                        <m:begChr m:val="["/>
                        <m:endChr m:val="]"/>
                        <m:ctrlPr>
                          <a:rPr lang="en-US" i="1" dirty="0">
                            <a:latin typeface="Cambria Math" panose="02040503050406030204" pitchFamily="18" charset="0"/>
                          </a:rPr>
                        </m:ctrlPr>
                      </m:dPr>
                      <m:e>
                        <m:sSup>
                          <m:sSupPr>
                            <m:ctrlPr>
                              <a:rPr lang="en-US" i="1" dirty="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𝜔</m:t>
                                </m:r>
                              </m:e>
                            </m:acc>
                          </m:e>
                          <m:sup>
                            <m:r>
                              <a:rPr lang="en-US" i="1" dirty="0">
                                <a:latin typeface="Cambria Math" panose="02040503050406030204" pitchFamily="18" charset="0"/>
                              </a:rPr>
                              <m:t>′</m:t>
                            </m:r>
                          </m:sup>
                        </m:sSup>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𝐿</m:t>
                            </m:r>
                          </m:e>
                        </m:acc>
                      </m:e>
                    </m:d>
                    <m:r>
                      <a:rPr lang="ru-RU"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𝑀</m:t>
                        </m:r>
                      </m:e>
                    </m:acc>
                  </m:oMath>
                </a14:m>
                <a:r>
                  <a:rPr lang="en-US" dirty="0"/>
                  <a:t>. </a:t>
                </a:r>
                <a:endParaRPr lang="ru-RU" dirty="0"/>
              </a:p>
              <a:p>
                <a:r>
                  <a:rPr lang="ru-RU" dirty="0"/>
                  <a:t>Момент силы определяет угловую скорость прецессии.</a:t>
                </a:r>
              </a:p>
              <a:p>
                <a:endParaRPr lang="ru-RU" dirty="0"/>
              </a:p>
              <a:p>
                <a:endParaRPr lang="ru-RU" dirty="0"/>
              </a:p>
            </p:txBody>
          </p:sp>
        </mc:Choice>
        <mc:Fallback xmlns="">
          <p:sp>
            <p:nvSpPr>
              <p:cNvPr id="3" name="Текст 2">
                <a:extLst>
                  <a:ext uri="{FF2B5EF4-FFF2-40B4-BE49-F238E27FC236}">
                    <a16:creationId xmlns:a16="http://schemas.microsoft.com/office/drawing/2014/main" id="{D3AC8150-0278-7B3F-6962-DED5EB0F1BDC}"/>
                  </a:ext>
                </a:extLst>
              </p:cNvPr>
              <p:cNvSpPr>
                <a:spLocks noGrp="1" noRot="1" noChangeAspect="1" noMove="1" noResize="1" noEditPoints="1" noAdjustHandles="1" noChangeArrowheads="1" noChangeShapeType="1" noTextEdit="1"/>
              </p:cNvSpPr>
              <p:nvPr>
                <p:ph type="body" sz="quarter" idx="13"/>
              </p:nvPr>
            </p:nvSpPr>
            <p:spPr>
              <a:xfrm>
                <a:off x="3057523" y="1248508"/>
                <a:ext cx="5126357" cy="2778092"/>
              </a:xfrm>
              <a:blipFill>
                <a:blip r:embed="rId2"/>
                <a:stretch>
                  <a:fillRect l="-1070" t="-2193" r="-95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D3ADD420-B1B4-85A8-BF26-36F9FFDB8470}"/>
                  </a:ext>
                </a:extLst>
              </p:cNvPr>
              <p:cNvSpPr txBox="1">
                <a:spLocks/>
              </p:cNvSpPr>
              <p:nvPr/>
            </p:nvSpPr>
            <p:spPr>
              <a:xfrm>
                <a:off x="838198" y="4026600"/>
                <a:ext cx="10515600" cy="2054160"/>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effectLst/>
                  </a:rPr>
                  <a:t>Раскрывая векторные произведения:</a:t>
                </a:r>
                <a:r>
                  <a:rPr lang="en-US" dirty="0">
                    <a:effectLst/>
                  </a:rPr>
                  <a:t> </a:t>
                </a:r>
                <a14:m>
                  <m:oMath xmlns:m="http://schemas.openxmlformats.org/officeDocument/2006/math">
                    <m:d>
                      <m:dPr>
                        <m:begChr m:val="["/>
                        <m:endChr m:val="]"/>
                        <m:ctrlPr>
                          <a:rPr lang="en-US" i="1" dirty="0">
                            <a:latin typeface="Cambria Math" panose="02040503050406030204" pitchFamily="18" charset="0"/>
                          </a:rPr>
                        </m:ctrlPr>
                      </m:dPr>
                      <m:e>
                        <m:sSup>
                          <m:sSupPr>
                            <m:ctrlPr>
                              <a:rPr lang="en-US" i="1" dirty="0">
                                <a:latin typeface="Cambria Math" panose="02040503050406030204" pitchFamily="18" charset="0"/>
                              </a:rPr>
                            </m:ctrlPr>
                          </m:sSupPr>
                          <m:e>
                            <m:acc>
                              <m:accPr>
                                <m:chr m:val="⃗"/>
                                <m:ctrlPr>
                                  <a:rPr lang="en-US" i="1" dirty="0">
                                    <a:latin typeface="Cambria Math" panose="02040503050406030204" pitchFamily="18" charset="0"/>
                                  </a:rPr>
                                </m:ctrlPr>
                              </m:accPr>
                              <m:e>
                                <m:r>
                                  <a:rPr lang="en-US" i="1" dirty="0">
                                    <a:latin typeface="Cambria Math" panose="02040503050406030204" pitchFamily="18" charset="0"/>
                                  </a:rPr>
                                  <m:t>𝜔</m:t>
                                </m:r>
                              </m:e>
                            </m:acc>
                          </m:e>
                          <m:sup>
                            <m:r>
                              <a:rPr lang="en-US" i="1" dirty="0">
                                <a:latin typeface="Cambria Math" panose="02040503050406030204" pitchFamily="18" charset="0"/>
                              </a:rPr>
                              <m:t>′</m:t>
                            </m:r>
                          </m:sup>
                        </m:sSup>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𝐿</m:t>
                            </m:r>
                          </m:e>
                        </m:acc>
                      </m:e>
                    </m:d>
                    <m:r>
                      <a:rPr lang="ru-RU" i="1" dirty="0">
                        <a:latin typeface="Cambria Math" panose="02040503050406030204" pitchFamily="18" charset="0"/>
                      </a:rPr>
                      <m:t>=</m:t>
                    </m:r>
                    <m:d>
                      <m:dPr>
                        <m:begChr m:val="["/>
                        <m:endChr m:val="]"/>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panose="02040503050406030204" pitchFamily="18" charset="0"/>
                              </a:rPr>
                              <m:t>𝑟</m:t>
                            </m:r>
                          </m:e>
                        </m:acc>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b="0" i="1" dirty="0" smtClean="0">
                                <a:latin typeface="Cambria Math" panose="02040503050406030204" pitchFamily="18" charset="0"/>
                              </a:rPr>
                              <m:t>𝐹</m:t>
                            </m:r>
                          </m:e>
                        </m:acc>
                      </m:e>
                    </m:d>
                  </m:oMath>
                </a14:m>
                <a:endParaRPr lang="ru-RU" dirty="0">
                  <a:effectLst/>
                </a:endParaRPr>
              </a:p>
              <a:p>
                <a:pPr/>
                <a14:m>
                  <m:oMathPara xmlns:m="http://schemas.openxmlformats.org/officeDocument/2006/math">
                    <m:oMathParaPr>
                      <m:jc m:val="centerGroup"/>
                    </m:oMathParaPr>
                    <m:oMath xmlns:m="http://schemas.openxmlformats.org/officeDocument/2006/math">
                      <m:sSup>
                        <m:sSupPr>
                          <m:ctrlPr>
                            <a:rPr lang="ru-RU" sz="2000" b="0" i="1" smtClean="0">
                              <a:effectLst/>
                              <a:latin typeface="Cambria Math" panose="02040503050406030204" pitchFamily="18" charset="0"/>
                            </a:rPr>
                          </m:ctrlPr>
                        </m:sSupPr>
                        <m:e>
                          <m:r>
                            <a:rPr lang="ru-RU" sz="2000" b="0" i="1" smtClean="0">
                              <a:effectLst/>
                              <a:latin typeface="Cambria Math" panose="02040503050406030204" pitchFamily="18" charset="0"/>
                            </a:rPr>
                            <m:t>𝜔</m:t>
                          </m:r>
                        </m:e>
                        <m:sup>
                          <m:r>
                            <a:rPr lang="ru-RU" sz="2000" b="0" i="1" smtClean="0">
                              <a:effectLst/>
                              <a:latin typeface="Cambria Math" panose="02040503050406030204" pitchFamily="18" charset="0"/>
                            </a:rPr>
                            <m:t>′</m:t>
                          </m:r>
                        </m:sup>
                      </m:sSup>
                      <m:r>
                        <a:rPr lang="en-US" sz="2000" b="0" i="1" smtClean="0">
                          <a:effectLst/>
                          <a:latin typeface="Cambria Math" panose="02040503050406030204" pitchFamily="18" charset="0"/>
                        </a:rPr>
                        <m:t>𝐼</m:t>
                      </m:r>
                      <m:sSub>
                        <m:sSubPr>
                          <m:ctrlPr>
                            <a:rPr lang="en-US" sz="2000" b="0" i="1" smtClean="0">
                              <a:effectLst/>
                              <a:latin typeface="Cambria Math" panose="02040503050406030204" pitchFamily="18" charset="0"/>
                            </a:rPr>
                          </m:ctrlPr>
                        </m:sSubPr>
                        <m:e>
                          <m:r>
                            <a:rPr lang="en-US" sz="2000" b="0" i="1" smtClean="0">
                              <a:effectLst/>
                              <a:latin typeface="Cambria Math" panose="02040503050406030204" pitchFamily="18" charset="0"/>
                            </a:rPr>
                            <m:t>𝜔</m:t>
                          </m:r>
                        </m:e>
                        <m:sub>
                          <m:r>
                            <a:rPr lang="en-US" sz="2000" b="0" i="1" smtClean="0">
                              <a:effectLst/>
                              <a:latin typeface="Cambria Math" panose="02040503050406030204" pitchFamily="18" charset="0"/>
                            </a:rPr>
                            <m:t>0</m:t>
                          </m:r>
                        </m:sub>
                      </m:sSub>
                      <m:func>
                        <m:funcPr>
                          <m:ctrlPr>
                            <a:rPr lang="en-US" sz="2000" b="0" i="1" smtClean="0">
                              <a:effectLst/>
                              <a:latin typeface="Cambria Math" panose="02040503050406030204" pitchFamily="18" charset="0"/>
                            </a:rPr>
                          </m:ctrlPr>
                        </m:funcPr>
                        <m:fName>
                          <m:r>
                            <m:rPr>
                              <m:sty m:val="p"/>
                            </m:rPr>
                            <a:rPr lang="en-US" sz="2000" b="0" i="0" smtClean="0">
                              <a:effectLst/>
                              <a:latin typeface="Cambria Math" panose="02040503050406030204" pitchFamily="18" charset="0"/>
                            </a:rPr>
                            <m:t>sin</m:t>
                          </m:r>
                        </m:fName>
                        <m:e>
                          <m:r>
                            <a:rPr lang="en-US" sz="2000" b="0" i="1" smtClean="0">
                              <a:effectLst/>
                              <a:latin typeface="Cambria Math" panose="02040503050406030204" pitchFamily="18" charset="0"/>
                            </a:rPr>
                            <m:t>𝜃</m:t>
                          </m:r>
                        </m:e>
                      </m:func>
                      <m:r>
                        <a:rPr lang="en-US" sz="2000" b="0" i="1" smtClean="0">
                          <a:effectLst/>
                          <a:latin typeface="Cambria Math" panose="02040503050406030204" pitchFamily="18" charset="0"/>
                        </a:rPr>
                        <m:t>=</m:t>
                      </m:r>
                      <m:r>
                        <a:rPr lang="en-US" sz="2000" b="0" i="1" smtClean="0">
                          <a:effectLst/>
                          <a:latin typeface="Cambria Math" panose="02040503050406030204" pitchFamily="18" charset="0"/>
                        </a:rPr>
                        <m:t>𝑚𝑔𝑙</m:t>
                      </m:r>
                      <m:func>
                        <m:funcPr>
                          <m:ctrlPr>
                            <a:rPr lang="en-US" sz="2000" b="0" i="1" smtClean="0">
                              <a:effectLst/>
                              <a:latin typeface="Cambria Math" panose="02040503050406030204" pitchFamily="18" charset="0"/>
                            </a:rPr>
                          </m:ctrlPr>
                        </m:funcPr>
                        <m:fName>
                          <m:r>
                            <m:rPr>
                              <m:sty m:val="p"/>
                            </m:rPr>
                            <a:rPr lang="en-US" sz="2000" b="0" i="0" smtClean="0">
                              <a:effectLst/>
                              <a:latin typeface="Cambria Math" panose="02040503050406030204" pitchFamily="18" charset="0"/>
                            </a:rPr>
                            <m:t>sin</m:t>
                          </m:r>
                        </m:fName>
                        <m:e>
                          <m:r>
                            <a:rPr lang="en-US" sz="2000" b="0" i="1" smtClean="0">
                              <a:effectLst/>
                              <a:latin typeface="Cambria Math" panose="02040503050406030204" pitchFamily="18" charset="0"/>
                            </a:rPr>
                            <m:t>𝜃</m:t>
                          </m:r>
                        </m:e>
                      </m:func>
                      <m:r>
                        <a:rPr lang="en-US" sz="2000" b="0" i="1" smtClean="0">
                          <a:effectLst/>
                          <a:latin typeface="Cambria Math" panose="02040503050406030204" pitchFamily="18" charset="0"/>
                        </a:rPr>
                        <m:t> </m:t>
                      </m:r>
                    </m:oMath>
                  </m:oMathPara>
                </a14:m>
                <a:endParaRPr lang="ru-RU" sz="2000" dirty="0">
                  <a:effectLst/>
                </a:endParaRPr>
              </a:p>
              <a:p>
                <a:pPr/>
                <a14:m>
                  <m:oMathPara xmlns:m="http://schemas.openxmlformats.org/officeDocument/2006/math">
                    <m:oMathParaPr>
                      <m:jc m:val="centerGroup"/>
                    </m:oMathParaPr>
                    <m:oMath xmlns:m="http://schemas.openxmlformats.org/officeDocument/2006/math">
                      <m:sSup>
                        <m:sSupPr>
                          <m:ctrlPr>
                            <a:rPr lang="ru-RU" sz="2400" b="0" i="1" smtClean="0">
                              <a:effectLst/>
                              <a:latin typeface="Cambria Math" panose="02040503050406030204" pitchFamily="18" charset="0"/>
                            </a:rPr>
                          </m:ctrlPr>
                        </m:sSupPr>
                        <m:e>
                          <m:r>
                            <a:rPr lang="ru-RU" sz="2400" b="0" i="1" smtClean="0">
                              <a:effectLst/>
                              <a:latin typeface="Cambria Math" panose="02040503050406030204" pitchFamily="18" charset="0"/>
                            </a:rPr>
                            <m:t>𝜔</m:t>
                          </m:r>
                        </m:e>
                        <m:sup>
                          <m:r>
                            <a:rPr lang="ru-RU" sz="2400" b="0" i="1" smtClean="0">
                              <a:effectLst/>
                              <a:latin typeface="Cambria Math" panose="02040503050406030204" pitchFamily="18" charset="0"/>
                            </a:rPr>
                            <m:t>′</m:t>
                          </m:r>
                        </m:sup>
                      </m:sSup>
                      <m:r>
                        <a:rPr lang="en-US" sz="2400" b="0" i="1" smtClean="0">
                          <a:effectLst/>
                          <a:latin typeface="Cambria Math" panose="02040503050406030204" pitchFamily="18" charset="0"/>
                        </a:rPr>
                        <m:t>=</m:t>
                      </m:r>
                      <m:f>
                        <m:fPr>
                          <m:ctrlPr>
                            <a:rPr lang="en-US" sz="2400" b="0" i="1" smtClean="0">
                              <a:effectLst/>
                              <a:latin typeface="Cambria Math" panose="02040503050406030204" pitchFamily="18" charset="0"/>
                            </a:rPr>
                          </m:ctrlPr>
                        </m:fPr>
                        <m:num>
                          <m:r>
                            <a:rPr lang="en-US" sz="2400" b="0" i="1" smtClean="0">
                              <a:effectLst/>
                              <a:latin typeface="Cambria Math" panose="02040503050406030204" pitchFamily="18" charset="0"/>
                            </a:rPr>
                            <m:t>𝑚𝑔𝑙</m:t>
                          </m:r>
                        </m:num>
                        <m:den>
                          <m:r>
                            <a:rPr lang="en-US" sz="2400" b="0" i="1" smtClean="0">
                              <a:effectLst/>
                              <a:latin typeface="Cambria Math" panose="02040503050406030204" pitchFamily="18" charset="0"/>
                            </a:rPr>
                            <m:t>𝐼</m:t>
                          </m:r>
                          <m:sSub>
                            <m:sSubPr>
                              <m:ctrlPr>
                                <a:rPr lang="en-US" sz="2400" b="0" i="1" smtClean="0">
                                  <a:effectLst/>
                                  <a:latin typeface="Cambria Math" panose="02040503050406030204" pitchFamily="18" charset="0"/>
                                </a:rPr>
                              </m:ctrlPr>
                            </m:sSubPr>
                            <m:e>
                              <m:r>
                                <a:rPr lang="en-US" sz="2400" b="0" i="1" smtClean="0">
                                  <a:effectLst/>
                                  <a:latin typeface="Cambria Math" panose="02040503050406030204" pitchFamily="18" charset="0"/>
                                </a:rPr>
                                <m:t>𝜔</m:t>
                              </m:r>
                            </m:e>
                            <m:sub>
                              <m:r>
                                <a:rPr lang="en-US" sz="2400" b="0" i="1" smtClean="0">
                                  <a:effectLst/>
                                  <a:latin typeface="Cambria Math" panose="02040503050406030204" pitchFamily="18" charset="0"/>
                                </a:rPr>
                                <m:t>0</m:t>
                              </m:r>
                            </m:sub>
                          </m:sSub>
                        </m:den>
                      </m:f>
                    </m:oMath>
                  </m:oMathPara>
                </a14:m>
                <a:endParaRPr lang="en-US" dirty="0">
                  <a:effectLst/>
                </a:endParaRPr>
              </a:p>
              <a:p>
                <a:r>
                  <a:rPr lang="ru-RU" dirty="0">
                    <a:effectLst/>
                  </a:rPr>
                  <a:t>При уменьшении угловой скорости вращения волчка вокруг своей оси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oMath>
                </a14:m>
                <a:r>
                  <a:rPr lang="ru-RU" dirty="0">
                    <a:effectLst/>
                  </a:rPr>
                  <a:t> угловая скорость прецессии </a:t>
                </a:r>
                <a14:m>
                  <m:oMath xmlns:m="http://schemas.openxmlformats.org/officeDocument/2006/math">
                    <m:sSup>
                      <m:sSupPr>
                        <m:ctrlPr>
                          <a:rPr lang="ru-RU" i="1">
                            <a:latin typeface="Cambria Math" panose="02040503050406030204" pitchFamily="18" charset="0"/>
                          </a:rPr>
                        </m:ctrlPr>
                      </m:sSupPr>
                      <m:e>
                        <m:r>
                          <a:rPr lang="ru-RU" i="1">
                            <a:latin typeface="Cambria Math" panose="02040503050406030204" pitchFamily="18" charset="0"/>
                          </a:rPr>
                          <m:t>𝜔</m:t>
                        </m:r>
                      </m:e>
                      <m:sup>
                        <m:r>
                          <a:rPr lang="ru-RU" i="1">
                            <a:latin typeface="Cambria Math" panose="02040503050406030204" pitchFamily="18" charset="0"/>
                          </a:rPr>
                          <m:t>′</m:t>
                        </m:r>
                      </m:sup>
                    </m:sSup>
                  </m:oMath>
                </a14:m>
                <a:r>
                  <a:rPr lang="ru-RU" dirty="0">
                    <a:effectLst/>
                  </a:rPr>
                  <a:t> возрастает.</a:t>
                </a:r>
              </a:p>
            </p:txBody>
          </p:sp>
        </mc:Choice>
        <mc:Fallback xmlns="">
          <p:sp>
            <p:nvSpPr>
              <p:cNvPr id="6" name="Текст 2">
                <a:extLst>
                  <a:ext uri="{FF2B5EF4-FFF2-40B4-BE49-F238E27FC236}">
                    <a16:creationId xmlns:a16="http://schemas.microsoft.com/office/drawing/2014/main" id="{D3ADD420-B1B4-85A8-BF26-36F9FFDB8470}"/>
                  </a:ext>
                </a:extLst>
              </p:cNvPr>
              <p:cNvSpPr txBox="1">
                <a:spLocks noRot="1" noChangeAspect="1" noMove="1" noResize="1" noEditPoints="1" noAdjustHandles="1" noChangeArrowheads="1" noChangeShapeType="1" noTextEdit="1"/>
              </p:cNvSpPr>
              <p:nvPr/>
            </p:nvSpPr>
            <p:spPr>
              <a:xfrm>
                <a:off x="838198" y="4026600"/>
                <a:ext cx="10515600" cy="2054160"/>
              </a:xfrm>
              <a:prstGeom prst="rect">
                <a:avLst/>
              </a:prstGeom>
              <a:blipFill>
                <a:blip r:embed="rId3"/>
                <a:stretch>
                  <a:fillRect l="-464" t="-5638" r="-522" b="-593"/>
                </a:stretch>
              </a:blipFill>
            </p:spPr>
            <p:txBody>
              <a:bodyPr/>
              <a:lstStyle/>
              <a:p>
                <a:r>
                  <a:rPr lang="ru-RU">
                    <a:noFill/>
                  </a:rPr>
                  <a:t> </a:t>
                </a:r>
              </a:p>
            </p:txBody>
          </p:sp>
        </mc:Fallback>
      </mc:AlternateContent>
      <p:pic>
        <p:nvPicPr>
          <p:cNvPr id="7" name="Рисунок 6">
            <a:extLst>
              <a:ext uri="{FF2B5EF4-FFF2-40B4-BE49-F238E27FC236}">
                <a16:creationId xmlns:a16="http://schemas.microsoft.com/office/drawing/2014/main" id="{472A0C28-8242-BACE-1925-B5E39CF1EB3F}"/>
              </a:ext>
            </a:extLst>
          </p:cNvPr>
          <p:cNvPicPr>
            <a:picLocks noChangeAspect="1"/>
          </p:cNvPicPr>
          <p:nvPr/>
        </p:nvPicPr>
        <p:blipFill>
          <a:blip r:embed="rId4"/>
          <a:stretch>
            <a:fillRect/>
          </a:stretch>
        </p:blipFill>
        <p:spPr>
          <a:xfrm>
            <a:off x="838198" y="1235775"/>
            <a:ext cx="2219325" cy="2790825"/>
          </a:xfrm>
          <a:prstGeom prst="rect">
            <a:avLst/>
          </a:prstGeom>
        </p:spPr>
      </p:pic>
      <p:pic>
        <p:nvPicPr>
          <p:cNvPr id="9" name="Рисунок 8">
            <a:extLst>
              <a:ext uri="{FF2B5EF4-FFF2-40B4-BE49-F238E27FC236}">
                <a16:creationId xmlns:a16="http://schemas.microsoft.com/office/drawing/2014/main" id="{FD1811DA-8626-C80D-327F-16FCD10BF6E8}"/>
              </a:ext>
            </a:extLst>
          </p:cNvPr>
          <p:cNvPicPr>
            <a:picLocks noChangeAspect="1"/>
          </p:cNvPicPr>
          <p:nvPr/>
        </p:nvPicPr>
        <p:blipFill>
          <a:blip r:embed="rId5"/>
          <a:srcRect l="1727" t="1065" r="1839" b="2118"/>
          <a:stretch>
            <a:fillRect/>
          </a:stretch>
        </p:blipFill>
        <p:spPr>
          <a:xfrm>
            <a:off x="8442960" y="1248508"/>
            <a:ext cx="2910840" cy="2786702"/>
          </a:xfrm>
          <a:prstGeom prst="rect">
            <a:avLst/>
          </a:prstGeom>
        </p:spPr>
      </p:pic>
    </p:spTree>
    <p:extLst>
      <p:ext uri="{BB962C8B-B14F-4D97-AF65-F5344CB8AC3E}">
        <p14:creationId xmlns:p14="http://schemas.microsoft.com/office/powerpoint/2010/main" val="1380307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9A8BC-DFE1-AE56-96E8-8462A964227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66BA22-668F-5E66-AE67-5DF31B5E7471}"/>
              </a:ext>
            </a:extLst>
          </p:cNvPr>
          <p:cNvSpPr>
            <a:spLocks noGrp="1"/>
          </p:cNvSpPr>
          <p:nvPr>
            <p:ph type="title"/>
          </p:nvPr>
        </p:nvSpPr>
        <p:spPr>
          <a:xfrm>
            <a:off x="838200" y="399678"/>
            <a:ext cx="10515600" cy="374763"/>
          </a:xfrm>
        </p:spPr>
        <p:txBody>
          <a:bodyPr>
            <a:normAutofit fontScale="90000"/>
          </a:bodyPr>
          <a:lstStyle/>
          <a:p>
            <a:r>
              <a:rPr lang="ru-RU" dirty="0"/>
              <a:t>16. Получите выражение для работы момента сил при вращении твёрдого тела вокруг оси.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E000AF92-F9F2-8570-A297-6C892220B920}"/>
                  </a:ext>
                </a:extLst>
              </p:cNvPr>
              <p:cNvSpPr>
                <a:spLocks noGrp="1"/>
              </p:cNvSpPr>
              <p:nvPr>
                <p:ph type="body" sz="quarter" idx="13"/>
              </p:nvPr>
            </p:nvSpPr>
            <p:spPr>
              <a:xfrm>
                <a:off x="838200" y="774441"/>
                <a:ext cx="10515600" cy="5415343"/>
              </a:xfrm>
            </p:spPr>
            <p:txBody>
              <a:bodyPr/>
              <a:lstStyle/>
              <a:p>
                <a:r>
                  <a:rPr lang="ru-RU" b="1" dirty="0"/>
                  <a:t>Кинетическая энергия </a:t>
                </a:r>
                <a:r>
                  <a:rPr lang="ru-RU" dirty="0"/>
                  <a:t>вращения твёрдого тела вокруг неподвижной оси.</a:t>
                </a:r>
              </a:p>
              <a:p>
                <a:r>
                  <a:rPr lang="ru-RU" dirty="0"/>
                  <a:t>Угловая скорость всех точек твёрдого тела </a:t>
                </a:r>
                <a:r>
                  <a:rPr lang="ru-RU" i="1" dirty="0"/>
                  <a:t>одинакова</a:t>
                </a:r>
                <a:r>
                  <a:rPr lang="ru-RU"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oMath>
                </a14:m>
                <a:r>
                  <a:rPr lang="en-US" dirty="0"/>
                  <a:t>.</a:t>
                </a:r>
              </a:p>
              <a:p>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𝐾</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2</m:t>
                              </m:r>
                            </m:den>
                          </m:f>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sub>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𝑖</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𝜔</m:t>
                                  </m:r>
                                </m:e>
                                <m:sup>
                                  <m:r>
                                    <a:rPr lang="en-US" b="0" i="1" smtClean="0">
                                      <a:latin typeface="Cambria Math" panose="02040503050406030204" pitchFamily="18" charset="0"/>
                                    </a:rPr>
                                    <m:t>2</m:t>
                                  </m:r>
                                </m:sup>
                              </m:sSup>
                            </m:e>
                          </m:nary>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𝐼</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𝜔</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oMath>
                  </m:oMathPara>
                </a14:m>
                <a:endParaRPr lang="en-US" dirty="0"/>
              </a:p>
              <a:p>
                <a:r>
                  <a:rPr lang="ru-RU" b="1" dirty="0"/>
                  <a:t>Работа внешней силы </a:t>
                </a:r>
                <a:r>
                  <a:rPr lang="ru-RU" dirty="0"/>
                  <a:t>при вращении твёрдого тела вокруг неподвижной оси.</a:t>
                </a:r>
              </a:p>
              <a:p>
                <a:r>
                  <a:rPr lang="ru-RU" dirty="0"/>
                  <a:t>По теореме о кинетической энергии:</a:t>
                </a:r>
                <a:r>
                  <a:rPr lang="en-US" dirty="0"/>
                  <a:t> </a:t>
                </a:r>
                <a14:m>
                  <m:oMath xmlns:m="http://schemas.openxmlformats.org/officeDocument/2006/math">
                    <m:r>
                      <a:rPr lang="ru-RU" i="1" smtClean="0">
                        <a:latin typeface="Cambria Math" panose="02040503050406030204" pitchFamily="18" charset="0"/>
                      </a:rPr>
                      <m:t>𝛿</m:t>
                    </m:r>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𝐾</m:t>
                            </m:r>
                          </m:sub>
                        </m:sSub>
                      </m:e>
                    </m:d>
                  </m:oMath>
                </a14:m>
                <a:r>
                  <a:rPr lang="en-US" dirty="0"/>
                  <a:t>.</a:t>
                </a:r>
              </a:p>
              <a:p>
                <a:r>
                  <a:rPr lang="ru-RU" dirty="0"/>
                  <a:t>По закону динамики движения частицы: </a:t>
                </a:r>
                <a14:m>
                  <m:oMath xmlns:m="http://schemas.openxmlformats.org/officeDocument/2006/math">
                    <m:r>
                      <a:rPr lang="en-US" b="0" i="1" smtClean="0">
                        <a:solidFill>
                          <a:schemeClr val="accent1"/>
                        </a:solidFill>
                        <a:latin typeface="Cambria Math" panose="02040503050406030204" pitchFamily="18" charset="0"/>
                      </a:rPr>
                      <m:t>𝐼𝑑</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𝜔</m:t>
                        </m:r>
                      </m:e>
                      <m:sub>
                        <m:r>
                          <a:rPr lang="en-US" b="0" i="1" smtClean="0">
                            <a:solidFill>
                              <a:schemeClr val="accent1"/>
                            </a:solidFill>
                            <a:latin typeface="Cambria Math" panose="02040503050406030204" pitchFamily="18" charset="0"/>
                          </a:rPr>
                          <m:t>𝑧</m:t>
                        </m:r>
                      </m:sub>
                    </m:sSub>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𝑀</m:t>
                        </m:r>
                      </m:e>
                      <m:sub>
                        <m:r>
                          <a:rPr lang="en-US" b="0" i="1" smtClean="0">
                            <a:solidFill>
                              <a:schemeClr val="accent1"/>
                            </a:solidFill>
                            <a:latin typeface="Cambria Math" panose="02040503050406030204" pitchFamily="18" charset="0"/>
                          </a:rPr>
                          <m:t>𝑧</m:t>
                        </m:r>
                      </m:sub>
                    </m:sSub>
                    <m:r>
                      <a:rPr lang="en-US" b="0" i="1" smtClean="0">
                        <a:solidFill>
                          <a:schemeClr val="accent1"/>
                        </a:solidFill>
                        <a:latin typeface="Cambria Math" panose="02040503050406030204" pitchFamily="18" charset="0"/>
                      </a:rPr>
                      <m:t>𝑑𝑡</m:t>
                    </m:r>
                    <m:r>
                      <a:rPr lang="en-US" b="0" i="1" smtClean="0">
                        <a:solidFill>
                          <a:schemeClr val="accent1"/>
                        </a:solidFill>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𝐼</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𝑧</m:t>
                            </m:r>
                          </m:sub>
                        </m:sSub>
                      </m:num>
                      <m:den>
                        <m:r>
                          <a:rPr lang="en-US" b="0" i="1" smtClean="0">
                            <a:latin typeface="Cambria Math" panose="02040503050406030204" pitchFamily="18" charset="0"/>
                            <a:ea typeface="Cambria Math" panose="02040503050406030204" pitchFamily="18" charset="0"/>
                          </a:rPr>
                          <m:t>𝑑𝑡</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𝑀</m:t>
                        </m:r>
                      </m:e>
                      <m:sub>
                        <m:r>
                          <a:rPr lang="en-US" b="0" i="1" smtClean="0">
                            <a:latin typeface="Cambria Math" panose="02040503050406030204" pitchFamily="18" charset="0"/>
                            <a:ea typeface="Cambria Math" panose="02040503050406030204" pitchFamily="18" charset="0"/>
                          </a:rPr>
                          <m:t>𝑧</m:t>
                        </m:r>
                      </m:sub>
                    </m:sSub>
                  </m:oMath>
                </a14:m>
                <a:r>
                  <a:rPr lang="en-US" dirty="0"/>
                  <a:t>.</a:t>
                </a:r>
              </a:p>
              <a:p>
                <a:r>
                  <a:rPr lang="ru-RU" dirty="0"/>
                  <a:t>Перемещение </a:t>
                </a:r>
                <a14:m>
                  <m:oMath xmlns:m="http://schemas.openxmlformats.org/officeDocument/2006/math">
                    <m:r>
                      <a:rPr lang="en-US" b="0" i="1" smtClean="0">
                        <a:solidFill>
                          <a:srgbClr val="00B050"/>
                        </a:solidFill>
                        <a:latin typeface="Cambria Math" panose="02040503050406030204" pitchFamily="18" charset="0"/>
                      </a:rPr>
                      <m:t>𝑑</m:t>
                    </m:r>
                    <m:r>
                      <a:rPr lang="en-US" b="0" i="1" smtClean="0">
                        <a:solidFill>
                          <a:srgbClr val="00B050"/>
                        </a:solidFill>
                        <a:latin typeface="Cambria Math" panose="02040503050406030204" pitchFamily="18" charset="0"/>
                      </a:rPr>
                      <m:t>𝜑</m:t>
                    </m:r>
                    <m:r>
                      <a:rPr lang="en-US" b="0" i="1" smtClean="0">
                        <a:solidFill>
                          <a:srgbClr val="00B050"/>
                        </a:solidFill>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𝜔</m:t>
                        </m:r>
                      </m:e>
                      <m:sub>
                        <m:r>
                          <a:rPr lang="en-US" b="0" i="1" smtClean="0">
                            <a:solidFill>
                              <a:srgbClr val="00B050"/>
                            </a:solidFill>
                            <a:latin typeface="Cambria Math" panose="02040503050406030204" pitchFamily="18" charset="0"/>
                          </a:rPr>
                          <m:t>𝑧</m:t>
                        </m:r>
                      </m:sub>
                    </m:sSub>
                    <m:r>
                      <a:rPr lang="en-US" b="0" i="1" smtClean="0">
                        <a:solidFill>
                          <a:srgbClr val="00B050"/>
                        </a:solidFill>
                        <a:latin typeface="Cambria Math" panose="02040503050406030204" pitchFamily="18" charset="0"/>
                      </a:rPr>
                      <m:t>𝑑𝑡</m:t>
                    </m:r>
                  </m:oMath>
                </a14:m>
                <a:r>
                  <a:rPr lang="en-US" dirty="0"/>
                  <a:t>.</a:t>
                </a:r>
                <a:endParaRPr lang="ru-RU" dirty="0"/>
              </a:p>
              <a:p>
                <a:pPr/>
                <a14:m>
                  <m:oMathPara xmlns:m="http://schemas.openxmlformats.org/officeDocument/2006/math">
                    <m:oMathParaPr>
                      <m:jc m:val="centerGroup"/>
                    </m:oMathParaPr>
                    <m:oMath xmlns:m="http://schemas.openxmlformats.org/officeDocument/2006/math">
                      <m:r>
                        <a:rPr lang="ru-RU" b="0" i="1" smtClean="0">
                          <a:latin typeface="Cambria Math" panose="02040503050406030204" pitchFamily="18" charset="0"/>
                        </a:rPr>
                        <m:t>𝛿</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𝐾</m:t>
                              </m:r>
                            </m:sub>
                          </m:sSub>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𝐼</m:t>
                              </m:r>
                              <m:sSubSup>
                                <m:sSubSupPr>
                                  <m:ctrlPr>
                                    <a:rPr lang="en-US" b="0" i="1" smtClean="0">
                                      <a:latin typeface="Cambria Math" panose="02040503050406030204" pitchFamily="18" charset="0"/>
                                    </a:rPr>
                                  </m:ctrlPr>
                                </m:sSubSupPr>
                                <m:e>
                                  <m:r>
                                    <a:rPr lang="en-US" i="1">
                                      <a:latin typeface="Cambria Math" panose="02040503050406030204" pitchFamily="18" charset="0"/>
                                    </a:rPr>
                                    <m:t>𝜔</m:t>
                                  </m:r>
                                </m:e>
                                <m:sub>
                                  <m:r>
                                    <a:rPr lang="en-US" b="0" i="1" smtClean="0">
                                      <a:latin typeface="Cambria Math" panose="02040503050406030204" pitchFamily="18" charset="0"/>
                                    </a:rPr>
                                    <m:t>𝑧</m:t>
                                  </m:r>
                                </m:sub>
                                <m:sup>
                                  <m:r>
                                    <a:rPr lang="en-US" i="1">
                                      <a:latin typeface="Cambria Math" panose="02040503050406030204" pitchFamily="18" charset="0"/>
                                    </a:rPr>
                                    <m:t>2</m:t>
                                  </m:r>
                                </m:sup>
                              </m:sSubSup>
                            </m:num>
                            <m:den>
                              <m:r>
                                <a:rPr lang="en-US" i="1">
                                  <a:latin typeface="Cambria Math" panose="02040503050406030204" pitchFamily="18" charset="0"/>
                                </a:rPr>
                                <m:t>2</m:t>
                              </m:r>
                            </m:den>
                          </m:f>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𝑧</m:t>
                          </m:r>
                        </m:sub>
                      </m:sSub>
                      <m:r>
                        <a:rPr lang="en-US" b="0" i="1" smtClean="0">
                          <a:latin typeface="Cambria Math" panose="02040503050406030204" pitchFamily="18" charset="0"/>
                        </a:rPr>
                        <m:t>⋅</m:t>
                      </m:r>
                      <m:r>
                        <a:rPr lang="en-US" b="0" i="1" smtClean="0">
                          <a:solidFill>
                            <a:schemeClr val="accent1"/>
                          </a:solidFill>
                          <a:latin typeface="Cambria Math" panose="02040503050406030204" pitchFamily="18" charset="0"/>
                        </a:rPr>
                        <m:t>𝐼𝑑</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𝜔</m:t>
                          </m:r>
                        </m:e>
                        <m:sub>
                          <m:r>
                            <a:rPr lang="en-US" b="0" i="1" smtClean="0">
                              <a:solidFill>
                                <a:schemeClr val="accent1"/>
                              </a:solidFill>
                              <a:latin typeface="Cambria Math" panose="02040503050406030204" pitchFamily="18" charset="0"/>
                            </a:rPr>
                            <m:t>𝑧</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𝑧</m:t>
                          </m:r>
                        </m:sub>
                      </m:sSub>
                      <m:r>
                        <a:rPr lang="en-US" b="0" i="1" smtClean="0">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𝑀</m:t>
                          </m:r>
                        </m:e>
                        <m:sub>
                          <m:r>
                            <a:rPr lang="en-US" b="0" i="1" smtClean="0">
                              <a:solidFill>
                                <a:schemeClr val="accent1"/>
                              </a:solidFill>
                              <a:latin typeface="Cambria Math" panose="02040503050406030204" pitchFamily="18" charset="0"/>
                            </a:rPr>
                            <m:t>𝑧</m:t>
                          </m:r>
                        </m:sub>
                      </m:sSub>
                      <m:r>
                        <a:rPr lang="en-US" b="0" i="1" smtClean="0">
                          <a:solidFill>
                            <a:schemeClr val="accent1"/>
                          </a:solidFill>
                          <a:latin typeface="Cambria Math" panose="02040503050406030204" pitchFamily="18" charset="0"/>
                        </a:rPr>
                        <m:t>𝑑𝑡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𝑧</m:t>
                          </m:r>
                        </m:sub>
                      </m:sSub>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𝜔</m:t>
                          </m:r>
                        </m:e>
                        <m:sub>
                          <m:r>
                            <a:rPr lang="en-US" b="0" i="1" smtClean="0">
                              <a:solidFill>
                                <a:srgbClr val="00B050"/>
                              </a:solidFill>
                              <a:latin typeface="Cambria Math" panose="02040503050406030204" pitchFamily="18" charset="0"/>
                            </a:rPr>
                            <m:t>𝑧</m:t>
                          </m:r>
                        </m:sub>
                      </m:sSub>
                      <m:r>
                        <a:rPr lang="en-US" b="0" i="1" smtClean="0">
                          <a:solidFill>
                            <a:srgbClr val="00B050"/>
                          </a:solidFill>
                          <a:latin typeface="Cambria Math" panose="02040503050406030204" pitchFamily="18" charset="0"/>
                        </a:rPr>
                        <m:t>𝑑𝑡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𝑧</m:t>
                          </m:r>
                        </m:sub>
                      </m:sSub>
                      <m:r>
                        <a:rPr lang="en-US" b="0" i="1" smtClean="0">
                          <a:solidFill>
                            <a:srgbClr val="00B050"/>
                          </a:solidFill>
                          <a:latin typeface="Cambria Math" panose="02040503050406030204" pitchFamily="18" charset="0"/>
                        </a:rPr>
                        <m:t>𝑑</m:t>
                      </m:r>
                      <m:r>
                        <a:rPr lang="en-US" b="0" i="1" smtClean="0">
                          <a:solidFill>
                            <a:srgbClr val="00B050"/>
                          </a:solidFill>
                          <a:latin typeface="Cambria Math" panose="02040503050406030204" pitchFamily="18" charset="0"/>
                        </a:rPr>
                        <m:t>𝜑</m:t>
                      </m:r>
                    </m:oMath>
                  </m:oMathPara>
                </a14:m>
                <a:endParaRPr lang="en-US"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rPr>
                        <m:t>=</m:t>
                      </m:r>
                      <m:nary>
                        <m:naryPr>
                          <m:limLoc m:val="undOvr"/>
                          <m:ctrlPr>
                            <a:rPr lang="en-US" sz="2400" b="0" i="1" smtClean="0">
                              <a:latin typeface="Cambria Math" panose="02040503050406030204" pitchFamily="18" charset="0"/>
                            </a:rPr>
                          </m:ctrlPr>
                        </m:naryPr>
                        <m:sub>
                          <m:r>
                            <m:rPr>
                              <m:brk m:alnAt="24"/>
                            </m:rPr>
                            <a:rPr lang="ru-RU" sz="2400" b="0" i="1" smtClean="0">
                              <a:latin typeface="Cambria Math" panose="02040503050406030204" pitchFamily="18" charset="0"/>
                            </a:rPr>
                            <m:t>0</m:t>
                          </m:r>
                        </m:sub>
                        <m:sup>
                          <m:r>
                            <a:rPr lang="en-US" sz="2400" b="0" i="1" smtClean="0">
                              <a:latin typeface="Cambria Math" panose="02040503050406030204" pitchFamily="18" charset="0"/>
                            </a:rPr>
                            <m:t>𝜑</m:t>
                          </m:r>
                          <m:r>
                            <a:rPr lang="en-US" sz="2400" b="0" i="1" smtClean="0">
                              <a:latin typeface="Cambria Math" panose="02040503050406030204" pitchFamily="18" charset="0"/>
                            </a:rPr>
                            <m:t> конечн</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𝑀</m:t>
                              </m:r>
                            </m:e>
                            <m:sub>
                              <m:r>
                                <a:rPr lang="en-US" sz="2400" b="0" i="1" smtClean="0">
                                  <a:latin typeface="Cambria Math" panose="02040503050406030204" pitchFamily="18" charset="0"/>
                                </a:rPr>
                                <m:t>𝑧</m:t>
                              </m:r>
                            </m:sub>
                          </m:sSub>
                          <m:r>
                            <a:rPr lang="en-US" sz="2400" b="0" i="1" smtClean="0">
                              <a:latin typeface="Cambria Math" panose="02040503050406030204" pitchFamily="18" charset="0"/>
                            </a:rPr>
                            <m:t>𝑑</m:t>
                          </m:r>
                          <m:r>
                            <a:rPr lang="en-US" sz="2400" b="0" i="1" smtClean="0">
                              <a:latin typeface="Cambria Math" panose="02040503050406030204" pitchFamily="18" charset="0"/>
                            </a:rPr>
                            <m:t>𝜑</m:t>
                          </m:r>
                        </m:e>
                      </m:nary>
                    </m:oMath>
                  </m:oMathPara>
                </a14:m>
                <a:endParaRPr lang="ru-RU" dirty="0"/>
              </a:p>
            </p:txBody>
          </p:sp>
        </mc:Choice>
        <mc:Fallback xmlns="">
          <p:sp>
            <p:nvSpPr>
              <p:cNvPr id="3" name="Текст 2">
                <a:extLst>
                  <a:ext uri="{FF2B5EF4-FFF2-40B4-BE49-F238E27FC236}">
                    <a16:creationId xmlns:a16="http://schemas.microsoft.com/office/drawing/2014/main" id="{E000AF92-F9F2-8570-A297-6C892220B920}"/>
                  </a:ext>
                </a:extLst>
              </p:cNvPr>
              <p:cNvSpPr>
                <a:spLocks noGrp="1" noRot="1" noChangeAspect="1" noMove="1" noResize="1" noEditPoints="1" noAdjustHandles="1" noChangeArrowheads="1" noChangeShapeType="1" noTextEdit="1"/>
              </p:cNvSpPr>
              <p:nvPr>
                <p:ph type="body" sz="quarter" idx="13"/>
              </p:nvPr>
            </p:nvSpPr>
            <p:spPr>
              <a:xfrm>
                <a:off x="838200" y="774441"/>
                <a:ext cx="10515600" cy="5415343"/>
              </a:xfrm>
              <a:blipFill>
                <a:blip r:embed="rId2"/>
                <a:stretch>
                  <a:fillRect l="-522" t="-1014"/>
                </a:stretch>
              </a:blipFill>
            </p:spPr>
            <p:txBody>
              <a:bodyPr/>
              <a:lstStyle/>
              <a:p>
                <a:r>
                  <a:rPr lang="ru-RU">
                    <a:noFill/>
                  </a:rPr>
                  <a:t> </a:t>
                </a:r>
              </a:p>
            </p:txBody>
          </p:sp>
        </mc:Fallback>
      </mc:AlternateContent>
    </p:spTree>
    <p:extLst>
      <p:ext uri="{BB962C8B-B14F-4D97-AF65-F5344CB8AC3E}">
        <p14:creationId xmlns:p14="http://schemas.microsoft.com/office/powerpoint/2010/main" val="2794162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C5B7A-DCB7-05AD-3EF7-127A9BD61B1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FF68BB-9B5F-DBA5-E7A3-2B665CAAE5A7}"/>
              </a:ext>
            </a:extLst>
          </p:cNvPr>
          <p:cNvSpPr>
            <a:spLocks noGrp="1"/>
          </p:cNvSpPr>
          <p:nvPr>
            <p:ph type="title"/>
          </p:nvPr>
        </p:nvSpPr>
        <p:spPr>
          <a:xfrm>
            <a:off x="838200" y="399678"/>
            <a:ext cx="10515600" cy="374763"/>
          </a:xfrm>
        </p:spPr>
        <p:txBody>
          <a:bodyPr>
            <a:normAutofit/>
          </a:bodyPr>
          <a:lstStyle/>
          <a:p>
            <a:r>
              <a:rPr lang="ru-RU" dirty="0"/>
              <a:t>17. Получите преобразования Галилея.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8886E16B-2ADF-3B02-41C9-A2962F1B69F7}"/>
                  </a:ext>
                </a:extLst>
              </p:cNvPr>
              <p:cNvSpPr>
                <a:spLocks noGrp="1"/>
              </p:cNvSpPr>
              <p:nvPr>
                <p:ph type="body" sz="quarter" idx="13"/>
              </p:nvPr>
            </p:nvSpPr>
            <p:spPr>
              <a:xfrm>
                <a:off x="838200" y="774441"/>
                <a:ext cx="5629275" cy="978159"/>
              </a:xfrm>
            </p:spPr>
            <p:txBody>
              <a:bodyPr/>
              <a:lstStyle/>
              <a:p>
                <a:r>
                  <a:rPr lang="ru-RU" dirty="0"/>
                  <a:t>Абсолютность времени и пространства: время и расстояния одинаковы во всех ИСО.</a:t>
                </a:r>
              </a:p>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𝑡</m:t>
                      </m:r>
                      <m:r>
                        <a:rPr lang="ru-RU" b="0" i="0" smtClean="0">
                          <a:latin typeface="Cambria Math" panose="02040503050406030204" pitchFamily="18" charset="0"/>
                        </a:rPr>
                        <m:t>, </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r</m:t>
                              </m:r>
                            </m:e>
                          </m:acc>
                        </m:e>
                        <m:sup>
                          <m:r>
                            <a:rPr lang="en-US" b="0" i="0" smtClean="0">
                              <a:latin typeface="Cambria Math" panose="02040503050406030204" pitchFamily="18" charset="0"/>
                            </a:rPr>
                            <m:t>′</m:t>
                          </m:r>
                        </m:sup>
                      </m:sSup>
                      <m:r>
                        <a:rPr lang="en-US" b="0" i="0" smtClean="0">
                          <a:latin typeface="Cambria Math" panose="02040503050406030204" pitchFamily="18" charset="0"/>
                        </a:rPr>
                        <m:t>=</m:t>
                      </m:r>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r</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r>
                        <a:rPr lang="en-US" b="0" i="1" smtClean="0">
                          <a:latin typeface="Cambria Math" panose="02040503050406030204" pitchFamily="18" charset="0"/>
                        </a:rPr>
                        <m:t>𝑡</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p>
                          <m:r>
                            <a:rPr lang="en-US" b="0" i="1" smtClean="0">
                              <a:latin typeface="Cambria Math" panose="02040503050406030204" pitchFamily="18" charset="0"/>
                            </a:rPr>
                            <m:t>′</m:t>
                          </m:r>
                        </m:sup>
                      </m:sSup>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e>
                        <m:sup>
                          <m:r>
                            <a:rPr lang="en-US" b="0" i="1" smtClean="0">
                              <a:latin typeface="Cambria Math" panose="02040503050406030204" pitchFamily="18" charset="0"/>
                            </a:rPr>
                            <m:t>′</m:t>
                          </m:r>
                        </m:sup>
                      </m:sSup>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oMath>
                  </m:oMathPara>
                </a14:m>
                <a:endParaRPr lang="ru-RU" dirty="0"/>
              </a:p>
            </p:txBody>
          </p:sp>
        </mc:Choice>
        <mc:Fallback xmlns="">
          <p:sp>
            <p:nvSpPr>
              <p:cNvPr id="3" name="Текст 2">
                <a:extLst>
                  <a:ext uri="{FF2B5EF4-FFF2-40B4-BE49-F238E27FC236}">
                    <a16:creationId xmlns:a16="http://schemas.microsoft.com/office/drawing/2014/main" id="{8886E16B-2ADF-3B02-41C9-A2962F1B69F7}"/>
                  </a:ext>
                </a:extLst>
              </p:cNvPr>
              <p:cNvSpPr>
                <a:spLocks noGrp="1" noRot="1" noChangeAspect="1" noMove="1" noResize="1" noEditPoints="1" noAdjustHandles="1" noChangeArrowheads="1" noChangeShapeType="1" noTextEdit="1"/>
              </p:cNvSpPr>
              <p:nvPr>
                <p:ph type="body" sz="quarter" idx="13"/>
              </p:nvPr>
            </p:nvSpPr>
            <p:spPr>
              <a:xfrm>
                <a:off x="838200" y="774441"/>
                <a:ext cx="5629275" cy="978159"/>
              </a:xfrm>
              <a:blipFill>
                <a:blip r:embed="rId2"/>
                <a:stretch>
                  <a:fillRect l="-975" t="-5590" r="-867"/>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F3611C62-DD08-EBE8-3668-0EA60A04D57A}"/>
              </a:ext>
            </a:extLst>
          </p:cNvPr>
          <p:cNvPicPr>
            <a:picLocks noChangeAspect="1"/>
          </p:cNvPicPr>
          <p:nvPr/>
        </p:nvPicPr>
        <p:blipFill>
          <a:blip r:embed="rId3"/>
          <a:srcRect t="698" b="1"/>
          <a:stretch>
            <a:fillRect/>
          </a:stretch>
        </p:blipFill>
        <p:spPr>
          <a:xfrm>
            <a:off x="2962802" y="1596506"/>
            <a:ext cx="6266395" cy="3853632"/>
          </a:xfrm>
          <a:prstGeom prst="rect">
            <a:avLst/>
          </a:prstGeom>
        </p:spPr>
      </p:pic>
      <mc:AlternateContent xmlns:mc="http://schemas.openxmlformats.org/markup-compatibility/2006" xmlns:a14="http://schemas.microsoft.com/office/drawing/2010/main">
        <mc:Choice Requires="a14">
          <p:sp>
            <p:nvSpPr>
              <p:cNvPr id="6" name="Текст 2">
                <a:extLst>
                  <a:ext uri="{FF2B5EF4-FFF2-40B4-BE49-F238E27FC236}">
                    <a16:creationId xmlns:a16="http://schemas.microsoft.com/office/drawing/2014/main" id="{157DD281-D521-0788-78D0-8AE36930DF99}"/>
                  </a:ext>
                </a:extLst>
              </p:cNvPr>
              <p:cNvSpPr txBox="1">
                <a:spLocks/>
              </p:cNvSpPr>
              <p:nvPr/>
            </p:nvSpPr>
            <p:spPr>
              <a:xfrm>
                <a:off x="6467475" y="774441"/>
                <a:ext cx="4886325" cy="1090621"/>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При движении вдоль </a:t>
                </a:r>
                <a:r>
                  <a:rPr lang="en-US" dirty="0"/>
                  <a:t>X: </a:t>
                </a:r>
                <a14:m>
                  <m:oMath xmlns:m="http://schemas.openxmlformats.org/officeDocument/2006/math">
                    <m:d>
                      <m:dPr>
                        <m:begChr m:val="{"/>
                        <m:endChr m:val=""/>
                        <m:ctrlPr>
                          <a:rPr lang="ru-RU" i="1">
                            <a:latin typeface="Cambria Math" panose="02040503050406030204" pitchFamily="18" charset="0"/>
                          </a:rPr>
                        </m:ctrlPr>
                      </m:dPr>
                      <m:e>
                        <m:eqArr>
                          <m:eqArrPr>
                            <m:ctrlPr>
                              <a:rPr lang="ru-RU" i="1">
                                <a:latin typeface="Cambria Math" panose="02040503050406030204" pitchFamily="18" charset="0"/>
                              </a:rPr>
                            </m:ctrlPr>
                          </m:eqArrPr>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𝑥</m:t>
                                </m:r>
                              </m:sub>
                            </m:sSub>
                            <m:r>
                              <a:rPr lang="en-US" i="1">
                                <a:latin typeface="Cambria Math" panose="02040503050406030204" pitchFamily="18" charset="0"/>
                              </a:rPr>
                              <m:t>𝑡</m:t>
                            </m:r>
                          </m:e>
                          <m:e>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𝑦</m:t>
                            </m:r>
                          </m:e>
                          <m:e>
                            <m:sSup>
                              <m:sSupPr>
                                <m:ctrlPr>
                                  <a:rPr lang="en-US" i="1">
                                    <a:latin typeface="Cambria Math" panose="02040503050406030204" pitchFamily="18" charset="0"/>
                                  </a:rPr>
                                </m:ctrlPr>
                              </m:sSupPr>
                              <m:e>
                                <m:r>
                                  <a:rPr lang="en-US" i="1">
                                    <a:latin typeface="Cambria Math" panose="02040503050406030204" pitchFamily="18" charset="0"/>
                                  </a:rPr>
                                  <m:t>𝑧</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𝑧</m:t>
                            </m:r>
                          </m:e>
                        </m:eqArr>
                      </m:e>
                    </m:d>
                  </m:oMath>
                </a14:m>
                <a:endParaRPr lang="ru-RU" dirty="0">
                  <a:effectLst/>
                </a:endParaRPr>
              </a:p>
            </p:txBody>
          </p:sp>
        </mc:Choice>
        <mc:Fallback xmlns="">
          <p:sp>
            <p:nvSpPr>
              <p:cNvPr id="6" name="Текст 2">
                <a:extLst>
                  <a:ext uri="{FF2B5EF4-FFF2-40B4-BE49-F238E27FC236}">
                    <a16:creationId xmlns:a16="http://schemas.microsoft.com/office/drawing/2014/main" id="{157DD281-D521-0788-78D0-8AE36930DF99}"/>
                  </a:ext>
                </a:extLst>
              </p:cNvPr>
              <p:cNvSpPr txBox="1">
                <a:spLocks noRot="1" noChangeAspect="1" noMove="1" noResize="1" noEditPoints="1" noAdjustHandles="1" noChangeArrowheads="1" noChangeShapeType="1" noTextEdit="1"/>
              </p:cNvSpPr>
              <p:nvPr/>
            </p:nvSpPr>
            <p:spPr>
              <a:xfrm>
                <a:off x="6467475" y="774441"/>
                <a:ext cx="4886325" cy="1090621"/>
              </a:xfrm>
              <a:prstGeom prst="rect">
                <a:avLst/>
              </a:prstGeom>
              <a:blipFill>
                <a:blip r:embed="rId4"/>
                <a:stretch>
                  <a:fillRect l="-1122" t="-559"/>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7" name="Текст 2">
                <a:extLst>
                  <a:ext uri="{FF2B5EF4-FFF2-40B4-BE49-F238E27FC236}">
                    <a16:creationId xmlns:a16="http://schemas.microsoft.com/office/drawing/2014/main" id="{37AF2B1B-B49C-898F-3467-6F362F4C5F4B}"/>
                  </a:ext>
                </a:extLst>
              </p:cNvPr>
              <p:cNvSpPr txBox="1">
                <a:spLocks/>
              </p:cNvSpPr>
              <p:nvPr/>
            </p:nvSpPr>
            <p:spPr>
              <a:xfrm>
                <a:off x="838199" y="5562600"/>
                <a:ext cx="10515600" cy="63690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Законы Ньютона инвариантны относительно преобразований Галилея.</a:t>
                </a:r>
              </a:p>
              <a:p>
                <a:pPr/>
                <a14:m>
                  <m:oMathPara xmlns:m="http://schemas.openxmlformats.org/officeDocument/2006/math">
                    <m:oMathParaPr>
                      <m:jc m:val="centerGroup"/>
                    </m:oMathParaPr>
                    <m:oMath xmlns:m="http://schemas.openxmlformats.org/officeDocument/2006/math">
                      <m:r>
                        <a:rPr lang="ru-RU" i="1" dirty="0" smtClean="0">
                          <a:latin typeface="Cambria Math" panose="02040503050406030204" pitchFamily="18" charset="0"/>
                        </a:rPr>
                        <m:t>(1) </m:t>
                      </m:r>
                      <m:r>
                        <a:rPr lang="en-US" i="1" dirty="0" smtClean="0">
                          <a:latin typeface="Cambria Math" panose="02040503050406030204" pitchFamily="18" charset="0"/>
                        </a:rPr>
                        <m:t>𝑚</m:t>
                      </m:r>
                      <m:r>
                        <a:rPr lang="en-US" i="1" dirty="0" smtClean="0">
                          <a:latin typeface="Cambria Math" panose="02040503050406030204" pitchFamily="18" charset="0"/>
                        </a:rPr>
                        <m:t>=</m:t>
                      </m:r>
                      <m:r>
                        <a:rPr lang="en-US" i="1" dirty="0" smtClean="0">
                          <a:latin typeface="Cambria Math" panose="02040503050406030204" pitchFamily="18" charset="0"/>
                        </a:rPr>
                        <m:t>𝑚</m:t>
                      </m:r>
                      <m:r>
                        <a:rPr lang="en-US" i="1" dirty="0" smtClean="0">
                          <a:latin typeface="Cambria Math" panose="02040503050406030204" pitchFamily="18" charset="0"/>
                        </a:rPr>
                        <m:t>’        (2) </m:t>
                      </m:r>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(3) </m:t>
                      </m:r>
                      <m:r>
                        <a:rPr lang="en-US" i="1" dirty="0" smtClean="0">
                          <a:latin typeface="Cambria Math" panose="02040503050406030204" pitchFamily="18" charset="0"/>
                        </a:rPr>
                        <m:t>𝐹</m:t>
                      </m:r>
                      <m:r>
                        <a:rPr lang="en-US" i="1" dirty="0" smtClean="0">
                          <a:latin typeface="Cambria Math" panose="02040503050406030204" pitchFamily="18" charset="0"/>
                        </a:rPr>
                        <m:t>=</m:t>
                      </m:r>
                      <m:r>
                        <a:rPr lang="en-US" i="1" dirty="0" smtClean="0">
                          <a:latin typeface="Cambria Math" panose="02040503050406030204" pitchFamily="18" charset="0"/>
                        </a:rPr>
                        <m:t>𝐹</m:t>
                      </m:r>
                      <m:r>
                        <a:rPr lang="en-US" i="1" dirty="0" smtClean="0">
                          <a:latin typeface="Cambria Math" panose="02040503050406030204" pitchFamily="18" charset="0"/>
                        </a:rPr>
                        <m:t>’</m:t>
                      </m:r>
                    </m:oMath>
                  </m:oMathPara>
                </a14:m>
                <a:endParaRPr lang="ru-RU" dirty="0"/>
              </a:p>
            </p:txBody>
          </p:sp>
        </mc:Choice>
        <mc:Fallback xmlns="">
          <p:sp>
            <p:nvSpPr>
              <p:cNvPr id="7" name="Текст 2">
                <a:extLst>
                  <a:ext uri="{FF2B5EF4-FFF2-40B4-BE49-F238E27FC236}">
                    <a16:creationId xmlns:a16="http://schemas.microsoft.com/office/drawing/2014/main" id="{37AF2B1B-B49C-898F-3467-6F362F4C5F4B}"/>
                  </a:ext>
                </a:extLst>
              </p:cNvPr>
              <p:cNvSpPr txBox="1">
                <a:spLocks noRot="1" noChangeAspect="1" noMove="1" noResize="1" noEditPoints="1" noAdjustHandles="1" noChangeArrowheads="1" noChangeShapeType="1" noTextEdit="1"/>
              </p:cNvSpPr>
              <p:nvPr/>
            </p:nvSpPr>
            <p:spPr>
              <a:xfrm>
                <a:off x="838199" y="5562600"/>
                <a:ext cx="10515600" cy="636903"/>
              </a:xfrm>
              <a:prstGeom prst="rect">
                <a:avLst/>
              </a:prstGeom>
              <a:blipFill>
                <a:blip r:embed="rId5"/>
                <a:stretch>
                  <a:fillRect l="-464" t="-9615" b="-962"/>
                </a:stretch>
              </a:blipFill>
            </p:spPr>
            <p:txBody>
              <a:bodyPr/>
              <a:lstStyle/>
              <a:p>
                <a:r>
                  <a:rPr lang="ru-RU">
                    <a:noFill/>
                  </a:rPr>
                  <a:t> </a:t>
                </a:r>
              </a:p>
            </p:txBody>
          </p:sp>
        </mc:Fallback>
      </mc:AlternateContent>
    </p:spTree>
    <p:extLst>
      <p:ext uri="{BB962C8B-B14F-4D97-AF65-F5344CB8AC3E}">
        <p14:creationId xmlns:p14="http://schemas.microsoft.com/office/powerpoint/2010/main" val="1562816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1EE91D-E715-E86F-15AA-BA5952C5FFBD}"/>
              </a:ext>
            </a:extLst>
          </p:cNvPr>
          <p:cNvSpPr>
            <a:spLocks noGrp="1"/>
          </p:cNvSpPr>
          <p:nvPr>
            <p:ph type="title"/>
          </p:nvPr>
        </p:nvSpPr>
        <p:spPr>
          <a:xfrm>
            <a:off x="838200" y="399677"/>
            <a:ext cx="10515600" cy="598699"/>
          </a:xfrm>
        </p:spPr>
        <p:txBody>
          <a:bodyPr>
            <a:normAutofit/>
          </a:bodyPr>
          <a:lstStyle/>
          <a:p>
            <a:r>
              <a:rPr lang="ru-RU" dirty="0"/>
              <a:t>18. Сформулируйте постулаты СТО Эйнштейна. Получите формулу для </a:t>
            </a:r>
            <a:r>
              <a:rPr lang="ru-RU" dirty="0" err="1"/>
              <a:t>Лоренцева</a:t>
            </a:r>
            <a:r>
              <a:rPr lang="ru-RU" dirty="0"/>
              <a:t> сокращения длины. </a:t>
            </a:r>
          </a:p>
        </p:txBody>
      </p:sp>
      <p:sp>
        <p:nvSpPr>
          <p:cNvPr id="3" name="Текст 2">
            <a:extLst>
              <a:ext uri="{FF2B5EF4-FFF2-40B4-BE49-F238E27FC236}">
                <a16:creationId xmlns:a16="http://schemas.microsoft.com/office/drawing/2014/main" id="{5279F07F-C02E-77BD-9F61-0AED32DC8305}"/>
              </a:ext>
            </a:extLst>
          </p:cNvPr>
          <p:cNvSpPr>
            <a:spLocks noGrp="1"/>
          </p:cNvSpPr>
          <p:nvPr>
            <p:ph type="body" sz="quarter" idx="13"/>
          </p:nvPr>
        </p:nvSpPr>
        <p:spPr>
          <a:xfrm>
            <a:off x="838200" y="998377"/>
            <a:ext cx="10515600" cy="2842103"/>
          </a:xfrm>
        </p:spPr>
        <p:txBody>
          <a:bodyPr/>
          <a:lstStyle/>
          <a:p>
            <a:r>
              <a:rPr lang="ru-RU" b="1" dirty="0"/>
              <a:t>Постулаты Эйнштейна</a:t>
            </a:r>
          </a:p>
          <a:p>
            <a:r>
              <a:rPr lang="en-US" dirty="0"/>
              <a:t>I. </a:t>
            </a:r>
            <a:r>
              <a:rPr lang="ru-RU" b="1" i="1" dirty="0"/>
              <a:t>Принцип относительности</a:t>
            </a:r>
            <a:r>
              <a:rPr lang="ru-RU" dirty="0"/>
              <a:t>. Все физические явления протекают одинаковым образом во всех инерциальных системах отсчёта</a:t>
            </a:r>
            <a:r>
              <a:rPr lang="en-US" dirty="0"/>
              <a:t>; </a:t>
            </a:r>
            <a:r>
              <a:rPr lang="ru-RU" dirty="0"/>
              <a:t>все законы природы и уравнения, их описывающие, инвариантны, т.е. не меняются, при переходе от одной ИСО к другой. Другими словами, все инерциальные системы отсчёта эквивалентны (неразличимы) по своим физическим свойствам</a:t>
            </a:r>
            <a:r>
              <a:rPr lang="en-US" dirty="0"/>
              <a:t>; </a:t>
            </a:r>
            <a:r>
              <a:rPr lang="ru-RU" dirty="0"/>
              <a:t>никакими опытами нельзя выделить одну из них как предпочтительную.</a:t>
            </a:r>
            <a:endParaRPr lang="en-US" dirty="0"/>
          </a:p>
          <a:p>
            <a:r>
              <a:rPr lang="en-US" dirty="0"/>
              <a:t>II. </a:t>
            </a:r>
            <a:r>
              <a:rPr lang="ru-RU" b="1" i="1" dirty="0"/>
              <a:t>Принцип</a:t>
            </a:r>
            <a:r>
              <a:rPr lang="en-US" b="1" i="1" dirty="0"/>
              <a:t> </a:t>
            </a:r>
            <a:r>
              <a:rPr lang="ru-RU" b="1" i="1" dirty="0"/>
              <a:t>инвариантности скорости света</a:t>
            </a:r>
            <a:r>
              <a:rPr lang="ru-RU" i="1" dirty="0"/>
              <a:t>. </a:t>
            </a:r>
            <a:r>
              <a:rPr lang="ru-RU" dirty="0"/>
              <a:t>Скорость света в вакууме не зависит от движения источника света и одинакова во всех направлениях. Это значит, что скорость света в вакууме одинакова во всех ИСО.</a:t>
            </a:r>
          </a:p>
        </p:txBody>
      </p:sp>
      <mc:AlternateContent xmlns:mc="http://schemas.openxmlformats.org/markup-compatibility/2006" xmlns:a14="http://schemas.microsoft.com/office/drawing/2010/main">
        <mc:Choice Requires="a14">
          <p:sp>
            <p:nvSpPr>
              <p:cNvPr id="4" name="Текст 2">
                <a:extLst>
                  <a:ext uri="{FF2B5EF4-FFF2-40B4-BE49-F238E27FC236}">
                    <a16:creationId xmlns:a16="http://schemas.microsoft.com/office/drawing/2014/main" id="{F381C99F-ED1B-F76E-8C00-8EBFC5FAFA89}"/>
                  </a:ext>
                </a:extLst>
              </p:cNvPr>
              <p:cNvSpPr txBox="1">
                <a:spLocks/>
              </p:cNvSpPr>
              <p:nvPr/>
            </p:nvSpPr>
            <p:spPr>
              <a:xfrm>
                <a:off x="838199" y="4099560"/>
                <a:ext cx="7998599" cy="258302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b="1" dirty="0"/>
                  <a:t>Равенство поперечных размеров тел.</a:t>
                </a:r>
              </a:p>
              <a:p>
                <a:r>
                  <a:rPr lang="ru-RU" dirty="0">
                    <a:effectLst/>
                  </a:rPr>
                  <a:t>В системе </a:t>
                </a:r>
                <a14:m>
                  <m:oMath xmlns:m="http://schemas.openxmlformats.org/officeDocument/2006/math">
                    <m:r>
                      <a:rPr lang="en-US" i="1" dirty="0" smtClean="0">
                        <a:effectLst/>
                        <a:latin typeface="Cambria Math" panose="02040503050406030204" pitchFamily="18" charset="0"/>
                      </a:rPr>
                      <m:t>𝐾</m:t>
                    </m:r>
                  </m:oMath>
                </a14:m>
                <a:r>
                  <a:rPr lang="en-US" dirty="0">
                    <a:effectLst/>
                  </a:rPr>
                  <a:t> </a:t>
                </a:r>
                <a:r>
                  <a:rPr lang="ru-RU" dirty="0">
                    <a:effectLst/>
                  </a:rPr>
                  <a:t>и </a:t>
                </a:r>
                <a14:m>
                  <m:oMath xmlns:m="http://schemas.openxmlformats.org/officeDocument/2006/math">
                    <m:r>
                      <a:rPr lang="en-US" i="1" dirty="0" smtClean="0">
                        <a:effectLst/>
                        <a:latin typeface="Cambria Math" panose="02040503050406030204" pitchFamily="18" charset="0"/>
                      </a:rPr>
                      <m:t>𝐾</m:t>
                    </m:r>
                    <m:r>
                      <a:rPr lang="en-US" i="1" dirty="0" smtClean="0">
                        <a:effectLst/>
                        <a:latin typeface="Cambria Math" panose="02040503050406030204" pitchFamily="18" charset="0"/>
                      </a:rPr>
                      <m:t>’</m:t>
                    </m:r>
                  </m:oMath>
                </a14:m>
                <a:r>
                  <a:rPr lang="en-US" dirty="0">
                    <a:effectLst/>
                  </a:rPr>
                  <a:t> </a:t>
                </a:r>
                <a:r>
                  <a:rPr lang="ru-RU" dirty="0">
                    <a:effectLst/>
                  </a:rPr>
                  <a:t>вдоль осей </a:t>
                </a:r>
                <a14:m>
                  <m:oMath xmlns:m="http://schemas.openxmlformats.org/officeDocument/2006/math">
                    <m:r>
                      <a:rPr lang="en-US" i="1" dirty="0" smtClean="0">
                        <a:effectLst/>
                        <a:latin typeface="Cambria Math" panose="02040503050406030204" pitchFamily="18" charset="0"/>
                      </a:rPr>
                      <m:t>𝑂𝑦</m:t>
                    </m:r>
                  </m:oMath>
                </a14:m>
                <a:r>
                  <a:rPr lang="en-US" dirty="0">
                    <a:effectLst/>
                  </a:rPr>
                  <a:t> </a:t>
                </a:r>
                <a:r>
                  <a:rPr lang="ru-RU" dirty="0">
                    <a:effectLst/>
                  </a:rPr>
                  <a:t>и </a:t>
                </a:r>
                <a14:m>
                  <m:oMath xmlns:m="http://schemas.openxmlformats.org/officeDocument/2006/math">
                    <m:r>
                      <a:rPr lang="en-US" i="1" dirty="0" smtClean="0">
                        <a:effectLst/>
                        <a:latin typeface="Cambria Math" panose="02040503050406030204" pitchFamily="18" charset="0"/>
                      </a:rPr>
                      <m:t>𝑂𝑦</m:t>
                    </m:r>
                    <m:r>
                      <a:rPr lang="en-US" i="1" dirty="0" smtClean="0">
                        <a:effectLst/>
                        <a:latin typeface="Cambria Math" panose="02040503050406030204" pitchFamily="18" charset="0"/>
                      </a:rPr>
                      <m:t>’</m:t>
                    </m:r>
                  </m:oMath>
                </a14:m>
                <a:r>
                  <a:rPr lang="en-US" dirty="0">
                    <a:effectLst/>
                  </a:rPr>
                  <a:t> </a:t>
                </a:r>
                <a:r>
                  <a:rPr lang="ru-RU" dirty="0">
                    <a:effectLst/>
                  </a:rPr>
                  <a:t>установлены стержни, являющиеся эталонами метра. В момент совпадения осей </a:t>
                </a:r>
                <a14:m>
                  <m:oMath xmlns:m="http://schemas.openxmlformats.org/officeDocument/2006/math">
                    <m:r>
                      <a:rPr lang="en-US" i="1" dirty="0" smtClean="0">
                        <a:effectLst/>
                        <a:latin typeface="Cambria Math" panose="02040503050406030204" pitchFamily="18" charset="0"/>
                      </a:rPr>
                      <m:t>𝑂𝑥</m:t>
                    </m:r>
                  </m:oMath>
                </a14:m>
                <a:r>
                  <a:rPr lang="en-US" dirty="0">
                    <a:effectLst/>
                  </a:rPr>
                  <a:t> </a:t>
                </a:r>
                <a:r>
                  <a:rPr lang="ru-RU" dirty="0">
                    <a:effectLst/>
                  </a:rPr>
                  <a:t>и </a:t>
                </a:r>
                <a14:m>
                  <m:oMath xmlns:m="http://schemas.openxmlformats.org/officeDocument/2006/math">
                    <m:r>
                      <a:rPr lang="en-US" i="1" dirty="0" smtClean="0">
                        <a:effectLst/>
                        <a:latin typeface="Cambria Math" panose="02040503050406030204" pitchFamily="18" charset="0"/>
                      </a:rPr>
                      <m:t>𝑂𝑥</m:t>
                    </m:r>
                    <m:r>
                      <a:rPr lang="en-US" i="1" dirty="0" smtClean="0">
                        <a:effectLst/>
                        <a:latin typeface="Cambria Math" panose="02040503050406030204" pitchFamily="18" charset="0"/>
                      </a:rPr>
                      <m:t>’</m:t>
                    </m:r>
                  </m:oMath>
                </a14:m>
                <a:r>
                  <a:rPr lang="en-US" dirty="0">
                    <a:effectLst/>
                  </a:rPr>
                  <a:t> </a:t>
                </a:r>
                <a:r>
                  <a:rPr lang="ru-RU" dirty="0">
                    <a:effectLst/>
                  </a:rPr>
                  <a:t>в соответствии с принципом относительности (нельзя отличить одну систему от другой) </a:t>
                </a:r>
                <a14:m>
                  <m:oMath xmlns:m="http://schemas.openxmlformats.org/officeDocument/2006/math">
                    <m:r>
                      <a:rPr lang="en-US" i="1" dirty="0" smtClean="0">
                        <a:effectLst/>
                        <a:latin typeface="Cambria Math" panose="02040503050406030204" pitchFamily="18" charset="0"/>
                      </a:rPr>
                      <m:t>𝑦</m:t>
                    </m:r>
                    <m:r>
                      <a:rPr lang="en-US" i="1" dirty="0" smtClean="0">
                        <a:effectLst/>
                        <a:latin typeface="Cambria Math" panose="02040503050406030204" pitchFamily="18" charset="0"/>
                      </a:rPr>
                      <m:t>=</m:t>
                    </m:r>
                    <m:r>
                      <a:rPr lang="en-US" i="1" dirty="0" smtClean="0">
                        <a:effectLst/>
                        <a:latin typeface="Cambria Math" panose="02040503050406030204" pitchFamily="18" charset="0"/>
                      </a:rPr>
                      <m:t>𝑦</m:t>
                    </m:r>
                    <m:r>
                      <a:rPr lang="en-US" i="1" dirty="0" smtClean="0">
                        <a:effectLst/>
                        <a:latin typeface="Cambria Math" panose="02040503050406030204" pitchFamily="18" charset="0"/>
                      </a:rPr>
                      <m:t>’</m:t>
                    </m:r>
                  </m:oMath>
                </a14:m>
                <a:r>
                  <a:rPr lang="en-US" dirty="0">
                    <a:effectLst/>
                  </a:rPr>
                  <a:t>.</a:t>
                </a:r>
                <a:endParaRPr lang="ru-RU" dirty="0">
                  <a:effectLst/>
                </a:endParaRPr>
              </a:p>
            </p:txBody>
          </p:sp>
        </mc:Choice>
        <mc:Fallback xmlns="">
          <p:sp>
            <p:nvSpPr>
              <p:cNvPr id="4" name="Текст 2">
                <a:extLst>
                  <a:ext uri="{FF2B5EF4-FFF2-40B4-BE49-F238E27FC236}">
                    <a16:creationId xmlns:a16="http://schemas.microsoft.com/office/drawing/2014/main" id="{F381C99F-ED1B-F76E-8C00-8EBFC5FAFA89}"/>
                  </a:ext>
                </a:extLst>
              </p:cNvPr>
              <p:cNvSpPr txBox="1">
                <a:spLocks noRot="1" noChangeAspect="1" noMove="1" noResize="1" noEditPoints="1" noAdjustHandles="1" noChangeArrowheads="1" noChangeShapeType="1" noTextEdit="1"/>
              </p:cNvSpPr>
              <p:nvPr/>
            </p:nvSpPr>
            <p:spPr>
              <a:xfrm>
                <a:off x="838199" y="4099560"/>
                <a:ext cx="7998599" cy="2583023"/>
              </a:xfrm>
              <a:prstGeom prst="rect">
                <a:avLst/>
              </a:prstGeom>
              <a:blipFill>
                <a:blip r:embed="rId2"/>
                <a:stretch>
                  <a:fillRect l="-609" t="-2364" r="-609"/>
                </a:stretch>
              </a:blipFill>
            </p:spPr>
            <p:txBody>
              <a:bodyPr/>
              <a:lstStyle/>
              <a:p>
                <a:r>
                  <a:rPr lang="ru-RU">
                    <a:noFill/>
                  </a:rPr>
                  <a:t> </a:t>
                </a:r>
              </a:p>
            </p:txBody>
          </p:sp>
        </mc:Fallback>
      </mc:AlternateContent>
      <p:pic>
        <p:nvPicPr>
          <p:cNvPr id="7" name="Рисунок 6">
            <a:extLst>
              <a:ext uri="{FF2B5EF4-FFF2-40B4-BE49-F238E27FC236}">
                <a16:creationId xmlns:a16="http://schemas.microsoft.com/office/drawing/2014/main" id="{83D3C7E9-7696-B50F-8266-698536E30397}"/>
              </a:ext>
            </a:extLst>
          </p:cNvPr>
          <p:cNvPicPr>
            <a:picLocks noChangeAspect="1"/>
          </p:cNvPicPr>
          <p:nvPr/>
        </p:nvPicPr>
        <p:blipFill>
          <a:blip r:embed="rId3"/>
          <a:srcRect l="776"/>
          <a:stretch>
            <a:fillRect/>
          </a:stretch>
        </p:blipFill>
        <p:spPr>
          <a:xfrm>
            <a:off x="8856345" y="3651158"/>
            <a:ext cx="2497456" cy="2807165"/>
          </a:xfrm>
          <a:prstGeom prst="rect">
            <a:avLst/>
          </a:prstGeom>
        </p:spPr>
      </p:pic>
    </p:spTree>
    <p:extLst>
      <p:ext uri="{BB962C8B-B14F-4D97-AF65-F5344CB8AC3E}">
        <p14:creationId xmlns:p14="http://schemas.microsoft.com/office/powerpoint/2010/main" val="23797219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CFC20-FF24-DDF2-9CAA-F2A1490200B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2D0810-6460-4A18-EF85-5359D0FFCBD6}"/>
              </a:ext>
            </a:extLst>
          </p:cNvPr>
          <p:cNvSpPr>
            <a:spLocks noGrp="1"/>
          </p:cNvSpPr>
          <p:nvPr>
            <p:ph type="title"/>
          </p:nvPr>
        </p:nvSpPr>
        <p:spPr>
          <a:xfrm>
            <a:off x="838200" y="399677"/>
            <a:ext cx="10515600" cy="598699"/>
          </a:xfrm>
        </p:spPr>
        <p:txBody>
          <a:bodyPr>
            <a:normAutofit/>
          </a:bodyPr>
          <a:lstStyle/>
          <a:p>
            <a:r>
              <a:rPr lang="ru-RU" dirty="0"/>
              <a:t>18. Сформулируйте постулаты СТО Эйнштейна. Получите формулу для </a:t>
            </a:r>
            <a:r>
              <a:rPr lang="ru-RU" dirty="0" err="1"/>
              <a:t>Лоренцева</a:t>
            </a:r>
            <a:r>
              <a:rPr lang="ru-RU" dirty="0"/>
              <a:t> сокращения длины. </a:t>
            </a:r>
          </a:p>
        </p:txBody>
      </p:sp>
      <p:pic>
        <p:nvPicPr>
          <p:cNvPr id="9" name="Рисунок 8">
            <a:extLst>
              <a:ext uri="{FF2B5EF4-FFF2-40B4-BE49-F238E27FC236}">
                <a16:creationId xmlns:a16="http://schemas.microsoft.com/office/drawing/2014/main" id="{0FCA529B-BF1B-390C-AB40-4D79FFAFA711}"/>
              </a:ext>
            </a:extLst>
          </p:cNvPr>
          <p:cNvPicPr>
            <a:picLocks noChangeAspect="1"/>
          </p:cNvPicPr>
          <p:nvPr/>
        </p:nvPicPr>
        <p:blipFill>
          <a:blip r:embed="rId2"/>
          <a:stretch>
            <a:fillRect/>
          </a:stretch>
        </p:blipFill>
        <p:spPr>
          <a:xfrm>
            <a:off x="2295525" y="998376"/>
            <a:ext cx="7600950" cy="5172075"/>
          </a:xfrm>
          <a:prstGeom prst="rect">
            <a:avLst/>
          </a:prstGeom>
        </p:spPr>
      </p:pic>
    </p:spTree>
    <p:extLst>
      <p:ext uri="{BB962C8B-B14F-4D97-AF65-F5344CB8AC3E}">
        <p14:creationId xmlns:p14="http://schemas.microsoft.com/office/powerpoint/2010/main" val="37718813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FA27B-091E-9C19-7631-848DADF5F13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2D4DA3-37D7-A38F-6393-324AB1D1C1B5}"/>
              </a:ext>
            </a:extLst>
          </p:cNvPr>
          <p:cNvSpPr>
            <a:spLocks noGrp="1"/>
          </p:cNvSpPr>
          <p:nvPr>
            <p:ph type="title"/>
          </p:nvPr>
        </p:nvSpPr>
        <p:spPr>
          <a:xfrm>
            <a:off x="838200" y="399677"/>
            <a:ext cx="10515600" cy="598699"/>
          </a:xfrm>
        </p:spPr>
        <p:txBody>
          <a:bodyPr>
            <a:normAutofit/>
          </a:bodyPr>
          <a:lstStyle/>
          <a:p>
            <a:r>
              <a:rPr lang="ru-RU" dirty="0"/>
              <a:t>19. Сформулируйте постулаты СТО Эйнштейна. Получите формулу для </a:t>
            </a:r>
            <a:r>
              <a:rPr lang="ru-RU" dirty="0" err="1"/>
              <a:t>Лоренцева</a:t>
            </a:r>
            <a:r>
              <a:rPr lang="ru-RU" dirty="0"/>
              <a:t> замедления времени. </a:t>
            </a:r>
          </a:p>
        </p:txBody>
      </p:sp>
      <p:pic>
        <p:nvPicPr>
          <p:cNvPr id="5" name="Рисунок 4">
            <a:extLst>
              <a:ext uri="{FF2B5EF4-FFF2-40B4-BE49-F238E27FC236}">
                <a16:creationId xmlns:a16="http://schemas.microsoft.com/office/drawing/2014/main" id="{ADD156B6-F999-F2CA-A36B-DBB6441A5D90}"/>
              </a:ext>
            </a:extLst>
          </p:cNvPr>
          <p:cNvPicPr>
            <a:picLocks noChangeAspect="1"/>
          </p:cNvPicPr>
          <p:nvPr/>
        </p:nvPicPr>
        <p:blipFill>
          <a:blip r:embed="rId2"/>
          <a:srcRect l="1686"/>
          <a:stretch>
            <a:fillRect/>
          </a:stretch>
        </p:blipFill>
        <p:spPr>
          <a:xfrm>
            <a:off x="2177759" y="998376"/>
            <a:ext cx="7836482" cy="5323900"/>
          </a:xfrm>
          <a:prstGeom prst="rect">
            <a:avLst/>
          </a:prstGeom>
        </p:spPr>
      </p:pic>
    </p:spTree>
    <p:extLst>
      <p:ext uri="{BB962C8B-B14F-4D97-AF65-F5344CB8AC3E}">
        <p14:creationId xmlns:p14="http://schemas.microsoft.com/office/powerpoint/2010/main" val="29620040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71192-A6A4-AA1E-D808-C9356A673C9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17AE46-0D62-1C40-73B9-D5FD144A4187}"/>
              </a:ext>
            </a:extLst>
          </p:cNvPr>
          <p:cNvSpPr>
            <a:spLocks noGrp="1"/>
          </p:cNvSpPr>
          <p:nvPr>
            <p:ph type="title"/>
          </p:nvPr>
        </p:nvSpPr>
        <p:spPr>
          <a:xfrm>
            <a:off x="838200" y="399677"/>
            <a:ext cx="10515600" cy="598699"/>
          </a:xfrm>
        </p:spPr>
        <p:txBody>
          <a:bodyPr>
            <a:normAutofit/>
          </a:bodyPr>
          <a:lstStyle/>
          <a:p>
            <a:r>
              <a:rPr lang="ru-RU" dirty="0"/>
              <a:t>19. Сформулируйте постулаты СТО Эйнштейна. Получите формулу для </a:t>
            </a:r>
            <a:r>
              <a:rPr lang="ru-RU" dirty="0" err="1"/>
              <a:t>Лоренцева</a:t>
            </a:r>
            <a:r>
              <a:rPr lang="ru-RU" dirty="0"/>
              <a:t> замедления времени. </a:t>
            </a:r>
          </a:p>
        </p:txBody>
      </p:sp>
      <p:pic>
        <p:nvPicPr>
          <p:cNvPr id="4" name="Рисунок 3">
            <a:extLst>
              <a:ext uri="{FF2B5EF4-FFF2-40B4-BE49-F238E27FC236}">
                <a16:creationId xmlns:a16="http://schemas.microsoft.com/office/drawing/2014/main" id="{D08C9B50-D6EA-83D0-1B15-88605B264C74}"/>
              </a:ext>
            </a:extLst>
          </p:cNvPr>
          <p:cNvPicPr>
            <a:picLocks noChangeAspect="1"/>
          </p:cNvPicPr>
          <p:nvPr/>
        </p:nvPicPr>
        <p:blipFill>
          <a:blip r:embed="rId2"/>
          <a:stretch>
            <a:fillRect/>
          </a:stretch>
        </p:blipFill>
        <p:spPr>
          <a:xfrm>
            <a:off x="2103727" y="998376"/>
            <a:ext cx="7984546" cy="5459947"/>
          </a:xfrm>
          <a:prstGeom prst="rect">
            <a:avLst/>
          </a:prstGeom>
        </p:spPr>
      </p:pic>
    </p:spTree>
    <p:extLst>
      <p:ext uri="{BB962C8B-B14F-4D97-AF65-F5344CB8AC3E}">
        <p14:creationId xmlns:p14="http://schemas.microsoft.com/office/powerpoint/2010/main" val="20606438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80E40-A487-0577-FB93-59DDA98A54C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3EACCB-5010-7D5E-19B5-623573EE163A}"/>
              </a:ext>
            </a:extLst>
          </p:cNvPr>
          <p:cNvSpPr>
            <a:spLocks noGrp="1"/>
          </p:cNvSpPr>
          <p:nvPr>
            <p:ph type="title"/>
          </p:nvPr>
        </p:nvSpPr>
        <p:spPr>
          <a:xfrm>
            <a:off x="838200" y="399677"/>
            <a:ext cx="10515600" cy="598699"/>
          </a:xfrm>
        </p:spPr>
        <p:txBody>
          <a:bodyPr>
            <a:normAutofit/>
          </a:bodyPr>
          <a:lstStyle/>
          <a:p>
            <a:r>
              <a:rPr lang="ru-RU" dirty="0"/>
              <a:t>20. Получите формулу для преобразования скоростей в СТО. Как эти уравнения согласуются с постулатами Эйнштейна?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B8802EE6-6168-4564-FCA4-820CECB01743}"/>
                  </a:ext>
                </a:extLst>
              </p:cNvPr>
              <p:cNvSpPr>
                <a:spLocks noGrp="1"/>
              </p:cNvSpPr>
              <p:nvPr>
                <p:ph type="body" sz="quarter" idx="13"/>
              </p:nvPr>
            </p:nvSpPr>
            <p:spPr>
              <a:xfrm>
                <a:off x="3700933" y="998377"/>
                <a:ext cx="7652866" cy="2075899"/>
              </a:xfrm>
            </p:spPr>
            <p:txBody>
              <a:bodyPr>
                <a:normAutofit lnSpcReduction="10000"/>
              </a:bodyPr>
              <a:lstStyle/>
              <a:p>
                <a:r>
                  <a:rPr lang="ru-RU" dirty="0"/>
                  <a:t>Система отсчёта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oMath>
                </a14:m>
                <a:r>
                  <a:rPr lang="en-US" dirty="0"/>
                  <a:t> </a:t>
                </a:r>
                <a:r>
                  <a:rPr lang="ru-RU" dirty="0"/>
                  <a:t>движется относительно системы отсчёта </a:t>
                </a:r>
                <a14:m>
                  <m:oMath xmlns:m="http://schemas.openxmlformats.org/officeDocument/2006/math">
                    <m:r>
                      <a:rPr lang="en-US" b="0" i="1" smtClean="0">
                        <a:latin typeface="Cambria Math" panose="02040503050406030204" pitchFamily="18" charset="0"/>
                      </a:rPr>
                      <m:t>𝐾</m:t>
                    </m:r>
                  </m:oMath>
                </a14:m>
                <a:r>
                  <a:rPr lang="en-US" dirty="0"/>
                  <a:t> </a:t>
                </a:r>
                <a:r>
                  <a:rPr lang="ru-RU" dirty="0"/>
                  <a:t>со скоростью </a:t>
                </a:r>
                <a14:m>
                  <m:oMath xmlns:m="http://schemas.openxmlformats.org/officeDocument/2006/math">
                    <m:r>
                      <a:rPr lang="en-US" b="0" i="1" smtClean="0">
                        <a:latin typeface="Cambria Math" panose="02040503050406030204" pitchFamily="18" charset="0"/>
                      </a:rPr>
                      <m:t>𝑉</m:t>
                    </m:r>
                  </m:oMath>
                </a14:m>
                <a:r>
                  <a:rPr lang="ru-RU" dirty="0"/>
                  <a:t>. За начало отсчёта времени в обеих системах отсчёта выбран момент, когда </a:t>
                </a:r>
                <a14:m>
                  <m:oMath xmlns:m="http://schemas.openxmlformats.org/officeDocument/2006/math">
                    <m:r>
                      <a:rPr lang="en-US" b="0" i="1" smtClean="0">
                        <a:latin typeface="Cambria Math" panose="02040503050406030204" pitchFamily="18" charset="0"/>
                      </a:rPr>
                      <m:t>𝑂</m:t>
                    </m:r>
                  </m:oMath>
                </a14:m>
                <a:r>
                  <a:rPr lang="en-US" dirty="0"/>
                  <a:t> </a:t>
                </a:r>
                <a:r>
                  <a:rPr lang="ru-RU" dirty="0"/>
                  <a:t>и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oMath>
                </a14:m>
                <a:r>
                  <a:rPr lang="en-US" dirty="0"/>
                  <a:t> </a:t>
                </a:r>
                <a:r>
                  <a:rPr lang="ru-RU" dirty="0"/>
                  <a:t>совпадают.</a:t>
                </a:r>
              </a:p>
              <a:p>
                <a:r>
                  <a:rPr lang="ru-RU" dirty="0"/>
                  <a:t>В </a:t>
                </a:r>
                <a14:m>
                  <m:oMath xmlns:m="http://schemas.openxmlformats.org/officeDocument/2006/math">
                    <m:r>
                      <a:rPr lang="en-US" i="1">
                        <a:latin typeface="Cambria Math" panose="02040503050406030204" pitchFamily="18" charset="0"/>
                      </a:rPr>
                      <m:t>𝐾</m:t>
                    </m:r>
                  </m:oMath>
                </a14:m>
                <a:r>
                  <a:rPr lang="ru-RU" dirty="0"/>
                  <a:t> системе отсчёта длина отрезка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𝑂</m:t>
                        </m:r>
                      </m:e>
                      <m:sup>
                        <m:r>
                          <a:rPr lang="en-US" b="0" i="1" smtClean="0">
                            <a:latin typeface="Cambria Math" panose="02040503050406030204" pitchFamily="18" charset="0"/>
                          </a:rPr>
                          <m:t>′</m:t>
                        </m:r>
                      </m:sup>
                    </m:sSup>
                    <m:r>
                      <a:rPr lang="en-US" b="0" i="1" smtClean="0">
                        <a:latin typeface="Cambria Math" panose="02040503050406030204" pitchFamily="18" charset="0"/>
                      </a:rPr>
                      <m:t>𝐴</m:t>
                    </m:r>
                  </m:oMath>
                </a14:m>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𝑉𝑡</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e>
                    </m:rad>
                  </m:oMath>
                </a14:m>
                <a:endParaRPr lang="en-US" dirty="0"/>
              </a:p>
              <a:p>
                <a:r>
                  <a:rPr lang="ru-RU" dirty="0"/>
                  <a:t>В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m:t>
                    </m:r>
                  </m:oMath>
                </a14:m>
                <a:r>
                  <a:rPr lang="ru-RU" dirty="0"/>
                  <a:t> системе отсчёта длина отрезка </a:t>
                </a:r>
                <a14:m>
                  <m:oMath xmlns:m="http://schemas.openxmlformats.org/officeDocument/2006/math">
                    <m:r>
                      <a:rPr lang="en-US" b="0" i="1" smtClean="0">
                        <a:latin typeface="Cambria Math" panose="02040503050406030204" pitchFamily="18" charset="0"/>
                      </a:rPr>
                      <m:t>𝑂𝐴</m:t>
                    </m:r>
                  </m:oMath>
                </a14:m>
                <a:r>
                  <a:rPr lang="en-US" dirty="0"/>
                  <a:t>: </a:t>
                </a:r>
                <a14:m>
                  <m:oMath xmlns:m="http://schemas.openxmlformats.org/officeDocument/2006/math">
                    <m:r>
                      <a:rPr lang="en-US" i="1">
                        <a:latin typeface="Cambria Math" panose="02040503050406030204" pitchFamily="18" charset="0"/>
                      </a:rPr>
                      <m:t>𝑥</m:t>
                    </m:r>
                    <m:r>
                      <a:rPr lang="en-US" b="0" i="1" smtClean="0">
                        <a:latin typeface="Cambria Math" panose="02040503050406030204" pitchFamily="18" charset="0"/>
                      </a:rPr>
                      <m:t>′+</m:t>
                    </m:r>
                    <m:r>
                      <a:rPr lang="en-US" i="1">
                        <a:latin typeface="Cambria Math" panose="02040503050406030204" pitchFamily="18" charset="0"/>
                      </a:rPr>
                      <m:t>𝑉𝑡</m:t>
                    </m:r>
                    <m:r>
                      <a:rPr lang="en-US" i="1">
                        <a:latin typeface="Cambria Math" panose="02040503050406030204" pitchFamily="18" charset="0"/>
                      </a:rPr>
                      <m:t>=</m:t>
                    </m:r>
                    <m:r>
                      <a:rPr lang="en-US" b="0" i="1" smtClean="0">
                        <a:latin typeface="Cambria Math" panose="02040503050406030204" pitchFamily="18" charset="0"/>
                      </a:rPr>
                      <m:t>𝑥</m:t>
                    </m:r>
                    <m:rad>
                      <m:radPr>
                        <m:degHide m:val="on"/>
                        <m:ctrlPr>
                          <a:rPr lang="en-US" i="1">
                            <a:latin typeface="Cambria Math" panose="02040503050406030204" pitchFamily="18" charset="0"/>
                          </a:rPr>
                        </m:ctrlPr>
                      </m:radPr>
                      <m:deg/>
                      <m:e>
                        <m:r>
                          <a:rPr lang="en-US" i="1">
                            <a:latin typeface="Cambria Math" panose="02040503050406030204" pitchFamily="18" charset="0"/>
                          </a:rPr>
                          <m:t>1−</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e>
                    </m:rad>
                  </m:oMath>
                </a14:m>
                <a:endParaRPr lang="ru-RU" dirty="0"/>
              </a:p>
            </p:txBody>
          </p:sp>
        </mc:Choice>
        <mc:Fallback xmlns="">
          <p:sp>
            <p:nvSpPr>
              <p:cNvPr id="3" name="Текст 2">
                <a:extLst>
                  <a:ext uri="{FF2B5EF4-FFF2-40B4-BE49-F238E27FC236}">
                    <a16:creationId xmlns:a16="http://schemas.microsoft.com/office/drawing/2014/main" id="{B8802EE6-6168-4564-FCA4-820CECB01743}"/>
                  </a:ext>
                </a:extLst>
              </p:cNvPr>
              <p:cNvSpPr>
                <a:spLocks noGrp="1" noRot="1" noChangeAspect="1" noMove="1" noResize="1" noEditPoints="1" noAdjustHandles="1" noChangeArrowheads="1" noChangeShapeType="1" noTextEdit="1"/>
              </p:cNvSpPr>
              <p:nvPr>
                <p:ph type="body" sz="quarter" idx="13"/>
              </p:nvPr>
            </p:nvSpPr>
            <p:spPr>
              <a:xfrm>
                <a:off x="3700933" y="998377"/>
                <a:ext cx="7652866" cy="2075899"/>
              </a:xfrm>
              <a:blipFill>
                <a:blip r:embed="rId2"/>
                <a:stretch>
                  <a:fillRect l="-637" t="-4118" r="-717"/>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07C00B6C-433A-EE35-CF78-44E4E253FD85}"/>
              </a:ext>
            </a:extLst>
          </p:cNvPr>
          <p:cNvPicPr>
            <a:picLocks noChangeAspect="1"/>
          </p:cNvPicPr>
          <p:nvPr/>
        </p:nvPicPr>
        <p:blipFill>
          <a:blip r:embed="rId3"/>
          <a:stretch>
            <a:fillRect/>
          </a:stretch>
        </p:blipFill>
        <p:spPr>
          <a:xfrm>
            <a:off x="838200" y="998376"/>
            <a:ext cx="2862733" cy="2075900"/>
          </a:xfrm>
          <a:prstGeom prst="rect">
            <a:avLst/>
          </a:prstGeom>
        </p:spPr>
      </p:pic>
      <p:sp>
        <p:nvSpPr>
          <p:cNvPr id="6" name="Текст 2">
            <a:extLst>
              <a:ext uri="{FF2B5EF4-FFF2-40B4-BE49-F238E27FC236}">
                <a16:creationId xmlns:a16="http://schemas.microsoft.com/office/drawing/2014/main" id="{3AD381AC-5108-2569-7643-43366BACD244}"/>
              </a:ext>
            </a:extLst>
          </p:cNvPr>
          <p:cNvSpPr txBox="1">
            <a:spLocks/>
          </p:cNvSpPr>
          <p:nvPr/>
        </p:nvSpPr>
        <p:spPr>
          <a:xfrm>
            <a:off x="838199" y="3074276"/>
            <a:ext cx="10515599" cy="3384047"/>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ru-RU" b="1" dirty="0"/>
          </a:p>
        </p:txBody>
      </p:sp>
      <mc:AlternateContent xmlns:mc="http://schemas.openxmlformats.org/markup-compatibility/2006" xmlns:a14="http://schemas.microsoft.com/office/drawing/2010/main">
        <mc:Choice Requires="a14">
          <p:sp>
            <p:nvSpPr>
              <p:cNvPr id="7" name="Текст 2">
                <a:extLst>
                  <a:ext uri="{FF2B5EF4-FFF2-40B4-BE49-F238E27FC236}">
                    <a16:creationId xmlns:a16="http://schemas.microsoft.com/office/drawing/2014/main" id="{6E5A8150-715C-6B7A-E1C8-5CCACA19E7EF}"/>
                  </a:ext>
                </a:extLst>
              </p:cNvPr>
              <p:cNvSpPr txBox="1">
                <a:spLocks/>
              </p:cNvSpPr>
              <p:nvPr/>
            </p:nvSpPr>
            <p:spPr>
              <a:xfrm>
                <a:off x="838202" y="3074276"/>
                <a:ext cx="2283370" cy="315310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𝑉𝑡</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rPr>
                                        <m:t>2</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𝑐</m:t>
                                      </m:r>
                                    </m:e>
                                    <m:sup>
                                      <m:r>
                                        <a:rPr lang="en-US" sz="2400" i="1">
                                          <a:latin typeface="Cambria Math" panose="02040503050406030204" pitchFamily="18" charset="0"/>
                                        </a:rPr>
                                        <m:t>2</m:t>
                                      </m:r>
                                    </m:sup>
                                  </m:sSup>
                                </m:den>
                              </m:f>
                            </m:e>
                          </m:rad>
                        </m:den>
                      </m:f>
                    </m:oMath>
                  </m:oMathPara>
                </a14:m>
                <a:endParaRPr lang="en-US" sz="2400" dirty="0"/>
              </a:p>
              <a:p>
                <a:pPr algn="l"/>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𝑦</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𝑦</m:t>
                      </m:r>
                    </m:oMath>
                  </m:oMathPara>
                </a14:m>
                <a:endParaRPr lang="en-US" sz="2400" dirty="0"/>
              </a:p>
              <a:p>
                <a:pPr algn="l"/>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𝑧</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𝑧</m:t>
                      </m:r>
                    </m:oMath>
                  </m:oMathPara>
                </a14:m>
                <a:endParaRPr lang="en-US" sz="2400" dirty="0"/>
              </a:p>
              <a:p>
                <a:pPr algn="l"/>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𝑡</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𝑥𝑉</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den>
                          </m:f>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rPr>
                                        <m:t>2</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𝑐</m:t>
                                      </m:r>
                                    </m:e>
                                    <m:sup>
                                      <m:r>
                                        <a:rPr lang="en-US" sz="2400" i="1">
                                          <a:latin typeface="Cambria Math" panose="02040503050406030204" pitchFamily="18" charset="0"/>
                                        </a:rPr>
                                        <m:t>2</m:t>
                                      </m:r>
                                    </m:sup>
                                  </m:sSup>
                                </m:den>
                              </m:f>
                            </m:e>
                          </m:rad>
                        </m:den>
                      </m:f>
                    </m:oMath>
                  </m:oMathPara>
                </a14:m>
                <a:endParaRPr lang="ru-RU" sz="2400" dirty="0"/>
              </a:p>
            </p:txBody>
          </p:sp>
        </mc:Choice>
        <mc:Fallback xmlns="">
          <p:sp>
            <p:nvSpPr>
              <p:cNvPr id="7" name="Текст 2">
                <a:extLst>
                  <a:ext uri="{FF2B5EF4-FFF2-40B4-BE49-F238E27FC236}">
                    <a16:creationId xmlns:a16="http://schemas.microsoft.com/office/drawing/2014/main" id="{6E5A8150-715C-6B7A-E1C8-5CCACA19E7EF}"/>
                  </a:ext>
                </a:extLst>
              </p:cNvPr>
              <p:cNvSpPr txBox="1">
                <a:spLocks noRot="1" noChangeAspect="1" noMove="1" noResize="1" noEditPoints="1" noAdjustHandles="1" noChangeArrowheads="1" noChangeShapeType="1" noTextEdit="1"/>
              </p:cNvSpPr>
              <p:nvPr/>
            </p:nvSpPr>
            <p:spPr>
              <a:xfrm>
                <a:off x="838202" y="3074276"/>
                <a:ext cx="2283370" cy="3153103"/>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Текст 2">
                <a:extLst>
                  <a:ext uri="{FF2B5EF4-FFF2-40B4-BE49-F238E27FC236}">
                    <a16:creationId xmlns:a16="http://schemas.microsoft.com/office/drawing/2014/main" id="{C3237B7B-175C-D12A-ABBA-A24E0D8C4D64}"/>
                  </a:ext>
                </a:extLst>
              </p:cNvPr>
              <p:cNvSpPr txBox="1">
                <a:spLocks/>
              </p:cNvSpPr>
              <p:nvPr/>
            </p:nvSpPr>
            <p:spPr>
              <a:xfrm>
                <a:off x="3121572" y="3074275"/>
                <a:ext cx="2283370" cy="315310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𝑉</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𝑡</m:t>
                              </m:r>
                            </m:e>
                            <m:sup>
                              <m:r>
                                <a:rPr lang="en-US" sz="2400" b="0" i="1" smtClean="0">
                                  <a:latin typeface="Cambria Math" panose="02040503050406030204" pitchFamily="18" charset="0"/>
                                </a:rPr>
                                <m:t>′</m:t>
                              </m:r>
                            </m:sup>
                          </m:sSup>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rPr>
                                        <m:t>2</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𝑐</m:t>
                                      </m:r>
                                    </m:e>
                                    <m:sup>
                                      <m:r>
                                        <a:rPr lang="en-US" sz="2400" i="1">
                                          <a:latin typeface="Cambria Math" panose="02040503050406030204" pitchFamily="18" charset="0"/>
                                        </a:rPr>
                                        <m:t>2</m:t>
                                      </m:r>
                                    </m:sup>
                                  </m:sSup>
                                </m:den>
                              </m:f>
                            </m:e>
                          </m:rad>
                        </m:den>
                      </m:f>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𝑦</m:t>
                      </m:r>
                      <m:r>
                        <a:rPr lang="en-US" sz="2400" b="0" i="1" smtClean="0">
                          <a:latin typeface="Cambria Math" panose="02040503050406030204" pitchFamily="18" charset="0"/>
                        </a:rPr>
                        <m:t>′</m:t>
                      </m:r>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𝑧</m:t>
                          </m:r>
                        </m:e>
                        <m:sup>
                          <m:r>
                            <a:rPr lang="en-US" sz="2400" b="0" i="1" smtClean="0">
                              <a:latin typeface="Cambria Math" panose="02040503050406030204" pitchFamily="18" charset="0"/>
                            </a:rPr>
                            <m:t>′</m:t>
                          </m:r>
                        </m:sup>
                      </m:sSup>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𝑡</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𝑉</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den>
                          </m:f>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𝑉</m:t>
                                      </m:r>
                                    </m:e>
                                    <m:sup>
                                      <m:r>
                                        <a:rPr lang="en-US" sz="2400" i="1">
                                          <a:latin typeface="Cambria Math" panose="02040503050406030204" pitchFamily="18" charset="0"/>
                                        </a:rPr>
                                        <m:t>2</m:t>
                                      </m:r>
                                    </m:sup>
                                  </m:sSup>
                                </m:num>
                                <m:den>
                                  <m:sSup>
                                    <m:sSupPr>
                                      <m:ctrlPr>
                                        <a:rPr lang="en-US" sz="2400" i="1">
                                          <a:latin typeface="Cambria Math" panose="02040503050406030204" pitchFamily="18" charset="0"/>
                                        </a:rPr>
                                      </m:ctrlPr>
                                    </m:sSupPr>
                                    <m:e>
                                      <m:r>
                                        <a:rPr lang="en-US" sz="2400" i="1">
                                          <a:latin typeface="Cambria Math" panose="02040503050406030204" pitchFamily="18" charset="0"/>
                                        </a:rPr>
                                        <m:t>𝑐</m:t>
                                      </m:r>
                                    </m:e>
                                    <m:sup>
                                      <m:r>
                                        <a:rPr lang="en-US" sz="2400" i="1">
                                          <a:latin typeface="Cambria Math" panose="02040503050406030204" pitchFamily="18" charset="0"/>
                                        </a:rPr>
                                        <m:t>2</m:t>
                                      </m:r>
                                    </m:sup>
                                  </m:sSup>
                                </m:den>
                              </m:f>
                            </m:e>
                          </m:rad>
                        </m:den>
                      </m:f>
                    </m:oMath>
                  </m:oMathPara>
                </a14:m>
                <a:endParaRPr lang="ru-RU" sz="2400" dirty="0"/>
              </a:p>
            </p:txBody>
          </p:sp>
        </mc:Choice>
        <mc:Fallback xmlns="">
          <p:sp>
            <p:nvSpPr>
              <p:cNvPr id="8" name="Текст 2">
                <a:extLst>
                  <a:ext uri="{FF2B5EF4-FFF2-40B4-BE49-F238E27FC236}">
                    <a16:creationId xmlns:a16="http://schemas.microsoft.com/office/drawing/2014/main" id="{C3237B7B-175C-D12A-ABBA-A24E0D8C4D64}"/>
                  </a:ext>
                </a:extLst>
              </p:cNvPr>
              <p:cNvSpPr txBox="1">
                <a:spLocks noRot="1" noChangeAspect="1" noMove="1" noResize="1" noEditPoints="1" noAdjustHandles="1" noChangeArrowheads="1" noChangeShapeType="1" noTextEdit="1"/>
              </p:cNvSpPr>
              <p:nvPr/>
            </p:nvSpPr>
            <p:spPr>
              <a:xfrm>
                <a:off x="3121572" y="3074275"/>
                <a:ext cx="2283370" cy="3153103"/>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9" name="Текст 2">
                <a:extLst>
                  <a:ext uri="{FF2B5EF4-FFF2-40B4-BE49-F238E27FC236}">
                    <a16:creationId xmlns:a16="http://schemas.microsoft.com/office/drawing/2014/main" id="{EE8D517F-3037-D4BC-0653-3AF79F88BC5B}"/>
                  </a:ext>
                </a:extLst>
              </p:cNvPr>
              <p:cNvSpPr txBox="1">
                <a:spLocks/>
              </p:cNvSpPr>
              <p:nvPr/>
            </p:nvSpPr>
            <p:spPr>
              <a:xfrm>
                <a:off x="5404942" y="3074274"/>
                <a:ext cx="5948856" cy="315310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Из преобразований Лоренца видно, что в теории относительности можно говорить об </a:t>
                </a:r>
                <a:r>
                  <a:rPr lang="ru-RU" i="1" dirty="0"/>
                  <a:t>определённом моменте времени </a:t>
                </a:r>
                <a:r>
                  <a:rPr lang="ru-RU" dirty="0"/>
                  <a:t>лишь применительно к какой-либо ИСО. Так, например, одному моменту времени в СО </a:t>
                </a:r>
                <a14:m>
                  <m:oMath xmlns:m="http://schemas.openxmlformats.org/officeDocument/2006/math">
                    <m:r>
                      <a:rPr lang="en-US" i="1">
                        <a:latin typeface="Cambria Math" panose="02040503050406030204" pitchFamily="18" charset="0"/>
                      </a:rPr>
                      <m:t>𝐾</m:t>
                    </m:r>
                  </m:oMath>
                </a14:m>
                <a:r>
                  <a:rPr lang="ru-RU" i="1" dirty="0"/>
                  <a:t> </a:t>
                </a:r>
                <a:r>
                  <a:rPr lang="ru-RU" dirty="0"/>
                  <a:t>(одному определённому значению времени </a:t>
                </a:r>
                <a14:m>
                  <m:oMath xmlns:m="http://schemas.openxmlformats.org/officeDocument/2006/math">
                    <m:r>
                      <a:rPr lang="en-US" b="0" i="1" smtClean="0">
                        <a:latin typeface="Cambria Math" panose="02040503050406030204" pitchFamily="18" charset="0"/>
                      </a:rPr>
                      <m:t>𝑡</m:t>
                    </m:r>
                  </m:oMath>
                </a14:m>
                <a:r>
                  <a:rPr lang="en-US" dirty="0"/>
                  <a:t> </a:t>
                </a:r>
                <a:r>
                  <a:rPr lang="ru-RU" dirty="0"/>
                  <a:t>в этой системе) соответствует множество значений времени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m:t>
                        </m:r>
                      </m:sup>
                    </m:sSup>
                  </m:oMath>
                </a14:m>
                <a:r>
                  <a:rPr lang="en-US" i="1" dirty="0"/>
                  <a:t> </a:t>
                </a:r>
                <a:r>
                  <a:rPr lang="ru-RU" dirty="0"/>
                  <a:t>в СО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m:t>
                    </m:r>
                  </m:oMath>
                </a14:m>
                <a:r>
                  <a:rPr lang="en-US" dirty="0"/>
                  <a:t> </a:t>
                </a:r>
                <a:r>
                  <a:rPr lang="ru-RU" dirty="0"/>
                  <a:t>в зависимости от значений координаты </a:t>
                </a:r>
                <a14:m>
                  <m:oMath xmlns:m="http://schemas.openxmlformats.org/officeDocument/2006/math">
                    <m:r>
                      <a:rPr lang="en-US" b="0" i="1" smtClean="0">
                        <a:latin typeface="Cambria Math" panose="02040503050406030204" pitchFamily="18" charset="0"/>
                      </a:rPr>
                      <m:t>𝑥</m:t>
                    </m:r>
                  </m:oMath>
                </a14:m>
                <a:r>
                  <a:rPr lang="en-US" dirty="0"/>
                  <a:t>.</a:t>
                </a:r>
                <a:endParaRPr lang="ru-RU" dirty="0"/>
              </a:p>
            </p:txBody>
          </p:sp>
        </mc:Choice>
        <mc:Fallback xmlns="">
          <p:sp>
            <p:nvSpPr>
              <p:cNvPr id="9" name="Текст 2">
                <a:extLst>
                  <a:ext uri="{FF2B5EF4-FFF2-40B4-BE49-F238E27FC236}">
                    <a16:creationId xmlns:a16="http://schemas.microsoft.com/office/drawing/2014/main" id="{EE8D517F-3037-D4BC-0653-3AF79F88BC5B}"/>
                  </a:ext>
                </a:extLst>
              </p:cNvPr>
              <p:cNvSpPr txBox="1">
                <a:spLocks noRot="1" noChangeAspect="1" noMove="1" noResize="1" noEditPoints="1" noAdjustHandles="1" noChangeArrowheads="1" noChangeShapeType="1" noTextEdit="1"/>
              </p:cNvSpPr>
              <p:nvPr/>
            </p:nvSpPr>
            <p:spPr>
              <a:xfrm>
                <a:off x="5404942" y="3074274"/>
                <a:ext cx="5948856" cy="3153103"/>
              </a:xfrm>
              <a:prstGeom prst="rect">
                <a:avLst/>
              </a:prstGeom>
              <a:blipFill>
                <a:blip r:embed="rId6"/>
                <a:stretch>
                  <a:fillRect l="-923" t="-1737" r="-923"/>
                </a:stretch>
              </a:blipFill>
            </p:spPr>
            <p:txBody>
              <a:bodyPr/>
              <a:lstStyle/>
              <a:p>
                <a:r>
                  <a:rPr lang="ru-RU">
                    <a:noFill/>
                  </a:rPr>
                  <a:t> </a:t>
                </a:r>
              </a:p>
            </p:txBody>
          </p:sp>
        </mc:Fallback>
      </mc:AlternateContent>
    </p:spTree>
    <p:extLst>
      <p:ext uri="{BB962C8B-B14F-4D97-AF65-F5344CB8AC3E}">
        <p14:creationId xmlns:p14="http://schemas.microsoft.com/office/powerpoint/2010/main" val="25620416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4BD1A-AB63-8CB4-9FDF-24BA68CF34A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F6F8B7-5521-DCB3-36A2-7607CB3E9E84}"/>
              </a:ext>
            </a:extLst>
          </p:cNvPr>
          <p:cNvSpPr>
            <a:spLocks noGrp="1"/>
          </p:cNvSpPr>
          <p:nvPr>
            <p:ph type="title"/>
          </p:nvPr>
        </p:nvSpPr>
        <p:spPr>
          <a:xfrm>
            <a:off x="838200" y="399677"/>
            <a:ext cx="10515600" cy="598699"/>
          </a:xfrm>
        </p:spPr>
        <p:txBody>
          <a:bodyPr>
            <a:normAutofit/>
          </a:bodyPr>
          <a:lstStyle/>
          <a:p>
            <a:r>
              <a:rPr lang="ru-RU" dirty="0"/>
              <a:t>20. Получите формулу для преобразования скоростей в СТО. Как эти уравнения согласуются с постулатами Эйнштейна?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99D4AA2B-81BC-9E3C-A2E4-EAD5832A988A}"/>
                  </a:ext>
                </a:extLst>
              </p:cNvPr>
              <p:cNvSpPr>
                <a:spLocks noGrp="1"/>
              </p:cNvSpPr>
              <p:nvPr>
                <p:ph type="body" sz="quarter" idx="13"/>
              </p:nvPr>
            </p:nvSpPr>
            <p:spPr>
              <a:xfrm>
                <a:off x="3700933" y="998376"/>
                <a:ext cx="7652866" cy="5859623"/>
              </a:xfrm>
            </p:spPr>
            <p:txBody>
              <a:bodyPr>
                <a:normAutofit/>
              </a:bodyPr>
              <a:lstStyle/>
              <a:p>
                <a:r>
                  <a:rPr lang="ru-RU" dirty="0"/>
                  <a:t>Преобразования скорости при переходе </a:t>
                </a:r>
                <a:r>
                  <a:rPr lang="ru-RU" b="1" dirty="0"/>
                  <a:t>из </a:t>
                </a:r>
                <a14:m>
                  <m:oMath xmlns:m="http://schemas.openxmlformats.org/officeDocument/2006/math">
                    <m:r>
                      <a:rPr lang="en-US" b="1" i="1" dirty="0" smtClean="0">
                        <a:latin typeface="Cambria Math" panose="02040503050406030204" pitchFamily="18" charset="0"/>
                      </a:rPr>
                      <m:t>𝑲</m:t>
                    </m:r>
                  </m:oMath>
                </a14:m>
                <a:r>
                  <a:rPr lang="en-US" b="1" dirty="0"/>
                  <a:t> </a:t>
                </a:r>
                <a:r>
                  <a:rPr lang="ru-RU" b="1" dirty="0"/>
                  <a:t>в </a:t>
                </a:r>
                <a14:m>
                  <m:oMath xmlns:m="http://schemas.openxmlformats.org/officeDocument/2006/math">
                    <m:r>
                      <a:rPr lang="en-US" b="1" i="1" dirty="0" smtClean="0">
                        <a:latin typeface="Cambria Math" panose="02040503050406030204" pitchFamily="18" charset="0"/>
                      </a:rPr>
                      <m:t>𝑲</m:t>
                    </m:r>
                    <m:r>
                      <a:rPr lang="en-US" b="1" i="1" dirty="0" smtClean="0">
                        <a:latin typeface="Cambria Math" panose="02040503050406030204" pitchFamily="18" charset="0"/>
                      </a:rPr>
                      <m:t>’</m:t>
                    </m:r>
                  </m:oMath>
                </a14:m>
                <a:r>
                  <a:rPr lang="en-US" b="1" dirty="0"/>
                  <a:t>.</a:t>
                </a:r>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𝑥</m:t>
                          </m:r>
                        </m:sub>
                        <m:sup>
                          <m:r>
                            <a:rPr lang="en-US" b="0" i="1" smtClean="0">
                              <a:latin typeface="Cambria Math" panose="02040503050406030204" pitchFamily="18" charset="0"/>
                            </a:rPr>
                            <m:t>′</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𝑑𝑥</m:t>
                          </m:r>
                          <m:r>
                            <a:rPr lang="en-US" b="0" i="1" smtClean="0">
                              <a:latin typeface="Cambria Math" panose="02040503050406030204" pitchFamily="18" charset="0"/>
                            </a:rPr>
                            <m:t>′</m:t>
                          </m:r>
                        </m:num>
                        <m:den>
                          <m:r>
                            <a:rPr lang="en-US" b="0" i="1" smtClean="0">
                              <a:latin typeface="Cambria Math" panose="02040503050406030204" pitchFamily="18" charset="0"/>
                            </a:rPr>
                            <m:t>𝑑𝑡</m:t>
                          </m:r>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𝑑𝑡</m:t>
                          </m:r>
                        </m:num>
                        <m:den>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𝑉</m:t>
                          </m:r>
                        </m:num>
                        <m:den>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r>
                                <a:rPr lang="en-US" b="0" i="1" smtClean="0">
                                  <a:latin typeface="Cambria Math" panose="02040503050406030204" pitchFamily="18" charset="0"/>
                                </a:rPr>
                                <m:t>𝑉</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den>
                      </m:f>
                    </m:oMath>
                  </m:oMathPara>
                </a14:m>
                <a:endParaRPr lang="ru-RU" dirty="0"/>
              </a:p>
              <a:p>
                <a:r>
                  <a:rPr lang="ru-RU" dirty="0"/>
                  <a:t>Отсюда для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m:t>
                        </m:r>
                      </m:sup>
                    </m:sSubSup>
                  </m:oMath>
                </a14:m>
                <a:r>
                  <a:rPr lang="ru-RU" dirty="0"/>
                  <a:t> (и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b="0" i="1" smtClean="0">
                            <a:latin typeface="Cambria Math" panose="02040503050406030204" pitchFamily="18" charset="0"/>
                          </a:rPr>
                          <m:t>𝑧</m:t>
                        </m:r>
                      </m:sub>
                      <m:sup>
                        <m:r>
                          <a:rPr lang="en-US" i="1">
                            <a:latin typeface="Cambria Math" panose="02040503050406030204" pitchFamily="18" charset="0"/>
                          </a:rPr>
                          <m:t>′</m:t>
                        </m:r>
                      </m:sup>
                    </m:sSubSup>
                  </m:oMath>
                </a14:m>
                <a:r>
                  <a:rPr lang="en-US" dirty="0"/>
                  <a:t> </a:t>
                </a:r>
                <a:r>
                  <a:rPr lang="ru-RU" dirty="0"/>
                  <a:t>аналогично)</a:t>
                </a:r>
                <a:r>
                  <a:rPr lang="en-US" dirty="0"/>
                  <a:t>:</a:t>
                </a:r>
              </a:p>
              <a:p>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b="0" i="1" smtClean="0">
                              <a:latin typeface="Cambria Math" panose="02040503050406030204" pitchFamily="18" charset="0"/>
                            </a:rPr>
                            <m:t>𝑦</m:t>
                          </m:r>
                        </m:sub>
                        <m:sup>
                          <m:r>
                            <a:rPr lang="en-US" i="1">
                              <a:latin typeface="Cambria Math" panose="02040503050406030204" pitchFamily="18" charset="0"/>
                            </a:rPr>
                            <m:t>′</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𝑦</m:t>
                          </m:r>
                          <m:r>
                            <a:rPr lang="en-US" i="1">
                              <a:latin typeface="Cambria Math" panose="02040503050406030204" pitchFamily="18" charset="0"/>
                            </a:rPr>
                            <m:t>′</m:t>
                          </m:r>
                        </m:num>
                        <m:den>
                          <m:r>
                            <a:rPr lang="en-US" i="1">
                              <a:latin typeface="Cambria Math" panose="02040503050406030204" pitchFamily="18" charset="0"/>
                            </a:rPr>
                            <m:t>𝑑𝑡</m:t>
                          </m:r>
                          <m:r>
                            <a:rPr lang="en-US" i="1">
                              <a:latin typeface="Cambria Math" panose="02040503050406030204" pitchFamily="18" charset="0"/>
                            </a:rPr>
                            <m:t>′</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sSup>
                            <m:sSupPr>
                              <m:ctrlPr>
                                <a:rPr lang="en-US" i="1">
                                  <a:latin typeface="Cambria Math" panose="02040503050406030204" pitchFamily="18" charset="0"/>
                                </a:rPr>
                              </m:ctrlPr>
                            </m:sSupPr>
                            <m:e>
                              <m:r>
                                <a:rPr lang="en-US" b="0" i="1" smtClean="0">
                                  <a:latin typeface="Cambria Math" panose="02040503050406030204" pitchFamily="18" charset="0"/>
                                </a:rPr>
                                <m:t>𝑦</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𝑑𝑡</m:t>
                          </m:r>
                        </m:num>
                        <m:den>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𝑑𝑡</m:t>
                          </m:r>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𝑦</m:t>
                              </m:r>
                            </m:sub>
                          </m:sSub>
                          <m:rad>
                            <m:radPr>
                              <m:degHide m:val="on"/>
                              <m:ctrlPr>
                                <a:rPr lang="en-US" i="1">
                                  <a:latin typeface="Cambria Math" panose="02040503050406030204" pitchFamily="18" charset="0"/>
                                </a:rPr>
                              </m:ctrlPr>
                            </m:radPr>
                            <m:deg/>
                            <m:e>
                              <m:r>
                                <a:rPr lang="en-US" i="1">
                                  <a:latin typeface="Cambria Math" panose="02040503050406030204" pitchFamily="18" charset="0"/>
                                </a:rPr>
                                <m:t>1−</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e>
                          </m:rad>
                        </m:num>
                        <m:den>
                          <m:r>
                            <a:rPr lang="en-US" i="1">
                              <a:latin typeface="Cambria Math" panose="02040503050406030204" pitchFamily="18" charset="0"/>
                            </a:rPr>
                            <m:t>1−</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𝑥</m:t>
                                  </m:r>
                                </m:sub>
                              </m:sSub>
                              <m:r>
                                <a:rPr lang="en-US" i="1">
                                  <a:latin typeface="Cambria Math" panose="02040503050406030204" pitchFamily="18" charset="0"/>
                                </a:rPr>
                                <m:t>𝑉</m:t>
                              </m:r>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den>
                      </m:f>
                    </m:oMath>
                  </m:oMathPara>
                </a14:m>
                <a:endParaRPr lang="ru-RU" dirty="0"/>
              </a:p>
              <a:p>
                <a:r>
                  <a:rPr lang="ru-RU" dirty="0"/>
                  <a:t>Преобразования скорости при переходе </a:t>
                </a:r>
                <a:r>
                  <a:rPr lang="ru-RU" b="1" dirty="0"/>
                  <a:t>из </a:t>
                </a:r>
                <a14:m>
                  <m:oMath xmlns:m="http://schemas.openxmlformats.org/officeDocument/2006/math">
                    <m:r>
                      <a:rPr lang="en-US" b="1" i="1" dirty="0">
                        <a:latin typeface="Cambria Math" panose="02040503050406030204" pitchFamily="18" charset="0"/>
                      </a:rPr>
                      <m:t>𝑲</m:t>
                    </m:r>
                    <m:r>
                      <a:rPr lang="en-US" b="1" i="1" dirty="0" smtClean="0">
                        <a:latin typeface="Cambria Math" panose="02040503050406030204" pitchFamily="18" charset="0"/>
                      </a:rPr>
                      <m:t>′</m:t>
                    </m:r>
                  </m:oMath>
                </a14:m>
                <a:r>
                  <a:rPr lang="en-US" b="1" dirty="0"/>
                  <a:t> </a:t>
                </a:r>
                <a:r>
                  <a:rPr lang="ru-RU" b="1" dirty="0"/>
                  <a:t>в </a:t>
                </a:r>
                <a14:m>
                  <m:oMath xmlns:m="http://schemas.openxmlformats.org/officeDocument/2006/math">
                    <m:r>
                      <a:rPr lang="en-US" b="1" i="1" smtClean="0">
                        <a:latin typeface="Cambria Math" panose="02040503050406030204" pitchFamily="18" charset="0"/>
                      </a:rPr>
                      <m:t>𝑲</m:t>
                    </m:r>
                  </m:oMath>
                </a14:m>
                <a:r>
                  <a:rPr lang="en-US" b="1" dirty="0"/>
                  <a:t>.</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𝑥</m:t>
                          </m:r>
                        </m:num>
                        <m:den>
                          <m:r>
                            <a:rPr lang="en-US" i="1">
                              <a:latin typeface="Cambria Math" panose="02040503050406030204" pitchFamily="18" charset="0"/>
                            </a:rPr>
                            <m:t>𝑑𝑡</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𝑑𝑡</m:t>
                          </m:r>
                          <m:r>
                            <a:rPr lang="en-US" b="0" i="1" smtClean="0">
                              <a:latin typeface="Cambria Math" panose="02040503050406030204" pitchFamily="18" charset="0"/>
                            </a:rPr>
                            <m:t>′</m:t>
                          </m:r>
                        </m:num>
                        <m:den>
                          <m:r>
                            <a:rPr lang="en-US" i="1">
                              <a:latin typeface="Cambria Math" panose="02040503050406030204" pitchFamily="18" charset="0"/>
                            </a:rPr>
                            <m:t>𝑑</m:t>
                          </m:r>
                          <m:r>
                            <a:rPr lang="en-US" b="0" i="1" smtClean="0">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r>
                            <a:rPr lang="en-US" b="0" i="1" smtClean="0">
                              <a:latin typeface="Cambria Math" panose="02040503050406030204" pitchFamily="18" charset="0"/>
                            </a:rPr>
                            <m:t>′</m:t>
                          </m:r>
                        </m:den>
                      </m:f>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b="0" i="1" smtClean="0">
                                  <a:latin typeface="Cambria Math" panose="02040503050406030204" pitchFamily="18" charset="0"/>
                                </a:rPr>
                                <m:t>′</m:t>
                              </m:r>
                            </m:sup>
                          </m:sSubSup>
                          <m:r>
                            <a:rPr lang="en-US" b="0" i="1" smtClean="0">
                              <a:latin typeface="Cambria Math" panose="02040503050406030204" pitchFamily="18" charset="0"/>
                            </a:rPr>
                            <m:t>+</m:t>
                          </m:r>
                          <m:r>
                            <a:rPr lang="en-US" i="1">
                              <a:latin typeface="Cambria Math" panose="02040503050406030204" pitchFamily="18" charset="0"/>
                            </a:rPr>
                            <m:t>𝑉</m:t>
                          </m:r>
                        </m:num>
                        <m:den>
                          <m:r>
                            <a:rPr lang="en-US" i="1">
                              <a:latin typeface="Cambria Math" panose="02040503050406030204" pitchFamily="18" charset="0"/>
                            </a:rPr>
                            <m:t>1</m:t>
                          </m:r>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𝑥</m:t>
                                  </m:r>
                                </m:sub>
                              </m:sSub>
                              <m:r>
                                <a:rPr lang="en-US" i="1">
                                  <a:latin typeface="Cambria Math" panose="02040503050406030204" pitchFamily="18" charset="0"/>
                                </a:rPr>
                                <m:t>𝑉</m:t>
                              </m:r>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den>
                      </m:f>
                    </m:oMath>
                  </m:oMathPara>
                </a14:m>
                <a:endParaRPr lang="en-US" dirty="0"/>
              </a:p>
              <a:p>
                <a:r>
                  <a:rPr lang="ru-RU" dirty="0"/>
                  <a:t>Отсюда для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m:t>
                        </m:r>
                      </m:sup>
                    </m:sSubSup>
                  </m:oMath>
                </a14:m>
                <a:r>
                  <a:rPr lang="ru-RU" dirty="0"/>
                  <a:t> (и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𝑧</m:t>
                        </m:r>
                      </m:sub>
                      <m:sup>
                        <m:r>
                          <a:rPr lang="en-US" i="1">
                            <a:latin typeface="Cambria Math" panose="02040503050406030204" pitchFamily="18" charset="0"/>
                          </a:rPr>
                          <m:t>′</m:t>
                        </m:r>
                      </m:sup>
                    </m:sSubSup>
                  </m:oMath>
                </a14:m>
                <a:r>
                  <a:rPr lang="en-US" dirty="0"/>
                  <a:t> </a:t>
                </a:r>
                <a:r>
                  <a:rPr lang="ru-RU" dirty="0"/>
                  <a:t>аналогично)</a:t>
                </a:r>
                <a:r>
                  <a:rPr lang="en-US" dirty="0"/>
                  <a:t>:</a:t>
                </a:r>
              </a:p>
              <a:p>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𝑑𝑦</m:t>
                          </m:r>
                        </m:num>
                        <m:den>
                          <m:r>
                            <a:rPr lang="en-US" i="1">
                              <a:latin typeface="Cambria Math" panose="02040503050406030204" pitchFamily="18" charset="0"/>
                            </a:rPr>
                            <m:t>𝑑𝑡</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𝑑𝑡</m:t>
                          </m:r>
                          <m:r>
                            <a:rPr lang="en-US" b="0" i="1" smtClean="0">
                              <a:latin typeface="Cambria Math" panose="02040503050406030204" pitchFamily="18" charset="0"/>
                            </a:rPr>
                            <m:t>′</m:t>
                          </m:r>
                        </m:num>
                        <m:den>
                          <m:r>
                            <a:rPr lang="en-US" i="1">
                              <a:latin typeface="Cambria Math" panose="02040503050406030204" pitchFamily="18" charset="0"/>
                            </a:rPr>
                            <m:t>𝑑</m:t>
                          </m:r>
                          <m:r>
                            <a:rPr lang="en-US" b="0" i="1" smtClean="0">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𝑑𝑡</m:t>
                          </m:r>
                          <m:r>
                            <a:rPr lang="en-US" b="0" i="1" smtClean="0">
                              <a:latin typeface="Cambria Math" panose="02040503050406030204" pitchFamily="18" charset="0"/>
                            </a:rPr>
                            <m:t>′</m:t>
                          </m:r>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𝑦</m:t>
                              </m:r>
                            </m:sub>
                          </m:sSub>
                          <m:rad>
                            <m:radPr>
                              <m:degHide m:val="on"/>
                              <m:ctrlPr>
                                <a:rPr lang="en-US" i="1">
                                  <a:latin typeface="Cambria Math" panose="02040503050406030204" pitchFamily="18" charset="0"/>
                                </a:rPr>
                              </m:ctrlPr>
                            </m:radPr>
                            <m:deg/>
                            <m:e>
                              <m:r>
                                <a:rPr lang="en-US" i="1">
                                  <a:latin typeface="Cambria Math" panose="02040503050406030204" pitchFamily="18" charset="0"/>
                                </a:rPr>
                                <m:t>1−</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e>
                          </m:rad>
                        </m:num>
                        <m:den>
                          <m:r>
                            <a:rPr lang="en-US" i="1">
                              <a:latin typeface="Cambria Math" panose="02040503050406030204" pitchFamily="18" charset="0"/>
                            </a:rPr>
                            <m:t>1</m:t>
                          </m:r>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b="0" i="1" smtClean="0">
                                      <a:latin typeface="Cambria Math" panose="02040503050406030204" pitchFamily="18" charset="0"/>
                                    </a:rPr>
                                    <m:t>′</m:t>
                                  </m:r>
                                </m:sup>
                              </m:sSubSup>
                              <m:r>
                                <a:rPr lang="en-US" i="1">
                                  <a:latin typeface="Cambria Math" panose="02040503050406030204" pitchFamily="18" charset="0"/>
                                </a:rPr>
                                <m:t>𝑉</m:t>
                              </m:r>
                            </m:num>
                            <m:den>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2</m:t>
                                  </m:r>
                                </m:sup>
                              </m:sSup>
                            </m:den>
                          </m:f>
                        </m:den>
                      </m:f>
                    </m:oMath>
                  </m:oMathPara>
                </a14:m>
                <a:endParaRPr lang="ru-RU" dirty="0"/>
              </a:p>
            </p:txBody>
          </p:sp>
        </mc:Choice>
        <mc:Fallback xmlns="">
          <p:sp>
            <p:nvSpPr>
              <p:cNvPr id="3" name="Текст 2">
                <a:extLst>
                  <a:ext uri="{FF2B5EF4-FFF2-40B4-BE49-F238E27FC236}">
                    <a16:creationId xmlns:a16="http://schemas.microsoft.com/office/drawing/2014/main" id="{99D4AA2B-81BC-9E3C-A2E4-EAD5832A988A}"/>
                  </a:ext>
                </a:extLst>
              </p:cNvPr>
              <p:cNvSpPr>
                <a:spLocks noGrp="1" noRot="1" noChangeAspect="1" noMove="1" noResize="1" noEditPoints="1" noAdjustHandles="1" noChangeArrowheads="1" noChangeShapeType="1" noTextEdit="1"/>
              </p:cNvSpPr>
              <p:nvPr>
                <p:ph type="body" sz="quarter" idx="13"/>
              </p:nvPr>
            </p:nvSpPr>
            <p:spPr>
              <a:xfrm>
                <a:off x="3700933" y="998376"/>
                <a:ext cx="7652866" cy="5859623"/>
              </a:xfrm>
              <a:blipFill>
                <a:blip r:embed="rId2"/>
                <a:stretch>
                  <a:fillRect l="-637" t="-1041"/>
                </a:stretch>
              </a:blipFill>
            </p:spPr>
            <p:txBody>
              <a:bodyPr/>
              <a:lstStyle/>
              <a:p>
                <a:r>
                  <a:rPr lang="ru-RU">
                    <a:noFill/>
                  </a:rPr>
                  <a:t> </a:t>
                </a:r>
              </a:p>
            </p:txBody>
          </p:sp>
        </mc:Fallback>
      </mc:AlternateContent>
      <p:pic>
        <p:nvPicPr>
          <p:cNvPr id="5" name="Рисунок 4">
            <a:extLst>
              <a:ext uri="{FF2B5EF4-FFF2-40B4-BE49-F238E27FC236}">
                <a16:creationId xmlns:a16="http://schemas.microsoft.com/office/drawing/2014/main" id="{DE661212-BDAE-A1D2-7AFA-E787793655A0}"/>
              </a:ext>
            </a:extLst>
          </p:cNvPr>
          <p:cNvPicPr>
            <a:picLocks noChangeAspect="1"/>
          </p:cNvPicPr>
          <p:nvPr/>
        </p:nvPicPr>
        <p:blipFill>
          <a:blip r:embed="rId3"/>
          <a:stretch>
            <a:fillRect/>
          </a:stretch>
        </p:blipFill>
        <p:spPr>
          <a:xfrm>
            <a:off x="838200" y="998376"/>
            <a:ext cx="2862733" cy="2075900"/>
          </a:xfrm>
          <a:prstGeom prst="rect">
            <a:avLst/>
          </a:prstGeom>
        </p:spPr>
      </p:pic>
      <p:sp>
        <p:nvSpPr>
          <p:cNvPr id="6" name="Текст 2">
            <a:extLst>
              <a:ext uri="{FF2B5EF4-FFF2-40B4-BE49-F238E27FC236}">
                <a16:creationId xmlns:a16="http://schemas.microsoft.com/office/drawing/2014/main" id="{31F38BE6-3B71-315F-BFA0-0CD43D68E8D6}"/>
              </a:ext>
            </a:extLst>
          </p:cNvPr>
          <p:cNvSpPr txBox="1">
            <a:spLocks/>
          </p:cNvSpPr>
          <p:nvPr/>
        </p:nvSpPr>
        <p:spPr>
          <a:xfrm>
            <a:off x="838199" y="3074276"/>
            <a:ext cx="10515599" cy="3384047"/>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ru-RU" b="1" dirty="0"/>
          </a:p>
        </p:txBody>
      </p:sp>
      <p:sp>
        <p:nvSpPr>
          <p:cNvPr id="4" name="Текст 2">
            <a:extLst>
              <a:ext uri="{FF2B5EF4-FFF2-40B4-BE49-F238E27FC236}">
                <a16:creationId xmlns:a16="http://schemas.microsoft.com/office/drawing/2014/main" id="{7200BC03-83A6-FEB6-FC03-9281F1DE23C7}"/>
              </a:ext>
            </a:extLst>
          </p:cNvPr>
          <p:cNvSpPr txBox="1">
            <a:spLocks/>
          </p:cNvSpPr>
          <p:nvPr/>
        </p:nvSpPr>
        <p:spPr>
          <a:xfrm>
            <a:off x="838197" y="3429000"/>
            <a:ext cx="10515599" cy="243062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ru-RU" dirty="0"/>
          </a:p>
        </p:txBody>
      </p:sp>
      <mc:AlternateContent xmlns:mc="http://schemas.openxmlformats.org/markup-compatibility/2006" xmlns:a14="http://schemas.microsoft.com/office/drawing/2010/main">
        <mc:Choice Requires="a14">
          <p:sp>
            <p:nvSpPr>
              <p:cNvPr id="10" name="Текст 2">
                <a:extLst>
                  <a:ext uri="{FF2B5EF4-FFF2-40B4-BE49-F238E27FC236}">
                    <a16:creationId xmlns:a16="http://schemas.microsoft.com/office/drawing/2014/main" id="{AB740314-5328-C08C-D2B9-0B8437EDA988}"/>
                  </a:ext>
                </a:extLst>
              </p:cNvPr>
              <p:cNvSpPr txBox="1">
                <a:spLocks/>
              </p:cNvSpPr>
              <p:nvPr/>
            </p:nvSpPr>
            <p:spPr>
              <a:xfrm>
                <a:off x="838195" y="3429000"/>
                <a:ext cx="2862733" cy="3029323"/>
              </a:xfrm>
              <a:prstGeom prst="rect">
                <a:avLst/>
              </a:prstGeom>
            </p:spPr>
            <p:txBody>
              <a:bodyPr>
                <a:normAutofit/>
              </a:bodyPr>
              <a:lstStyle>
                <a:lvl1pPr marL="0" indent="0" algn="just" defTabSz="914400" rtl="0" eaLnBrk="1" latinLnBrk="0" hangingPunct="1">
                  <a:lnSpc>
                    <a:spcPct val="90000"/>
                  </a:lnSpc>
                  <a:spcBef>
                    <a:spcPts val="1000"/>
                  </a:spcBef>
                  <a:buFont typeface="Arial" panose="020B0604020202020204" pitchFamily="34" charset="0"/>
                  <a:buNone/>
                  <a:defRPr sz="1800" b="0" kern="1200">
                    <a:solidFill>
                      <a:schemeClr val="tx1"/>
                    </a:solidFill>
                    <a:latin typeface="Montserrat" panose="00000500000000000000" pitchFamily="2" charset="-5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Модуль скорости:</a:t>
                </a:r>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r>
                        <a:rPr lang="en-US" i="1">
                          <a:latin typeface="Cambria Math" panose="02040503050406030204" pitchFamily="18" charset="0"/>
                        </a:rPr>
                        <m:t>=</m:t>
                      </m:r>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𝑧</m:t>
                              </m:r>
                            </m:sub>
                            <m:sup>
                              <m:r>
                                <a:rPr lang="en-US" i="1">
                                  <a:latin typeface="Cambria Math" panose="02040503050406030204" pitchFamily="18" charset="0"/>
                                </a:rPr>
                                <m:t>2</m:t>
                              </m:r>
                            </m:sup>
                          </m:sSubSup>
                        </m:e>
                      </m:rad>
                    </m:oMath>
                  </m:oMathPara>
                </a14:m>
                <a:endParaRPr lang="en-US" dirty="0"/>
              </a:p>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𝑣</m:t>
                          </m:r>
                        </m:e>
                        <m:sup>
                          <m:r>
                            <a:rPr lang="en-US" i="1">
                              <a:latin typeface="Cambria Math" panose="02040503050406030204" pitchFamily="18" charset="0"/>
                            </a:rPr>
                            <m:t>′</m:t>
                          </m:r>
                        </m:sup>
                      </m:sSup>
                      <m:r>
                        <a:rPr lang="en-US" i="1">
                          <a:latin typeface="Cambria Math" panose="02040503050406030204" pitchFamily="18" charset="0"/>
                        </a:rPr>
                        <m:t>=</m:t>
                      </m:r>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𝑧</m:t>
                              </m:r>
                            </m:sub>
                            <m:sup>
                              <m:r>
                                <a:rPr lang="en-US" i="1">
                                  <a:latin typeface="Cambria Math" panose="02040503050406030204" pitchFamily="18" charset="0"/>
                                </a:rPr>
                                <m:t>′2</m:t>
                              </m:r>
                            </m:sup>
                          </m:sSubSup>
                        </m:e>
                      </m:rad>
                    </m:oMath>
                  </m:oMathPara>
                </a14:m>
                <a:endParaRPr lang="en-US" dirty="0"/>
              </a:p>
            </p:txBody>
          </p:sp>
        </mc:Choice>
        <mc:Fallback xmlns="">
          <p:sp>
            <p:nvSpPr>
              <p:cNvPr id="10" name="Текст 2">
                <a:extLst>
                  <a:ext uri="{FF2B5EF4-FFF2-40B4-BE49-F238E27FC236}">
                    <a16:creationId xmlns:a16="http://schemas.microsoft.com/office/drawing/2014/main" id="{AB740314-5328-C08C-D2B9-0B8437EDA988}"/>
                  </a:ext>
                </a:extLst>
              </p:cNvPr>
              <p:cNvSpPr txBox="1">
                <a:spLocks noRot="1" noChangeAspect="1" noMove="1" noResize="1" noEditPoints="1" noAdjustHandles="1" noChangeArrowheads="1" noChangeShapeType="1" noTextEdit="1"/>
              </p:cNvSpPr>
              <p:nvPr/>
            </p:nvSpPr>
            <p:spPr>
              <a:xfrm>
                <a:off x="838195" y="3429000"/>
                <a:ext cx="2862733" cy="3029323"/>
              </a:xfrm>
              <a:prstGeom prst="rect">
                <a:avLst/>
              </a:prstGeom>
              <a:blipFill>
                <a:blip r:embed="rId4"/>
                <a:stretch>
                  <a:fillRect l="-1702" t="-2016"/>
                </a:stretch>
              </a:blipFill>
            </p:spPr>
            <p:txBody>
              <a:bodyPr/>
              <a:lstStyle/>
              <a:p>
                <a:r>
                  <a:rPr lang="ru-RU">
                    <a:noFill/>
                  </a:rPr>
                  <a:t> </a:t>
                </a:r>
              </a:p>
            </p:txBody>
          </p:sp>
        </mc:Fallback>
      </mc:AlternateContent>
    </p:spTree>
    <p:extLst>
      <p:ext uri="{BB962C8B-B14F-4D97-AF65-F5344CB8AC3E}">
        <p14:creationId xmlns:p14="http://schemas.microsoft.com/office/powerpoint/2010/main" val="1859153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1A07E-B9BA-2B39-2975-DC31A93B2A7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C934AB-2B34-A79A-8867-358E8A2090E5}"/>
              </a:ext>
            </a:extLst>
          </p:cNvPr>
          <p:cNvSpPr>
            <a:spLocks noGrp="1"/>
          </p:cNvSpPr>
          <p:nvPr>
            <p:ph type="title"/>
          </p:nvPr>
        </p:nvSpPr>
        <p:spPr>
          <a:xfrm>
            <a:off x="838200" y="399677"/>
            <a:ext cx="10515600" cy="598699"/>
          </a:xfrm>
        </p:spPr>
        <p:txBody>
          <a:bodyPr>
            <a:normAutofit/>
          </a:bodyPr>
          <a:lstStyle/>
          <a:p>
            <a:r>
              <a:rPr lang="ru-RU" dirty="0"/>
              <a:t>21. Что называется релятивистским импульсом? Запишите закон релятивистской динамики. Получите выражение для импульса фотона. </a:t>
            </a:r>
          </a:p>
        </p:txBody>
      </p:sp>
      <mc:AlternateContent xmlns:mc="http://schemas.openxmlformats.org/markup-compatibility/2006" xmlns:a14="http://schemas.microsoft.com/office/drawing/2010/main">
        <mc:Choice Requires="a14">
          <p:sp>
            <p:nvSpPr>
              <p:cNvPr id="3" name="Текст 2">
                <a:extLst>
                  <a:ext uri="{FF2B5EF4-FFF2-40B4-BE49-F238E27FC236}">
                    <a16:creationId xmlns:a16="http://schemas.microsoft.com/office/drawing/2014/main" id="{8C35F189-CFB2-9449-E201-1151F089CAA1}"/>
                  </a:ext>
                </a:extLst>
              </p:cNvPr>
              <p:cNvSpPr>
                <a:spLocks noGrp="1"/>
              </p:cNvSpPr>
              <p:nvPr>
                <p:ph type="body" sz="quarter" idx="13"/>
              </p:nvPr>
            </p:nvSpPr>
            <p:spPr>
              <a:xfrm>
                <a:off x="838200" y="998377"/>
                <a:ext cx="10515600" cy="5191408"/>
              </a:xfrm>
            </p:spPr>
            <p:txBody>
              <a:bodyPr/>
              <a:lstStyle/>
              <a:p>
                <a:r>
                  <a:rPr lang="ru-RU" b="1" dirty="0"/>
                  <a:t>Основное уравнение релятивистской динамики</a:t>
                </a:r>
                <a:endParaRPr lang="en-US" b="1" dirty="0"/>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num>
                        <m:den>
                          <m:r>
                            <a:rPr lang="en-US" b="0" i="1" smtClean="0">
                              <a:latin typeface="Cambria Math" panose="02040503050406030204" pitchFamily="18" charset="0"/>
                            </a:rPr>
                            <m:t>𝑑𝑡</m:t>
                          </m:r>
                        </m:den>
                      </m:f>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oMath>
                  </m:oMathPara>
                </a14:m>
                <a:endParaRPr lang="en-US" dirty="0"/>
              </a:p>
              <a:p>
                <a:r>
                  <a:rPr lang="ru-RU" b="1" dirty="0"/>
                  <a:t>Релятивистский импульс частицы</a:t>
                </a:r>
                <a:r>
                  <a:rPr lang="en-US" dirty="0"/>
                  <a:t> (</a:t>
                </a:r>
                <a:r>
                  <a:rPr lang="ru-RU" dirty="0"/>
                  <a:t>в движущейся СО</a:t>
                </a:r>
                <a:r>
                  <a:rPr lang="en-US" dirty="0"/>
                  <a:t>)</a:t>
                </a:r>
              </a:p>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smtClean="0">
                          <a:latin typeface="Cambria Math" panose="02040503050406030204" pitchFamily="18" charset="0"/>
                        </a:rPr>
                        <m:t>=</m:t>
                      </m:r>
                      <m:f>
                        <m:fPr>
                          <m:ctrlPr>
                            <a:rPr lang="en-US" b="0" i="1" dirty="0" smtClean="0">
                              <a:latin typeface="Cambria Math" panose="02040503050406030204" pitchFamily="18" charset="0"/>
                            </a:rPr>
                          </m:ctrlPr>
                        </m:fPr>
                        <m:num>
                          <m:r>
                            <a:rPr lang="en-US" b="0" i="1" smtClean="0">
                              <a:latin typeface="Cambria Math" panose="02040503050406030204" pitchFamily="18" charset="0"/>
                            </a:rPr>
                            <m:t>𝑚</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num>
                        <m:den>
                          <m:rad>
                            <m:radPr>
                              <m:degHide m:val="on"/>
                              <m:ctrlPr>
                                <a:rPr lang="ru-RU" b="0" i="1" dirty="0" smtClean="0">
                                  <a:latin typeface="Cambria Math" panose="02040503050406030204" pitchFamily="18" charset="0"/>
                                </a:rPr>
                              </m:ctrlPr>
                            </m:radPr>
                            <m:deg/>
                            <m:e>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𝑣</m:t>
                                      </m:r>
                                    </m:e>
                                    <m:sup>
                                      <m:r>
                                        <a:rPr lang="en-US" b="0" i="1" dirty="0" smtClean="0">
                                          <a:latin typeface="Cambria Math" panose="02040503050406030204" pitchFamily="18" charset="0"/>
                                        </a:rPr>
                                        <m:t>2</m:t>
                                      </m:r>
                                    </m:sup>
                                  </m:sSup>
                                </m:num>
                                <m:den>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𝑐</m:t>
                                      </m:r>
                                    </m:e>
                                    <m:sup>
                                      <m:r>
                                        <a:rPr lang="en-US" b="0" i="1" dirty="0" smtClean="0">
                                          <a:latin typeface="Cambria Math" panose="02040503050406030204" pitchFamily="18" charset="0"/>
                                        </a:rPr>
                                        <m:t>2</m:t>
                                      </m:r>
                                    </m:sup>
                                  </m:sSup>
                                </m:den>
                              </m:f>
                            </m:e>
                          </m:rad>
                        </m:den>
                      </m:f>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𝑚</m:t>
                          </m:r>
                        </m:e>
                        <m:sub>
                          <m:r>
                            <a:rPr lang="ru-RU" b="0" i="1" dirty="0" smtClean="0">
                              <a:latin typeface="Cambria Math" panose="02040503050406030204" pitchFamily="18" charset="0"/>
                            </a:rPr>
                            <m:t>р</m:t>
                          </m:r>
                        </m:sub>
                      </m:sSub>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𝑣</m:t>
                          </m:r>
                        </m:e>
                      </m:acc>
                    </m:oMath>
                  </m:oMathPara>
                </a14:m>
                <a:endParaRPr lang="ru-RU" dirty="0"/>
              </a:p>
              <a:p>
                <a:r>
                  <a:rPr lang="ru-RU" dirty="0"/>
                  <a:t>Релятивистская масса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ru-RU" i="1" dirty="0">
                            <a:latin typeface="Cambria Math" panose="02040503050406030204" pitchFamily="18" charset="0"/>
                          </a:rPr>
                          <m:t>р</m:t>
                        </m:r>
                      </m:sub>
                    </m:sSub>
                    <m:r>
                      <a:rPr lang="ru-RU" b="0" i="1" dirty="0" smtClean="0">
                        <a:latin typeface="Cambria Math" panose="02040503050406030204" pitchFamily="18" charset="0"/>
                      </a:rPr>
                      <m:t>=</m:t>
                    </m:r>
                    <m:f>
                      <m:fPr>
                        <m:ctrlPr>
                          <a:rPr lang="en-US" i="1" dirty="0">
                            <a:latin typeface="Cambria Math" panose="02040503050406030204" pitchFamily="18" charset="0"/>
                          </a:rPr>
                        </m:ctrlPr>
                      </m:fPr>
                      <m:num>
                        <m:r>
                          <a:rPr lang="en-US" i="1">
                            <a:latin typeface="Cambria Math" panose="02040503050406030204" pitchFamily="18" charset="0"/>
                          </a:rPr>
                          <m:t>𝑚</m:t>
                        </m:r>
                      </m:num>
                      <m:den>
                        <m:rad>
                          <m:radPr>
                            <m:degHide m:val="on"/>
                            <m:ctrlPr>
                              <a:rPr lang="ru-RU" i="1" dirty="0">
                                <a:latin typeface="Cambria Math" panose="02040503050406030204" pitchFamily="18" charset="0"/>
                              </a:rPr>
                            </m:ctrlPr>
                          </m:radPr>
                          <m:deg/>
                          <m:e>
                            <m:r>
                              <a:rPr lang="en-US" i="1" dirty="0">
                                <a:latin typeface="Cambria Math" panose="02040503050406030204" pitchFamily="18" charset="0"/>
                              </a:rPr>
                              <m:t>1−</m:t>
                            </m:r>
                            <m:f>
                              <m:fPr>
                                <m:ctrlPr>
                                  <a:rPr lang="en-US" i="1" dirty="0">
                                    <a:latin typeface="Cambria Math" panose="02040503050406030204" pitchFamily="18" charset="0"/>
                                  </a:rPr>
                                </m:ctrlPr>
                              </m:fPr>
                              <m:num>
                                <m:sSup>
                                  <m:sSupPr>
                                    <m:ctrlPr>
                                      <a:rPr lang="en-US" i="1" dirty="0">
                                        <a:latin typeface="Cambria Math" panose="02040503050406030204" pitchFamily="18" charset="0"/>
                                      </a:rPr>
                                    </m:ctrlPr>
                                  </m:sSupPr>
                                  <m:e>
                                    <m:r>
                                      <a:rPr lang="en-US" i="1" dirty="0">
                                        <a:latin typeface="Cambria Math" panose="02040503050406030204" pitchFamily="18" charset="0"/>
                                      </a:rPr>
                                      <m:t>𝑣</m:t>
                                    </m:r>
                                  </m:e>
                                  <m:sup>
                                    <m:r>
                                      <a:rPr lang="en-US" i="1" dirty="0">
                                        <a:latin typeface="Cambria Math" panose="02040503050406030204" pitchFamily="18" charset="0"/>
                                      </a:rPr>
                                      <m:t>2</m:t>
                                    </m:r>
                                  </m:sup>
                                </m:sSup>
                              </m:num>
                              <m:den>
                                <m:sSup>
                                  <m:sSupPr>
                                    <m:ctrlPr>
                                      <a:rPr lang="en-US" i="1" dirty="0">
                                        <a:latin typeface="Cambria Math" panose="02040503050406030204" pitchFamily="18" charset="0"/>
                                      </a:rPr>
                                    </m:ctrlPr>
                                  </m:sSupPr>
                                  <m:e>
                                    <m:r>
                                      <a:rPr lang="en-US" i="1" dirty="0">
                                        <a:latin typeface="Cambria Math" panose="02040503050406030204" pitchFamily="18" charset="0"/>
                                      </a:rPr>
                                      <m:t>𝑐</m:t>
                                    </m:r>
                                  </m:e>
                                  <m:sup>
                                    <m:r>
                                      <a:rPr lang="en-US" i="1" dirty="0">
                                        <a:latin typeface="Cambria Math" panose="02040503050406030204" pitchFamily="18" charset="0"/>
                                      </a:rPr>
                                      <m:t>2</m:t>
                                    </m:r>
                                  </m:sup>
                                </m:sSup>
                              </m:den>
                            </m:f>
                          </m:e>
                        </m:rad>
                      </m:den>
                    </m:f>
                  </m:oMath>
                </a14:m>
                <a:endParaRPr lang="en-US" dirty="0"/>
              </a:p>
              <a:p>
                <a:endParaRPr lang="ru-RU" dirty="0"/>
              </a:p>
              <a:p>
                <a:r>
                  <a:rPr lang="ru-RU" dirty="0"/>
                  <a:t>Энергия фотона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𝜈</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h𝑐</m:t>
                        </m:r>
                      </m:num>
                      <m:den>
                        <m:r>
                          <a:rPr lang="en-US" b="0" i="1" smtClean="0">
                            <a:latin typeface="Cambria Math" panose="02040503050406030204" pitchFamily="18" charset="0"/>
                          </a:rPr>
                          <m:t>𝜆</m:t>
                        </m:r>
                      </m:den>
                    </m:f>
                  </m:oMath>
                </a14:m>
                <a:r>
                  <a:rPr lang="en-US" dirty="0"/>
                  <a:t>. </a:t>
                </a:r>
                <a:r>
                  <a:rPr lang="ru-RU" dirty="0"/>
                  <a:t>Вычислим </a:t>
                </a:r>
                <a:r>
                  <a:rPr lang="ru-RU" b="1" dirty="0"/>
                  <a:t>импульс фотона</a:t>
                </a:r>
                <a:r>
                  <a:rPr lang="ru-RU" dirty="0"/>
                  <a:t>, для этого воспользуемся формулой, связывающей энергию и импульс частицы.</a:t>
                </a:r>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r>
                        <a:rPr lang="en-US" b="0" i="1" smtClean="0">
                          <a:latin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𝒑</m:t>
                      </m:r>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𝑬</m:t>
                          </m:r>
                        </m:num>
                        <m:den>
                          <m:r>
                            <a:rPr lang="en-US" b="1" i="1" smtClean="0">
                              <a:latin typeface="Cambria Math" panose="02040503050406030204" pitchFamily="18" charset="0"/>
                              <a:ea typeface="Cambria Math" panose="02040503050406030204" pitchFamily="18" charset="0"/>
                            </a:rPr>
                            <m:t>𝒄</m:t>
                          </m:r>
                        </m:den>
                      </m:f>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𝒉</m:t>
                          </m:r>
                          <m:r>
                            <a:rPr lang="en-US" b="1" i="1" smtClean="0">
                              <a:latin typeface="Cambria Math" panose="02040503050406030204" pitchFamily="18" charset="0"/>
                              <a:ea typeface="Cambria Math" panose="02040503050406030204" pitchFamily="18" charset="0"/>
                            </a:rPr>
                            <m:t>𝝂</m:t>
                          </m:r>
                        </m:num>
                        <m:den>
                          <m:r>
                            <a:rPr lang="en-US" b="1" i="1" smtClean="0">
                              <a:latin typeface="Cambria Math" panose="02040503050406030204" pitchFamily="18" charset="0"/>
                              <a:ea typeface="Cambria Math" panose="02040503050406030204" pitchFamily="18" charset="0"/>
                            </a:rPr>
                            <m:t>𝒄</m:t>
                          </m:r>
                        </m:den>
                      </m:f>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𝒉</m:t>
                          </m:r>
                        </m:num>
                        <m:den>
                          <m:r>
                            <a:rPr lang="en-US" b="1" i="1" smtClean="0">
                              <a:latin typeface="Cambria Math" panose="02040503050406030204" pitchFamily="18" charset="0"/>
                              <a:ea typeface="Cambria Math" panose="02040503050406030204" pitchFamily="18" charset="0"/>
                            </a:rPr>
                            <m:t>𝝀</m:t>
                          </m:r>
                        </m:den>
                      </m:f>
                    </m:oMath>
                  </m:oMathPara>
                </a14:m>
                <a:endParaRPr lang="ru-RU" b="1" dirty="0"/>
              </a:p>
            </p:txBody>
          </p:sp>
        </mc:Choice>
        <mc:Fallback xmlns="">
          <p:sp>
            <p:nvSpPr>
              <p:cNvPr id="3" name="Текст 2">
                <a:extLst>
                  <a:ext uri="{FF2B5EF4-FFF2-40B4-BE49-F238E27FC236}">
                    <a16:creationId xmlns:a16="http://schemas.microsoft.com/office/drawing/2014/main" id="{8C35F189-CFB2-9449-E201-1151F089CAA1}"/>
                  </a:ext>
                </a:extLst>
              </p:cNvPr>
              <p:cNvSpPr>
                <a:spLocks noGrp="1" noRot="1" noChangeAspect="1" noMove="1" noResize="1" noEditPoints="1" noAdjustHandles="1" noChangeArrowheads="1" noChangeShapeType="1" noTextEdit="1"/>
              </p:cNvSpPr>
              <p:nvPr>
                <p:ph type="body" sz="quarter" idx="13"/>
              </p:nvPr>
            </p:nvSpPr>
            <p:spPr>
              <a:xfrm>
                <a:off x="838200" y="998377"/>
                <a:ext cx="10515600" cy="5191408"/>
              </a:xfrm>
              <a:blipFill>
                <a:blip r:embed="rId2"/>
                <a:stretch>
                  <a:fillRect l="-522" t="-1175" r="-464"/>
                </a:stretch>
              </a:blipFill>
            </p:spPr>
            <p:txBody>
              <a:bodyPr/>
              <a:lstStyle/>
              <a:p>
                <a:r>
                  <a:rPr lang="ru-RU">
                    <a:noFill/>
                  </a:rPr>
                  <a:t> </a:t>
                </a:r>
              </a:p>
            </p:txBody>
          </p:sp>
        </mc:Fallback>
      </mc:AlternateContent>
    </p:spTree>
    <p:extLst>
      <p:ext uri="{BB962C8B-B14F-4D97-AF65-F5344CB8AC3E}">
        <p14:creationId xmlns:p14="http://schemas.microsoft.com/office/powerpoint/2010/main" val="36652639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18CA-A964-F208-CCA0-7036316E383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3AB284-F7F1-7AC9-BA3B-7D5EFC257B2A}"/>
              </a:ext>
            </a:extLst>
          </p:cNvPr>
          <p:cNvSpPr>
            <a:spLocks noGrp="1"/>
          </p:cNvSpPr>
          <p:nvPr>
            <p:ph type="title"/>
          </p:nvPr>
        </p:nvSpPr>
        <p:spPr>
          <a:xfrm>
            <a:off x="838200" y="399677"/>
            <a:ext cx="10515600" cy="598699"/>
          </a:xfrm>
        </p:spPr>
        <p:txBody>
          <a:bodyPr>
            <a:normAutofit/>
          </a:bodyPr>
          <a:lstStyle/>
          <a:p>
            <a:r>
              <a:rPr lang="ru-RU" dirty="0"/>
              <a:t>22. Опишите свободные колебания пружинного маятника. Получите формулу для собственной частоты колебаний. </a:t>
            </a:r>
          </a:p>
        </p:txBody>
      </p:sp>
      <p:pic>
        <p:nvPicPr>
          <p:cNvPr id="5" name="Рисунок 4">
            <a:extLst>
              <a:ext uri="{FF2B5EF4-FFF2-40B4-BE49-F238E27FC236}">
                <a16:creationId xmlns:a16="http://schemas.microsoft.com/office/drawing/2014/main" id="{9D47F326-30AD-1455-2AAF-0EB601032145}"/>
              </a:ext>
            </a:extLst>
          </p:cNvPr>
          <p:cNvPicPr>
            <a:picLocks noChangeAspect="1"/>
          </p:cNvPicPr>
          <p:nvPr/>
        </p:nvPicPr>
        <p:blipFill>
          <a:blip r:embed="rId2"/>
          <a:stretch>
            <a:fillRect/>
          </a:stretch>
        </p:blipFill>
        <p:spPr>
          <a:xfrm>
            <a:off x="0" y="999737"/>
            <a:ext cx="6096000" cy="4399254"/>
          </a:xfrm>
          <a:prstGeom prst="rect">
            <a:avLst/>
          </a:prstGeom>
        </p:spPr>
      </p:pic>
      <p:pic>
        <p:nvPicPr>
          <p:cNvPr id="7" name="Рисунок 6">
            <a:extLst>
              <a:ext uri="{FF2B5EF4-FFF2-40B4-BE49-F238E27FC236}">
                <a16:creationId xmlns:a16="http://schemas.microsoft.com/office/drawing/2014/main" id="{2855F927-4E2E-A595-76EC-D2501A6EB123}"/>
              </a:ext>
            </a:extLst>
          </p:cNvPr>
          <p:cNvPicPr>
            <a:picLocks noChangeAspect="1"/>
          </p:cNvPicPr>
          <p:nvPr/>
        </p:nvPicPr>
        <p:blipFill>
          <a:blip r:embed="rId3"/>
          <a:stretch>
            <a:fillRect/>
          </a:stretch>
        </p:blipFill>
        <p:spPr>
          <a:xfrm>
            <a:off x="6096000" y="1323857"/>
            <a:ext cx="5900436" cy="4210285"/>
          </a:xfrm>
          <a:prstGeom prst="rect">
            <a:avLst/>
          </a:prstGeom>
        </p:spPr>
      </p:pic>
    </p:spTree>
    <p:extLst>
      <p:ext uri="{BB962C8B-B14F-4D97-AF65-F5344CB8AC3E}">
        <p14:creationId xmlns:p14="http://schemas.microsoft.com/office/powerpoint/2010/main" val="39752014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098C4-5133-5E6A-7ADD-69E2B0D30C2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76C20A-7829-FBDC-B026-E4B901048DEA}"/>
              </a:ext>
            </a:extLst>
          </p:cNvPr>
          <p:cNvSpPr>
            <a:spLocks noGrp="1"/>
          </p:cNvSpPr>
          <p:nvPr>
            <p:ph type="title"/>
          </p:nvPr>
        </p:nvSpPr>
        <p:spPr>
          <a:xfrm>
            <a:off x="838200" y="399677"/>
            <a:ext cx="10515600" cy="598699"/>
          </a:xfrm>
        </p:spPr>
        <p:txBody>
          <a:bodyPr>
            <a:normAutofit/>
          </a:bodyPr>
          <a:lstStyle/>
          <a:p>
            <a:r>
              <a:rPr lang="ru-RU" dirty="0"/>
              <a:t>23. Опишите свободные колебания нитяного маятника. Получите формулу для собственной частоты колебаний. </a:t>
            </a:r>
          </a:p>
        </p:txBody>
      </p:sp>
      <p:pic>
        <p:nvPicPr>
          <p:cNvPr id="5" name="Рисунок 4">
            <a:extLst>
              <a:ext uri="{FF2B5EF4-FFF2-40B4-BE49-F238E27FC236}">
                <a16:creationId xmlns:a16="http://schemas.microsoft.com/office/drawing/2014/main" id="{3A40D115-44BC-5E3E-97AD-FB681CC27EB4}"/>
              </a:ext>
            </a:extLst>
          </p:cNvPr>
          <p:cNvPicPr>
            <a:picLocks noChangeAspect="1"/>
          </p:cNvPicPr>
          <p:nvPr/>
        </p:nvPicPr>
        <p:blipFill>
          <a:blip r:embed="rId2"/>
          <a:srcRect l="272" r="1"/>
          <a:stretch>
            <a:fillRect/>
          </a:stretch>
        </p:blipFill>
        <p:spPr>
          <a:xfrm>
            <a:off x="23845" y="998376"/>
            <a:ext cx="6072155" cy="4778689"/>
          </a:xfrm>
          <a:prstGeom prst="rect">
            <a:avLst/>
          </a:prstGeom>
        </p:spPr>
      </p:pic>
      <p:pic>
        <p:nvPicPr>
          <p:cNvPr id="7" name="Рисунок 6">
            <a:extLst>
              <a:ext uri="{FF2B5EF4-FFF2-40B4-BE49-F238E27FC236}">
                <a16:creationId xmlns:a16="http://schemas.microsoft.com/office/drawing/2014/main" id="{3F22F356-4C15-B9BE-726F-0B33C1339042}"/>
              </a:ext>
            </a:extLst>
          </p:cNvPr>
          <p:cNvPicPr>
            <a:picLocks noChangeAspect="1"/>
          </p:cNvPicPr>
          <p:nvPr/>
        </p:nvPicPr>
        <p:blipFill>
          <a:blip r:embed="rId3"/>
          <a:srcRect t="489" r="3005" b="4571"/>
          <a:stretch>
            <a:fillRect/>
          </a:stretch>
        </p:blipFill>
        <p:spPr>
          <a:xfrm>
            <a:off x="6545121" y="699026"/>
            <a:ext cx="4470396" cy="3179291"/>
          </a:xfrm>
          <a:prstGeom prst="rect">
            <a:avLst/>
          </a:prstGeom>
        </p:spPr>
      </p:pic>
      <p:pic>
        <p:nvPicPr>
          <p:cNvPr id="9" name="Рисунок 8">
            <a:extLst>
              <a:ext uri="{FF2B5EF4-FFF2-40B4-BE49-F238E27FC236}">
                <a16:creationId xmlns:a16="http://schemas.microsoft.com/office/drawing/2014/main" id="{BC9329A2-7927-F8FB-030C-A84A08A6FA35}"/>
              </a:ext>
            </a:extLst>
          </p:cNvPr>
          <p:cNvPicPr>
            <a:picLocks noChangeAspect="1"/>
          </p:cNvPicPr>
          <p:nvPr/>
        </p:nvPicPr>
        <p:blipFill>
          <a:blip r:embed="rId4"/>
          <a:stretch>
            <a:fillRect/>
          </a:stretch>
        </p:blipFill>
        <p:spPr>
          <a:xfrm>
            <a:off x="6545121" y="4118900"/>
            <a:ext cx="4148959" cy="2510914"/>
          </a:xfrm>
          <a:prstGeom prst="rect">
            <a:avLst/>
          </a:prstGeom>
        </p:spPr>
      </p:pic>
    </p:spTree>
    <p:extLst>
      <p:ext uri="{BB962C8B-B14F-4D97-AF65-F5344CB8AC3E}">
        <p14:creationId xmlns:p14="http://schemas.microsoft.com/office/powerpoint/2010/main" val="37949150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50E12-E43C-549E-2000-B16936059BB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F2CD6C-4A0C-F21E-D858-270E342FD0ED}"/>
              </a:ext>
            </a:extLst>
          </p:cNvPr>
          <p:cNvSpPr>
            <a:spLocks noGrp="1"/>
          </p:cNvSpPr>
          <p:nvPr>
            <p:ph type="title"/>
          </p:nvPr>
        </p:nvSpPr>
        <p:spPr>
          <a:xfrm>
            <a:off x="838200" y="399677"/>
            <a:ext cx="10515600" cy="598699"/>
          </a:xfrm>
        </p:spPr>
        <p:txBody>
          <a:bodyPr>
            <a:normAutofit/>
          </a:bodyPr>
          <a:lstStyle/>
          <a:p>
            <a:r>
              <a:rPr lang="ru-RU" dirty="0"/>
              <a:t>24. Опишите свободные колебания физического маятника. Получите формулу для собственной частоты колебаний. </a:t>
            </a:r>
          </a:p>
        </p:txBody>
      </p:sp>
      <p:pic>
        <p:nvPicPr>
          <p:cNvPr id="5" name="Рисунок 4">
            <a:extLst>
              <a:ext uri="{FF2B5EF4-FFF2-40B4-BE49-F238E27FC236}">
                <a16:creationId xmlns:a16="http://schemas.microsoft.com/office/drawing/2014/main" id="{66B62B18-A5DE-FDA1-3628-B32D59EB8C78}"/>
              </a:ext>
            </a:extLst>
          </p:cNvPr>
          <p:cNvPicPr>
            <a:picLocks noChangeAspect="1"/>
          </p:cNvPicPr>
          <p:nvPr/>
        </p:nvPicPr>
        <p:blipFill>
          <a:blip r:embed="rId2"/>
          <a:stretch>
            <a:fillRect/>
          </a:stretch>
        </p:blipFill>
        <p:spPr>
          <a:xfrm>
            <a:off x="0" y="1203328"/>
            <a:ext cx="5888418" cy="4393431"/>
          </a:xfrm>
          <a:prstGeom prst="rect">
            <a:avLst/>
          </a:prstGeom>
        </p:spPr>
      </p:pic>
      <p:pic>
        <p:nvPicPr>
          <p:cNvPr id="7" name="Рисунок 6">
            <a:extLst>
              <a:ext uri="{FF2B5EF4-FFF2-40B4-BE49-F238E27FC236}">
                <a16:creationId xmlns:a16="http://schemas.microsoft.com/office/drawing/2014/main" id="{213CC3F5-9722-FB4F-57CE-19283790EB4A}"/>
              </a:ext>
            </a:extLst>
          </p:cNvPr>
          <p:cNvPicPr>
            <a:picLocks noChangeAspect="1"/>
          </p:cNvPicPr>
          <p:nvPr/>
        </p:nvPicPr>
        <p:blipFill>
          <a:blip r:embed="rId3"/>
          <a:stretch>
            <a:fillRect/>
          </a:stretch>
        </p:blipFill>
        <p:spPr>
          <a:xfrm>
            <a:off x="6316891" y="1203328"/>
            <a:ext cx="5875109" cy="4393431"/>
          </a:xfrm>
          <a:prstGeom prst="rect">
            <a:avLst/>
          </a:prstGeom>
        </p:spPr>
      </p:pic>
    </p:spTree>
    <p:extLst>
      <p:ext uri="{BB962C8B-B14F-4D97-AF65-F5344CB8AC3E}">
        <p14:creationId xmlns:p14="http://schemas.microsoft.com/office/powerpoint/2010/main" val="1023931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733F0-5EB9-D61E-0053-3D173C5CBB2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429E03-7609-6096-307A-405C58505CD9}"/>
              </a:ext>
            </a:extLst>
          </p:cNvPr>
          <p:cNvSpPr>
            <a:spLocks noGrp="1"/>
          </p:cNvSpPr>
          <p:nvPr>
            <p:ph type="title"/>
          </p:nvPr>
        </p:nvSpPr>
        <p:spPr>
          <a:xfrm>
            <a:off x="838200" y="399678"/>
            <a:ext cx="10515600" cy="374763"/>
          </a:xfrm>
        </p:spPr>
        <p:txBody>
          <a:bodyPr>
            <a:normAutofit/>
          </a:bodyPr>
          <a:lstStyle/>
          <a:p>
            <a:r>
              <a:rPr lang="ru-RU" dirty="0"/>
              <a:t>25. Сложение колебаний. Биения. </a:t>
            </a:r>
          </a:p>
        </p:txBody>
      </p:sp>
      <p:sp>
        <p:nvSpPr>
          <p:cNvPr id="3" name="Текст 2">
            <a:extLst>
              <a:ext uri="{FF2B5EF4-FFF2-40B4-BE49-F238E27FC236}">
                <a16:creationId xmlns:a16="http://schemas.microsoft.com/office/drawing/2014/main" id="{756B5A68-81C8-09B6-C060-27DCF9F9E5D3}"/>
              </a:ext>
            </a:extLst>
          </p:cNvPr>
          <p:cNvSpPr>
            <a:spLocks noGrp="1"/>
          </p:cNvSpPr>
          <p:nvPr>
            <p:ph type="body" sz="quarter" idx="13"/>
          </p:nvPr>
        </p:nvSpPr>
        <p:spPr>
          <a:xfrm>
            <a:off x="838200" y="774441"/>
            <a:ext cx="10515600" cy="5415343"/>
          </a:xfrm>
        </p:spPr>
        <p:txBody>
          <a:bodyPr/>
          <a:lstStyle/>
          <a:p>
            <a:endParaRPr lang="ru-RU" dirty="0"/>
          </a:p>
        </p:txBody>
      </p:sp>
    </p:spTree>
    <p:extLst>
      <p:ext uri="{BB962C8B-B14F-4D97-AF65-F5344CB8AC3E}">
        <p14:creationId xmlns:p14="http://schemas.microsoft.com/office/powerpoint/2010/main" val="3885464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F38C33-9920-0ECA-6C09-40F70392ADE8}"/>
              </a:ext>
            </a:extLst>
          </p:cNvPr>
          <p:cNvSpPr>
            <a:spLocks noGrp="1"/>
          </p:cNvSpPr>
          <p:nvPr>
            <p:ph type="title"/>
          </p:nvPr>
        </p:nvSpPr>
        <p:spPr/>
        <p:txBody>
          <a:bodyPr>
            <a:normAutofit fontScale="90000"/>
          </a:bodyPr>
          <a:lstStyle/>
          <a:p>
            <a:r>
              <a:rPr lang="ru-RU" dirty="0"/>
              <a:t>26. Опишите процесс затухающих механических колебаний при слабом затухании. Что называют добротностью колебательной системы и коэффициентом затухания? Как амплитуда и энергия колебаний зависят от времени? </a:t>
            </a:r>
          </a:p>
        </p:txBody>
      </p:sp>
      <p:sp>
        <p:nvSpPr>
          <p:cNvPr id="3" name="Текст 2">
            <a:extLst>
              <a:ext uri="{FF2B5EF4-FFF2-40B4-BE49-F238E27FC236}">
                <a16:creationId xmlns:a16="http://schemas.microsoft.com/office/drawing/2014/main" id="{298320AD-4A7A-DB36-2BB7-C7150CD6BB98}"/>
              </a:ext>
            </a:extLst>
          </p:cNvPr>
          <p:cNvSpPr>
            <a:spLocks noGrp="1"/>
          </p:cNvSpPr>
          <p:nvPr>
            <p:ph type="body" sz="quarter" idx="13"/>
          </p:nvPr>
        </p:nvSpPr>
        <p:spPr/>
        <p:txBody>
          <a:bodyPr/>
          <a:lstStyle/>
          <a:p>
            <a:endParaRPr lang="ru-RU"/>
          </a:p>
        </p:txBody>
      </p:sp>
    </p:spTree>
    <p:extLst>
      <p:ext uri="{BB962C8B-B14F-4D97-AF65-F5344CB8AC3E}">
        <p14:creationId xmlns:p14="http://schemas.microsoft.com/office/powerpoint/2010/main" val="26963536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69A3EF-3312-19EC-5948-B1EF5382135B}"/>
              </a:ext>
            </a:extLst>
          </p:cNvPr>
          <p:cNvSpPr>
            <a:spLocks noGrp="1"/>
          </p:cNvSpPr>
          <p:nvPr>
            <p:ph type="title"/>
          </p:nvPr>
        </p:nvSpPr>
        <p:spPr/>
        <p:txBody>
          <a:bodyPr>
            <a:normAutofit fontScale="90000"/>
          </a:bodyPr>
          <a:lstStyle/>
          <a:p>
            <a:r>
              <a:rPr lang="ru-RU" dirty="0"/>
              <a:t>27. Опишите процесс вынужденных механических колебаний при слабом затухании. Как с помощью векторной диаграммы получить формулу для амплитуды и фазы установившихся колебаний. Что определяет частоту резонанса?</a:t>
            </a:r>
          </a:p>
        </p:txBody>
      </p:sp>
      <p:sp>
        <p:nvSpPr>
          <p:cNvPr id="3" name="Текст 2">
            <a:extLst>
              <a:ext uri="{FF2B5EF4-FFF2-40B4-BE49-F238E27FC236}">
                <a16:creationId xmlns:a16="http://schemas.microsoft.com/office/drawing/2014/main" id="{236EBAF4-34BE-739E-9499-9337964DDB74}"/>
              </a:ext>
            </a:extLst>
          </p:cNvPr>
          <p:cNvSpPr>
            <a:spLocks noGrp="1"/>
          </p:cNvSpPr>
          <p:nvPr>
            <p:ph type="body" sz="quarter" idx="13"/>
          </p:nvPr>
        </p:nvSpPr>
        <p:spPr/>
        <p:txBody>
          <a:bodyPr/>
          <a:lstStyle/>
          <a:p>
            <a:endParaRPr lang="ru-RU"/>
          </a:p>
        </p:txBody>
      </p:sp>
    </p:spTree>
    <p:extLst>
      <p:ext uri="{BB962C8B-B14F-4D97-AF65-F5344CB8AC3E}">
        <p14:creationId xmlns:p14="http://schemas.microsoft.com/office/powerpoint/2010/main" val="5229860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463D64-F6F0-6818-37F2-19A5C575C155}"/>
              </a:ext>
            </a:extLst>
          </p:cNvPr>
          <p:cNvSpPr>
            <a:spLocks noGrp="1"/>
          </p:cNvSpPr>
          <p:nvPr>
            <p:ph type="title"/>
          </p:nvPr>
        </p:nvSpPr>
        <p:spPr/>
        <p:txBody>
          <a:bodyPr/>
          <a:lstStyle/>
          <a:p>
            <a:r>
              <a:rPr lang="ru-RU" dirty="0"/>
              <a:t>Заключение</a:t>
            </a:r>
          </a:p>
        </p:txBody>
      </p:sp>
      <p:sp>
        <p:nvSpPr>
          <p:cNvPr id="3" name="Текст 2">
            <a:extLst>
              <a:ext uri="{FF2B5EF4-FFF2-40B4-BE49-F238E27FC236}">
                <a16:creationId xmlns:a16="http://schemas.microsoft.com/office/drawing/2014/main" id="{353DCECD-1EA2-5A0B-A6A1-9FA73D246F95}"/>
              </a:ext>
            </a:extLst>
          </p:cNvPr>
          <p:cNvSpPr>
            <a:spLocks noGrp="1"/>
          </p:cNvSpPr>
          <p:nvPr>
            <p:ph type="body" sz="quarter" idx="13"/>
          </p:nvPr>
        </p:nvSpPr>
        <p:spPr/>
        <p:txBody>
          <a:bodyPr/>
          <a:lstStyle/>
          <a:p>
            <a:r>
              <a:rPr lang="ru-RU" sz="1800" b="1" dirty="0">
                <a:effectLst/>
                <a:ea typeface="Arial" panose="020B0604020202020204" pitchFamily="34" charset="0"/>
                <a:cs typeface="Arial" panose="020B0604020202020204" pitchFamily="34" charset="0"/>
              </a:rPr>
              <a:t>Автор</a:t>
            </a:r>
            <a:r>
              <a:rPr lang="ru-RU" b="1" dirty="0">
                <a:ea typeface="Arial" panose="020B0604020202020204" pitchFamily="34" charset="0"/>
                <a:cs typeface="Arial" panose="020B0604020202020204" pitchFamily="34" charset="0"/>
              </a:rPr>
              <a:t> </a:t>
            </a:r>
          </a:p>
          <a:p>
            <a:r>
              <a:rPr lang="ru-RU" sz="1800" b="1" i="1" dirty="0">
                <a:effectLst/>
                <a:ea typeface="Arial" panose="020B0604020202020204" pitchFamily="34" charset="0"/>
                <a:cs typeface="Arial" panose="020B0604020202020204" pitchFamily="34" charset="0"/>
              </a:rPr>
              <a:t>Сакулин Иван Михайлович </a:t>
            </a:r>
            <a:r>
              <a:rPr lang="en-US" sz="1800" b="1" i="1" dirty="0">
                <a:effectLst/>
                <a:ea typeface="Arial" panose="020B0604020202020204" pitchFamily="34" charset="0"/>
                <a:cs typeface="Arial" panose="020B0604020202020204" pitchFamily="34" charset="0"/>
              </a:rPr>
              <a:t>K</a:t>
            </a:r>
            <a:r>
              <a:rPr lang="ru-RU" sz="1800" b="1" i="1" dirty="0">
                <a:effectLst/>
                <a:ea typeface="Arial" panose="020B0604020202020204" pitchFamily="34" charset="0"/>
                <a:cs typeface="Arial" panose="020B0604020202020204" pitchFamily="34" charset="0"/>
              </a:rPr>
              <a:t>3121</a:t>
            </a:r>
          </a:p>
          <a:p>
            <a:endParaRPr lang="en-US" b="1" i="1" dirty="0">
              <a:ea typeface="Arial" panose="020B0604020202020204" pitchFamily="34" charset="0"/>
              <a:cs typeface="Arial" panose="020B0604020202020204" pitchFamily="34" charset="0"/>
            </a:endParaRPr>
          </a:p>
          <a:p>
            <a:r>
              <a:rPr lang="ru-RU" dirty="0"/>
              <a:t>Распространяется по лицензии </a:t>
            </a:r>
            <a:r>
              <a:rPr lang="en-US" b="1" dirty="0">
                <a:hlinkClick r:id="rId2"/>
              </a:rPr>
              <a:t>WTFPL</a:t>
            </a:r>
            <a:endParaRPr lang="en-US" b="1" i="1" dirty="0">
              <a:ea typeface="Arial" panose="020B0604020202020204" pitchFamily="34" charset="0"/>
              <a:cs typeface="Arial" panose="020B0604020202020204" pitchFamily="34" charset="0"/>
            </a:endParaRPr>
          </a:p>
          <a:p>
            <a:endParaRPr lang="ru-RU" b="1" i="1" dirty="0">
              <a:ea typeface="Arial" panose="020B0604020202020204" pitchFamily="34" charset="0"/>
              <a:cs typeface="Arial" panose="020B0604020202020204" pitchFamily="34" charset="0"/>
            </a:endParaRPr>
          </a:p>
          <a:p>
            <a:r>
              <a:rPr lang="ru-RU" sz="1800" b="1" dirty="0">
                <a:effectLst/>
                <a:ea typeface="Arial" panose="020B0604020202020204" pitchFamily="34" charset="0"/>
                <a:cs typeface="Arial" panose="020B0604020202020204" pitchFamily="34" charset="0"/>
              </a:rPr>
              <a:t>Отказ от ответственности </a:t>
            </a:r>
          </a:p>
          <a:p>
            <a:r>
              <a:rPr lang="ru-RU" i="1" dirty="0">
                <a:ea typeface="Arial" panose="020B0604020202020204" pitchFamily="34" charset="0"/>
                <a:cs typeface="Arial" panose="020B0604020202020204" pitchFamily="34" charset="0"/>
              </a:rPr>
              <a:t>А</a:t>
            </a:r>
            <a:r>
              <a:rPr lang="ru-RU" sz="1800" i="1" dirty="0">
                <a:effectLst/>
                <a:ea typeface="Arial" panose="020B0604020202020204" pitchFamily="34" charset="0"/>
                <a:cs typeface="Arial" panose="020B0604020202020204" pitchFamily="34" charset="0"/>
              </a:rPr>
              <a:t>втор предоставляет собственные доказательства «как есть», не даёт гарантий их правильности и не несёт ответственности за допущенные ошибки. Мяу =)</a:t>
            </a:r>
            <a:r>
              <a:rPr lang="en-US" sz="1800" i="1" dirty="0">
                <a:effectLst/>
                <a:ea typeface="Arial" panose="020B0604020202020204" pitchFamily="34" charset="0"/>
                <a:cs typeface="Arial" panose="020B0604020202020204" pitchFamily="34" charset="0"/>
              </a:rPr>
              <a:t>.</a:t>
            </a:r>
          </a:p>
          <a:p>
            <a:endParaRPr lang="ru-RU" sz="1800" dirty="0">
              <a:effectLst/>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843988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6997</TotalTime>
  <Words>3678</Words>
  <Application>Microsoft Office PowerPoint</Application>
  <PresentationFormat>Широкоэкранный</PresentationFormat>
  <Paragraphs>273</Paragraphs>
  <Slides>49</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49</vt:i4>
      </vt:variant>
    </vt:vector>
  </HeadingPairs>
  <TitlesOfParts>
    <vt:vector size="54" baseType="lpstr">
      <vt:lpstr>Arial</vt:lpstr>
      <vt:lpstr>Calibri</vt:lpstr>
      <vt:lpstr>Cambria Math</vt:lpstr>
      <vt:lpstr>Montserrat</vt:lpstr>
      <vt:lpstr>Тема Office</vt:lpstr>
      <vt:lpstr>Презентация PowerPoint</vt:lpstr>
      <vt:lpstr>Презентация PowerPoint</vt:lpstr>
      <vt:lpstr>Презентация PowerPoint</vt:lpstr>
      <vt:lpstr>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vt:lpstr>
      <vt:lpstr>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vt:lpstr>
      <vt:lpstr>1. Изобразите системы координат, которые используются в кинематике. Как задаётся положение материальной точки в этих системах координат? Как вычисляется элемент объёма в этих системах координат? </vt:lpstr>
      <vt:lpstr>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vt:lpstr>
      <vt:lpstr>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vt:lpstr>
      <vt:lpstr>2. Как определяется скорость и ускорение точки при траекторном способе описания движения? Получите выражения для нормального и тангенциального ускорения? Какова роль каждого из них? </vt:lpstr>
      <vt:lpstr>3. Вращение материальной точки вокруг оси. Получите связь линейных и угловых кинематических характеристик? </vt:lpstr>
      <vt:lpstr>3. Вращение материальной точки вокруг оси. Получите связь линейных и угловых кинематических характеристик? </vt:lpstr>
      <vt:lpstr>4. Вращение материальной точки вокруг оси. Получите выражение для нормального и тангенциального ускорения через угловые характеристики.  (+ билет 3 слайд 1)</vt:lpstr>
      <vt:lpstr>5. Получите закон динамики центра масс системы взаимодействующих частиц? Что такое Ц-система. Когда удобно решать задачи в Ц-системе? Приведите пример. </vt:lpstr>
      <vt:lpstr>5. Получите закон динамики центра масс системы взаимодействующих частиц? Что такое Ц-система. Когда удобно решать задачи в Ц-системе? Приведите пример. </vt:lpstr>
      <vt:lpstr>6. Сформулируйте и докажите теорему о кинетической энергии. </vt:lpstr>
      <vt:lpstr>7. Докажите, что центральные силы являются консервативными. </vt:lpstr>
      <vt:lpstr>8. Получите связь потенциальной энергии частицы в поле консервативных сил и сил этого поля. </vt:lpstr>
      <vt:lpstr>8. Получите связь потенциальной энергии частицы в поле консервативных сил и сил этого поля. </vt:lpstr>
      <vt:lpstr>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vt:lpstr>
      <vt:lpstr>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vt:lpstr>
      <vt:lpstr>9. Абсолютно упругий удар лёгкого снаряда и тяжёлой движущейся мишени. Получите формулы, определяющие скорость снаряда относительно мишени после удара. Рассмотрите случай, когда начальные скорости снаряда и мишени направлены вдоль одной прямой. </vt:lpstr>
      <vt:lpstr>10. Что называют реактивной силой? Получите уравнение Мещерского. </vt:lpstr>
      <vt:lpstr>10. Что называют реактивной силой? Получите уравнение Мещерского. </vt:lpstr>
      <vt:lpstr>11. Что называют реактивной силой? Получите формулу Циолковского. </vt:lpstr>
      <vt:lpstr>12. Дайте определение момента импульса частицы относительно точки и момента силы, действующей на частицу, относительно точки. Получите уравнение моментов для вращения частицы вокруг точки. </vt:lpstr>
      <vt:lpstr>12. Дайте определение момента импульса частицы относительно точки и момента силы, действующей на частицу, относительно точки. Получите уравнение моментов для вращения частицы вокруг точки. </vt:lpstr>
      <vt:lpstr>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vt:lpstr>
      <vt:lpstr>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vt:lpstr>
      <vt:lpstr>13. Дайте определение момента импульса частицы относительно оси и момента силы, действующей на частицу, относительно оси. Получите уравнение моментов для вращения частицы вокруг оси. </vt:lpstr>
      <vt:lpstr>14. Вращение твёрдого тела вокруг оси. Дайте определение момента импульса твёрдого тела относительно оси. Как влияют на вращение твёрдого тела вокруг оси внутренние силы? Получите закон динамики вращательного движения твёрдого тела вокруг оси. </vt:lpstr>
      <vt:lpstr>14. Вращение твёрдого тела вокруг оси. Дайте определение момента импульса твёрдого тела относительно оси. Как влияют на вращение твёрдого тела вокруг оси внутренние силы? Получите закон динамики вращательного движения твёрдого тела вокруг оси. </vt:lpstr>
      <vt:lpstr>15. Объясните за счёт чего возникает прецессия гироскопа. Выведите формулы, отражающие зависимость угловой скорости прецессии от частоты вращения гироскопа. </vt:lpstr>
      <vt:lpstr>15. Объясните за счёт чего возникает прецессия гироскопа. Выведите формулы, отражающие зависимость угловой скорости прецессии от частоты вращения гироскопа. </vt:lpstr>
      <vt:lpstr>16. Получите выражение для работы момента сил при вращении твёрдого тела вокруг оси. </vt:lpstr>
      <vt:lpstr>17. Получите преобразования Галилея. </vt:lpstr>
      <vt:lpstr>18. Сформулируйте постулаты СТО Эйнштейна. Получите формулу для Лоренцева сокращения длины. </vt:lpstr>
      <vt:lpstr>18. Сформулируйте постулаты СТО Эйнштейна. Получите формулу для Лоренцева сокращения длины. </vt:lpstr>
      <vt:lpstr>19. Сформулируйте постулаты СТО Эйнштейна. Получите формулу для Лоренцева замедления времени. </vt:lpstr>
      <vt:lpstr>19. Сформулируйте постулаты СТО Эйнштейна. Получите формулу для Лоренцева замедления времени. </vt:lpstr>
      <vt:lpstr>20. Получите формулу для преобразования скоростей в СТО. Как эти уравнения согласуются с постулатами Эйнштейна? </vt:lpstr>
      <vt:lpstr>20. Получите формулу для преобразования скоростей в СТО. Как эти уравнения согласуются с постулатами Эйнштейна? </vt:lpstr>
      <vt:lpstr>21. Что называется релятивистским импульсом? Запишите закон релятивистской динамики. Получите выражение для импульса фотона. </vt:lpstr>
      <vt:lpstr>22. Опишите свободные колебания пружинного маятника. Получите формулу для собственной частоты колебаний. </vt:lpstr>
      <vt:lpstr>23. Опишите свободные колебания нитяного маятника. Получите формулу для собственной частоты колебаний. </vt:lpstr>
      <vt:lpstr>24. Опишите свободные колебания физического маятника. Получите формулу для собственной частоты колебаний. </vt:lpstr>
      <vt:lpstr>25. Сложение колебаний. Биения. </vt:lpstr>
      <vt:lpstr>26. Опишите процесс затухающих механических колебаний при слабом затухании. Что называют добротностью колебательной системы и коэффициентом затухания? Как амплитуда и энергия колебаний зависят от времени? </vt:lpstr>
      <vt:lpstr>27. Опишите процесс вынужденных механических колебаний при слабом затухании. Как с помощью векторной диаграммы получить формулу для амплитуды и фазы установившихся колебаний. Что определяет частоту резонанса?</vt:lpstr>
      <vt:lpstr>Заключение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Механика</dc:title>
  <dc:creator>Сакулин Иван Михайлович</dc:creator>
  <cp:lastModifiedBy>Сакулин Иван Михайлович</cp:lastModifiedBy>
  <cp:revision>256</cp:revision>
  <dcterms:created xsi:type="dcterms:W3CDTF">2024-10-17T09:39:49Z</dcterms:created>
  <dcterms:modified xsi:type="dcterms:W3CDTF">2026-01-08T06:35:10Z</dcterms:modified>
</cp:coreProperties>
</file>