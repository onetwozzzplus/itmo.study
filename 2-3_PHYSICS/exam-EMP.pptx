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370" r:id="rId2"/>
    <p:sldId id="371" r:id="rId3"/>
    <p:sldId id="372" r:id="rId4"/>
    <p:sldId id="376" r:id="rId5"/>
    <p:sldId id="377" r:id="rId6"/>
    <p:sldId id="378" r:id="rId7"/>
    <p:sldId id="379" r:id="rId8"/>
    <p:sldId id="380" r:id="rId9"/>
    <p:sldId id="381" r:id="rId10"/>
    <p:sldId id="382" r:id="rId11"/>
    <p:sldId id="383" r:id="rId12"/>
    <p:sldId id="384" r:id="rId13"/>
    <p:sldId id="385" r:id="rId14"/>
    <p:sldId id="387" r:id="rId15"/>
    <p:sldId id="390" r:id="rId16"/>
    <p:sldId id="389" r:id="rId17"/>
    <p:sldId id="391" r:id="rId18"/>
    <p:sldId id="392" r:id="rId19"/>
    <p:sldId id="388" r:id="rId20"/>
    <p:sldId id="386" r:id="rId21"/>
    <p:sldId id="393" r:id="rId22"/>
    <p:sldId id="394" r:id="rId23"/>
    <p:sldId id="396" r:id="rId24"/>
    <p:sldId id="395" r:id="rId25"/>
    <p:sldId id="399" r:id="rId26"/>
    <p:sldId id="400" r:id="rId27"/>
    <p:sldId id="397" r:id="rId28"/>
    <p:sldId id="398" r:id="rId29"/>
    <p:sldId id="401" r:id="rId30"/>
    <p:sldId id="402" r:id="rId31"/>
    <p:sldId id="403" r:id="rId32"/>
    <p:sldId id="404" r:id="rId33"/>
    <p:sldId id="405" r:id="rId34"/>
    <p:sldId id="406" r:id="rId35"/>
    <p:sldId id="407" r:id="rId36"/>
    <p:sldId id="408" r:id="rId37"/>
    <p:sldId id="434" r:id="rId38"/>
    <p:sldId id="438" r:id="rId39"/>
    <p:sldId id="435" r:id="rId40"/>
    <p:sldId id="436" r:id="rId41"/>
    <p:sldId id="437" r:id="rId42"/>
    <p:sldId id="373" r:id="rId43"/>
    <p:sldId id="374" r:id="rId44"/>
    <p:sldId id="375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  <p:sldId id="428" r:id="rId64"/>
    <p:sldId id="427" r:id="rId65"/>
    <p:sldId id="429" r:id="rId66"/>
    <p:sldId id="430" r:id="rId67"/>
    <p:sldId id="432" r:id="rId68"/>
    <p:sldId id="431" r:id="rId69"/>
    <p:sldId id="433" r:id="rId70"/>
    <p:sldId id="348" r:id="rId7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Электростатика" id="{46648782-208C-4E43-81D5-4FCFBB8A826F}">
          <p14:sldIdLst>
            <p14:sldId id="370"/>
            <p14:sldId id="371"/>
            <p14:sldId id="372"/>
          </p14:sldIdLst>
        </p14:section>
        <p14:section name="1. Дайте определение потока векторного поля через площадку. Докажите теорему Остроградского-" id="{C640DAE5-BE41-4D52-A789-16594E4D66F4}">
          <p14:sldIdLst>
            <p14:sldId id="376"/>
            <p14:sldId id="377"/>
          </p14:sldIdLst>
        </p14:section>
        <p14:section name="2. Докажите, что стационарное центральное поле является консервативным." id="{EE3681EC-9981-445C-B484-4BB812E5198A}">
          <p14:sldIdLst>
            <p14:sldId id="378"/>
          </p14:sldIdLst>
        </p14:section>
        <p14:section name="3. Покажите, как связаны потенциальная энергия и сила , напряжённость и потенциал." id="{E9D7F84D-26E2-408F-B449-A783A70EE3B9}">
          <p14:sldIdLst>
            <p14:sldId id="379"/>
          </p14:sldIdLst>
        </p14:section>
        <p14:section name="4. Опишите механизмы поляризации диэлектриков. Дайте определение вектора поляризации," id="{5B2E9AA5-63C7-4491-8698-3A37D490DB32}">
          <p14:sldIdLst>
            <p14:sldId id="380"/>
            <p14:sldId id="381"/>
            <p14:sldId id="382"/>
          </p14:sldIdLst>
        </p14:section>
        <p14:section name="5. Дайте определение вектора электрической индукции 𝐷 ⃗. Пластина из однородного, изотропного" id="{7DE222C5-4877-482A-B659-4DE1F2EFC1B0}">
          <p14:sldIdLst>
            <p14:sldId id="383"/>
          </p14:sldIdLst>
        </p14:section>
        <p14:section name="6. Сформулируйте теорему Гаусса для вектора 𝐷 ⃗. Шар радиусом 𝑅 из диэлектрика с проницаемостью 𝜀 заряжен равномерно с объёмной плотностью заряда 𝜌. Вычислите 𝐸 ⃗(𝑟), 𝐷 ⃗(𝑟), 𝜑(𝑟)." id="{187FEBD4-BD25-4573-85F6-6466A330D4C7}">
          <p14:sldIdLst>
            <p14:sldId id="384"/>
            <p14:sldId id="385"/>
          </p14:sldIdLst>
        </p14:section>
        <p14:section name="7. Выведите правила преломления линий вектора 𝐸 ⃗ на границе диэлектрик-диэлектрик." id="{7FF06827-C98E-4EAA-AB06-DDA5B864604E}">
          <p14:sldIdLst>
            <p14:sldId id="387"/>
            <p14:sldId id="390"/>
            <p14:sldId id="389"/>
          </p14:sldIdLst>
        </p14:section>
        <p14:section name="8. Выведите правила преломления линий вектора 𝐷 ⃗ на границе диэлектрик-диэлектрик." id="{CF7DA952-FF2A-4116-98A6-9A14670EAFC9}">
          <p14:sldIdLst>
            <p14:sldId id="391"/>
            <p14:sldId id="392"/>
            <p14:sldId id="388"/>
          </p14:sldIdLst>
        </p14:section>
        <p14:section name="9. Пластина из однородного, изотропного диэлектрика размещена перпендикулярно линиям" id="{B8AF05C3-DA5E-4896-8F5E-0B3FD1FB83B1}">
          <p14:sldIdLst>
            <p14:sldId id="386"/>
          </p14:sldIdLst>
        </p14:section>
        <p14:section name="10. В чём заключается метод электрических изображений при определении напряжённости" id="{E38E017D-E977-4C66-B452-FB661F09800A}">
          <p14:sldIdLst>
            <p14:sldId id="393"/>
            <p14:sldId id="394"/>
          </p14:sldIdLst>
        </p14:section>
        <p14:section name="11. Дайте определение электрической ёмкости уединённого проводника и конденсатора. Выведите" id="{79AB39C8-8E61-44B0-AEAF-91690E618013}">
          <p14:sldIdLst>
            <p14:sldId id="396"/>
            <p14:sldId id="395"/>
          </p14:sldIdLst>
        </p14:section>
        <p14:section name="12. Получите уравнение непрерывности. Какой закон сохранения оно выражает?" id="{05DF6B31-6C2D-4095-9EFE-87994259AB2B}">
          <p14:sldIdLst>
            <p14:sldId id="399"/>
          </p14:sldIdLst>
        </p14:section>
        <p14:section name="13. Получите уравнения Кирхгофа." id="{2A9B944F-2BC3-45C9-BB61-07DFA006BF28}">
          <p14:sldIdLst>
            <p14:sldId id="400"/>
          </p14:sldIdLst>
        </p14:section>
        <p14:section name="14. Выведите формулу для энергии системы точечных зарядов." id="{C85FAD93-4D59-486F-B749-B8E501F56406}">
          <p14:sldIdLst>
            <p14:sldId id="397"/>
          </p14:sldIdLst>
        </p14:section>
        <p14:section name="15. Выведите формулу для энергии конденсатора." id="{D5BA93DD-3669-4AAD-B046-C522CEA4E983}">
          <p14:sldIdLst>
            <p14:sldId id="398"/>
          </p14:sldIdLst>
        </p14:section>
        <p14:section name="16. Выведите правило преобразования «треугольник- звезда»" id="{34E41FD9-9B3B-4607-A22B-24A00E3C3571}">
          <p14:sldIdLst>
            <p14:sldId id="401"/>
          </p14:sldIdLst>
        </p14:section>
        <p14:section name="17. Выведите формулы для эквивалентной ЭДС и внутреннего сопротивления источника при" id="{8F8BFEE0-3181-422E-98D1-273B791A2C53}">
          <p14:sldIdLst>
            <p14:sldId id="402"/>
            <p14:sldId id="403"/>
          </p14:sldIdLst>
        </p14:section>
        <p14:section name="18. Получите закон Ома для неоднородного участка цепи в интегральной и дифференциальной" id="{053B7243-5AD2-4263-BA94-9B06E6531803}">
          <p14:sldIdLst>
            <p14:sldId id="404"/>
          </p14:sldIdLst>
        </p14:section>
        <p14:section name="19. Получите закон Ома для однородного участка цепи в интегральной и дифференциальной" id="{C914AABD-C7D8-49DA-A3D2-1D17FA014BBD}">
          <p14:sldIdLst>
            <p14:sldId id="405"/>
          </p14:sldIdLst>
        </p14:section>
        <p14:section name="20. Получите закон Джоуля-Ленца для неоднородного участка цепи в интегральной и" id="{0EFBA8D0-6004-4483-803C-486FBB2BF4DA}">
          <p14:sldIdLst>
            <p14:sldId id="406"/>
          </p14:sldIdLst>
        </p14:section>
        <p14:section name="21. Получите выражение для удельной мощности тока для неоднородного участка цепи." id="{A8B6364B-3407-4BAB-9115-84C0EF1C3140}">
          <p14:sldIdLst>
            <p14:sldId id="407"/>
          </p14:sldIdLst>
        </p14:section>
        <p14:section name="22. Получите выражение для удельной мощности тока для однородного участка цепи." id="{39E57892-1C2E-4EED-B742-F41DE0CC2092}">
          <p14:sldIdLst>
            <p14:sldId id="408"/>
          </p14:sldIdLst>
        </p14:section>
        <p14:section name="23. Запишите систему уравнений Максвелла в интегральной форме. Как выглядит эта система" id="{5D340DE8-2D0E-435E-B37D-CF8D1B996D57}">
          <p14:sldIdLst>
            <p14:sldId id="434"/>
            <p14:sldId id="438"/>
          </p14:sldIdLst>
        </p14:section>
        <p14:section name="24. Запишите систему уравнений Максвелла в дифференциальной форме. Что можно сказать об" id="{B887F5AA-08D2-4188-8084-F41CAC0E5EA8}">
          <p14:sldIdLst>
            <p14:sldId id="435"/>
          </p14:sldIdLst>
        </p14:section>
        <p14:section name="25. Покажите с помощью системы уравнений Максвелла, как изменяющееся во времени" id="{D3566FCC-A87E-4D35-8925-B5EC92A012ED}">
          <p14:sldIdLst>
            <p14:sldId id="436"/>
          </p14:sldIdLst>
        </p14:section>
        <p14:section name="26. Покажите с помощью системы уравнений Максвелла, как изменяющееся во времени" id="{DDE5AA34-88C8-48BF-81A4-21DA19F38A7E}">
          <p14:sldIdLst>
            <p14:sldId id="437"/>
          </p14:sldIdLst>
        </p14:section>
        <p14:section name="Магнетизм и колебания." id="{517D04BF-9753-4C33-9017-29EEC8965ABC}">
          <p14:sldIdLst>
            <p14:sldId id="373"/>
            <p14:sldId id="374"/>
            <p14:sldId id="375"/>
          </p14:sldIdLst>
        </p14:section>
        <p14:section name="1. Сформулируйте закон Био-Савара-Лапласа. Получите с его помощью выражение для индукции поля прямого тока и индукции в центре кругового витка." id="{F22519AD-8A03-4A21-BF7C-9E639B70D093}">
          <p14:sldIdLst>
            <p14:sldId id="409"/>
            <p14:sldId id="410"/>
          </p14:sldIdLst>
        </p14:section>
        <p14:section name="2. Докажите теорему о циркуляции вектора 𝐵 ⃗ в отсутствие магнетика. Вычислите с её помощью индукцию магнитного поля прямого тока, индукцию поля внутри длинного соленоида." id="{E753960E-D84B-41B5-8C43-45922AB74696}">
          <p14:sldIdLst>
            <p14:sldId id="411"/>
            <p14:sldId id="412"/>
          </p14:sldIdLst>
        </p14:section>
        <p14:section name="3. Дайте определение силы Лоренца, действующей на частицу в электромагнитном поле. Частица движется в однородном магнитном поле по винтовой линии. Получите формулу для радиуса и шага винтовой линии." id="{93279785-6FB3-4B9D-8663-23EE9171FC3A}">
          <p14:sldIdLst>
            <p14:sldId id="413"/>
          </p14:sldIdLst>
        </p14:section>
        <p14:section name="4. Выведите формулу для работы сил магнитного поля при движении контура с током в магнитном поле." id="{08FFEF72-C064-427A-A3BD-38ECB9B4F2F8}">
          <p14:sldIdLst>
            <p14:sldId id="414"/>
          </p14:sldIdLst>
        </p14:section>
        <p14:section name="5. Что называют индуктивностью контура? Получите формулу для индуктивности на единицу длины для длинного соленоида." id="{C18230B7-D36D-45C5-BCD7-BE6253AE89F5}">
          <p14:sldIdLst>
            <p14:sldId id="415"/>
          </p14:sldIdLst>
        </p14:section>
        <p14:section name="6. В чём заключается явление взаимной индукции. Получите формулы для вычисления индуктивности связанных контуров." id="{167C9049-07EA-4721-BCAE-D1FBBA5FAFDF}">
          <p14:sldIdLst>
            <p14:sldId id="416"/>
            <p14:sldId id="417"/>
          </p14:sldIdLst>
        </p14:section>
        <p14:section name="7. В чём заключается явление взаимной индукции. Получите формулы для вычисления энергии магнитного поля связанных контуров." id="{B423F0A7-EAFC-4BCC-B8FB-F364070E23D1}">
          <p14:sldIdLst>
            <p14:sldId id="418"/>
          </p14:sldIdLst>
        </p14:section>
        <p14:section name="8. Получите выражение для ЭДС индукции, возникающей при движении проводника в магнитном поле." id="{E1BBD110-CDF5-41EA-9B0C-CFA9F1562673}">
          <p14:sldIdLst>
            <p14:sldId id="419"/>
          </p14:sldIdLst>
        </p14:section>
        <p14:section name="9. Получите выражение для разности потенциалов, возникающей между концами проводника при движении в магнитном поле." id="{C9EBC3C7-D8E2-4401-AC1D-59B1C512B2ED}">
          <p14:sldIdLst>
            <p14:sldId id="420"/>
          </p14:sldIdLst>
        </p14:section>
        <p14:section name="10. Получите выражение для ЭДС индукции, возникающей в неподвижном контуре при изменении магнитного потока через него." id="{3972A386-7B70-4E5D-9C8E-0E5513BD5000}">
          <p14:sldIdLst>
            <p14:sldId id="421"/>
          </p14:sldIdLst>
        </p14:section>
        <p14:section name="11. Приведите примеры - когда наблюдается действие вихревого электрического поля, а когда потенциального. Запишите теорему о циркуляции электрического поля для обоих случаев." id="{AB2A74F6-B25F-462E-886F-ADCE16E8307B}">
          <p14:sldIdLst>
            <p14:sldId id="422"/>
          </p14:sldIdLst>
        </p14:section>
        <p14:section name="12. Дайте определение токов намагничивания. Что называют намагниченностью среды? Как в случае однородного изотропного магнетика связаны векторы 𝐽 ⃗, 𝐻 ⃗ и 𝐵 ⃗." id="{76C1257A-660C-431B-96C5-BF47E54FAC05}">
          <p14:sldIdLst>
            <p14:sldId id="423"/>
            <p14:sldId id="424"/>
          </p14:sldIdLst>
        </p14:section>
        <p14:section name="13. Докажите теорему о циркуляции вектора 𝐽 ⃗." id="{74549EC9-75C8-4201-8674-248091968015}">
          <p14:sldIdLst>
            <p14:sldId id="425"/>
          </p14:sldIdLst>
        </p14:section>
        <p14:section name="14. Что называют магнитной проницаемостью среды. Расскажите о свойствах диа- и парамагнетиков." id="{3CEEBFB3-190B-4CA1-BCC7-8D2C22DE9139}">
          <p14:sldIdLst>
            <p14:sldId id="426"/>
            <p14:sldId id="428"/>
          </p14:sldIdLst>
        </p14:section>
        <p14:section name="15. Расскажите о свойствах ферромагнетиков. За счёт чего возникает гистерезис. Что называется температурой Кюри?" id="{2F7EE57C-7799-4AC6-B960-C0C8777D3D8E}">
          <p14:sldIdLst>
            <p14:sldId id="427"/>
            <p14:sldId id="429"/>
          </p14:sldIdLst>
        </p14:section>
        <p14:section name="16. Получите формулы, описывающие преломление линий вектора 𝐻 ⃗ на границе двух магнетиков." id="{AFEE6280-90D7-45E0-92E2-471B21B67CAC}">
          <p14:sldIdLst>
            <p14:sldId id="430"/>
            <p14:sldId id="432"/>
          </p14:sldIdLst>
        </p14:section>
        <p14:section name="17. Получите формулы, описывающие преломление линий вектора 𝐵 ⃗ на границе двух магнетиков." id="{C83765E2-B234-4CCE-B205-995422A840F6}">
          <p14:sldIdLst>
            <p14:sldId id="431"/>
            <p14:sldId id="433"/>
          </p14:sldIdLst>
        </p14:section>
        <p14:section name="Заключение" id="{F4C5AA9B-ADCD-4085-9250-C5C13B05B0AD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акулин Иван Михайлович" initials="ИС" lastIdx="1" clrIdx="0">
    <p:extLst>
      <p:ext uri="{19B8F6BF-5375-455C-9EA6-DF929625EA0E}">
        <p15:presenceInfo xmlns:p15="http://schemas.microsoft.com/office/powerpoint/2012/main" userId="S::467335@niuitmo.ru::2ada3b6c-9e85-46e2-97b7-45503d450a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0B1CE-915D-4149-B695-7B879756429B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37531-5FC0-4CCC-88D2-19A12055DA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03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C8079E-93DE-0857-86AC-50E52B37B4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312377"/>
            <a:ext cx="10515600" cy="149469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3800">
                <a:solidFill>
                  <a:srgbClr val="FF0000"/>
                </a:solidFill>
              </a:defRPr>
            </a:lvl1pPr>
          </a:lstStyle>
          <a:p>
            <a:r>
              <a:rPr lang="ru-RU" dirty="0"/>
              <a:t>Раздел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06BFB70-59B6-B46C-893C-7FDE431F5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0ED35FA-D424-7356-B686-2CBC83B7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AD3294-ED42-2AC0-AE3B-6F73E0DF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09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E63BAE85-386A-72A1-CFF0-60F24378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C947-0B0D-400B-B67A-9D87DBCB2F86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C41EFB-6D05-D9D1-E90C-FB13BC194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0B6CCE-6B0F-C248-2C90-45317C1C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ED7776-1739-4A13-9290-B05AE8185B6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F856680-7865-C22D-A182-81D866819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9678"/>
            <a:ext cx="10515600" cy="84883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u="none">
                <a:solidFill>
                  <a:srgbClr val="FF0000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en-US" dirty="0"/>
              <a:t>1. </a:t>
            </a:r>
            <a:r>
              <a:rPr lang="ru-RU" dirty="0"/>
              <a:t>Вопрос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BCB8928-A971-9146-97EC-32B875868E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48507"/>
            <a:ext cx="10515600" cy="494127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just">
              <a:buNone/>
              <a:defRPr sz="1800" b="0"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50121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01F5E966-471F-C86C-96E7-FFEFDB180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2C947-0B0D-400B-B67A-9D87DBCB2F86}" type="datetimeFigureOut">
              <a:rPr lang="ru-RU" smtClean="0"/>
              <a:t>07.01.2026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0B7B99-2F5D-4908-B16D-0D02CC552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F00948-8112-9A12-F87F-CE974F9F0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D7776-1739-4A13-9290-B05AE8185B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37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0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WTFP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0B9DFC-A32E-29A4-58C4-B83EB6ABAECA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Электростатика 1/3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5269AE-0E24-3C9D-973C-532B358A5545}"/>
                  </a:ext>
                </a:extLst>
              </p:cNvPr>
              <p:cNvSpPr txBox="1"/>
              <p:nvPr/>
            </p:nvSpPr>
            <p:spPr>
              <a:xfrm>
                <a:off x="637591" y="1151701"/>
                <a:ext cx="10916817" cy="50365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1. Дайте определение потока векторного поля через площадку. Докажите теорему Остроградского-</a:t>
                </a:r>
              </a:p>
              <a:p>
                <a:r>
                  <a:rPr lang="ru-RU" dirty="0"/>
                  <a:t>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в вакууме. </a:t>
                </a:r>
                <a:r>
                  <a:rPr lang="en-US" dirty="0"/>
                  <a:t>[</a:t>
                </a:r>
                <a:r>
                  <a:rPr lang="ru-RU" dirty="0"/>
                  <a:t>Л1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2. Докажите, что стационарное центральное поле является консервативным.</a:t>
                </a:r>
                <a:r>
                  <a:rPr lang="en-US" dirty="0"/>
                  <a:t> [</a:t>
                </a:r>
                <a:r>
                  <a:rPr lang="ru-RU" dirty="0"/>
                  <a:t>Л</a:t>
                </a:r>
                <a:r>
                  <a:rPr lang="en-US" dirty="0"/>
                  <a:t>2]</a:t>
                </a:r>
              </a:p>
              <a:p>
                <a:r>
                  <a:rPr lang="ru-RU" dirty="0"/>
                  <a:t>3. Покажите, как связаны потенциальная энергия и сила , напряжённость и потенциал.</a:t>
                </a:r>
                <a:r>
                  <a:rPr lang="en-US" dirty="0"/>
                  <a:t> [</a:t>
                </a:r>
                <a:r>
                  <a:rPr lang="ru-RU" dirty="0"/>
                  <a:t>Л</a:t>
                </a:r>
                <a:r>
                  <a:rPr lang="en-US" dirty="0"/>
                  <a:t>2]</a:t>
                </a:r>
              </a:p>
              <a:p>
                <a:r>
                  <a:rPr lang="ru-RU" dirty="0"/>
                  <a:t>4. Опишите механизмы поляризации диэлектриков. Дайте определение вектора поляризации,</a:t>
                </a:r>
                <a:r>
                  <a:rPr lang="en-US" dirty="0"/>
                  <a:t> </a:t>
                </a:r>
                <a:r>
                  <a:rPr lang="ru-RU" dirty="0"/>
                  <a:t>поляризуемости, диэлектрической восприимчивости, диэлектрической проницаемости. Запишите</a:t>
                </a:r>
                <a:r>
                  <a:rPr lang="en-US" dirty="0"/>
                  <a:t> </a:t>
                </a:r>
                <a:r>
                  <a:rPr lang="ru-RU" dirty="0"/>
                  <a:t>уравнения, связывающие эти величины.</a:t>
                </a:r>
                <a:r>
                  <a:rPr lang="en-US" dirty="0"/>
                  <a:t> 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</a:p>
              <a:p>
                <a:r>
                  <a:rPr lang="ru-RU" dirty="0"/>
                  <a:t>5. Дайте определение вектора электрической индукции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. Пластина из однородного, изотропного диэлектрика размещена перпендикулярно линиям напряжённости однородного электрического поля, напряжённостью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/>
                  <a:t>. Получите выражения для векторов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в диэлектрике.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</a:p>
              <a:p>
                <a:r>
                  <a:rPr lang="ru-RU" dirty="0"/>
                  <a:t>6. Сформулируйте теорему 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. Шар радиусом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 из диэлектрика с</a:t>
                </a:r>
                <a:r>
                  <a:rPr lang="en-US" dirty="0"/>
                  <a:t> </a:t>
                </a:r>
                <a:r>
                  <a:rPr lang="ru-RU" dirty="0"/>
                  <a:t>проницаемостью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заряжен равномерно с объёмной плотностью заряда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Вычислите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</a:p>
              <a:p>
                <a:r>
                  <a:rPr lang="ru-RU" dirty="0"/>
                  <a:t>7.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</a:p>
              <a:p>
                <a:r>
                  <a:rPr lang="ru-RU" dirty="0"/>
                  <a:t>8.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  <a:endParaRPr lang="ru-RU" dirty="0"/>
              </a:p>
              <a:p>
                <a:r>
                  <a:rPr lang="ru-RU" dirty="0"/>
                  <a:t>9. Пластина из однородного, изотропного диэлектрика размещена перпендикулярно линиям</a:t>
                </a:r>
                <a:r>
                  <a:rPr lang="en-US" dirty="0"/>
                  <a:t> </a:t>
                </a:r>
                <a:r>
                  <a:rPr lang="ru-RU" dirty="0"/>
                  <a:t>напряжённости однородного электрического поля. Докажите, что диэлектрическая проницаемость</a:t>
                </a:r>
                <a:r>
                  <a:rPr lang="en-US" dirty="0"/>
                  <a:t> </a:t>
                </a:r>
                <a:r>
                  <a:rPr lang="ru-RU" dirty="0"/>
                  <a:t>показывает во сколько раз ослабевает однородное электрическое поле, попадая в диэлектрик.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4]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B5269AE-0E24-3C9D-973C-532B358A5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91" y="1151701"/>
                <a:ext cx="10916817" cy="5036507"/>
              </a:xfrm>
              <a:prstGeom prst="rect">
                <a:avLst/>
              </a:prstGeom>
              <a:blipFill>
                <a:blip r:embed="rId2"/>
                <a:stretch>
                  <a:fillRect l="-503" t="-726" r="-726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6C67C0A-C666-0D31-0736-A9F7C229CCA7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Электростатика</a:t>
            </a:r>
          </a:p>
        </p:txBody>
      </p:sp>
    </p:spTree>
    <p:extLst>
      <p:ext uri="{BB962C8B-B14F-4D97-AF65-F5344CB8AC3E}">
        <p14:creationId xmlns:p14="http://schemas.microsoft.com/office/powerpoint/2010/main" val="318352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8"/>
    </mc:Choice>
    <mc:Fallback xmlns="">
      <p:transition spd="slow" advTm="147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01C56-DEF6-8D31-A962-6A8165A8A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5FE7D8-D982-E9FC-736F-9AD1755FCCDC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Электростатика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2</a:t>
            </a:r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/3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8FA031-4AE6-C183-1336-2219FE48496A}"/>
              </a:ext>
            </a:extLst>
          </p:cNvPr>
          <p:cNvSpPr txBox="1"/>
          <p:nvPr/>
        </p:nvSpPr>
        <p:spPr>
          <a:xfrm>
            <a:off x="637591" y="1151701"/>
            <a:ext cx="1091681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10. В чём заключается метод электрических изображений при определении напряжённости</a:t>
            </a:r>
            <a:r>
              <a:rPr lang="en-US" dirty="0"/>
              <a:t> </a:t>
            </a:r>
            <a:r>
              <a:rPr lang="ru-RU" dirty="0"/>
              <a:t>электрического поля вблизи поверхности проводника.</a:t>
            </a:r>
            <a:r>
              <a:rPr lang="en-US" dirty="0"/>
              <a:t> [</a:t>
            </a:r>
            <a:r>
              <a:rPr lang="ru-RU" dirty="0"/>
              <a:t>Л</a:t>
            </a:r>
            <a:r>
              <a:rPr lang="en-US" dirty="0"/>
              <a:t>5]</a:t>
            </a:r>
            <a:endParaRPr lang="ru-RU" dirty="0"/>
          </a:p>
          <a:p>
            <a:r>
              <a:rPr lang="ru-RU" dirty="0"/>
              <a:t>11. Дайте определение электрической ёмкости уединённого проводника и конденсатора. Выведите формулу для ёмкости плоского и сферического конденсаторов.</a:t>
            </a:r>
            <a:r>
              <a:rPr lang="en-US" dirty="0"/>
              <a:t> [</a:t>
            </a:r>
            <a:r>
              <a:rPr lang="ru-RU" dirty="0"/>
              <a:t>Л6</a:t>
            </a:r>
            <a:r>
              <a:rPr lang="en-US" dirty="0"/>
              <a:t>]</a:t>
            </a:r>
          </a:p>
          <a:p>
            <a:r>
              <a:rPr lang="ru-RU" dirty="0"/>
              <a:t>12.</a:t>
            </a:r>
            <a:r>
              <a:rPr lang="en-US" dirty="0"/>
              <a:t> </a:t>
            </a:r>
            <a:r>
              <a:rPr lang="ru-RU" dirty="0"/>
              <a:t>Получите уравнение непрерывности. Какой закон сохранения оно выражает? </a:t>
            </a:r>
            <a:r>
              <a:rPr lang="en-US" dirty="0"/>
              <a:t>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13. Получите уравнения Кирхгофа.</a:t>
            </a:r>
            <a:r>
              <a:rPr lang="en-US" dirty="0"/>
              <a:t> 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14. Выведите формулу для энергии системы точечных зарядов. </a:t>
            </a:r>
            <a:r>
              <a:rPr lang="en-US" dirty="0"/>
              <a:t>[</a:t>
            </a:r>
            <a:r>
              <a:rPr lang="ru-RU" dirty="0"/>
              <a:t>Л6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15. Выведите формулу для энергии конденсатора. </a:t>
            </a:r>
            <a:r>
              <a:rPr lang="en-US" dirty="0"/>
              <a:t>[</a:t>
            </a:r>
            <a:r>
              <a:rPr lang="ru-RU" dirty="0"/>
              <a:t>Л6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16. Выведите правило преобразования «треугольник-звезда» </a:t>
            </a:r>
            <a:r>
              <a:rPr lang="en-US" dirty="0"/>
              <a:t>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17. Выведите формулы для эквивалентной ЭДС и внутреннего сопротивления источника при соединении нескольких одинаковых источников в батарею. </a:t>
            </a:r>
            <a:r>
              <a:rPr lang="en-US" dirty="0"/>
              <a:t>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18. Получите закон Ома для неоднородного участка цепи в интегральной и дифференциальной формах. </a:t>
            </a:r>
            <a:r>
              <a:rPr lang="en-US" dirty="0"/>
              <a:t>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19. Получите закон Ома для однородного участка цепи в интегральной и дифференциальной формах. </a:t>
            </a:r>
            <a:r>
              <a:rPr lang="en-US" dirty="0"/>
              <a:t>[</a:t>
            </a:r>
            <a:r>
              <a:rPr lang="ru-RU" dirty="0"/>
              <a:t>Л7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20. Получите закон Джоуля-Ленца для неоднородного участка цепи в интегральной и дифференциальной формах. </a:t>
            </a:r>
            <a:r>
              <a:rPr lang="en-US" dirty="0"/>
              <a:t>[</a:t>
            </a:r>
            <a:r>
              <a:rPr lang="ru-RU" dirty="0"/>
              <a:t>Л8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21. Получите выражение для удельной мощности тока для неоднородного участка цепи. </a:t>
            </a:r>
            <a:r>
              <a:rPr lang="en-US" dirty="0"/>
              <a:t>[</a:t>
            </a:r>
            <a:r>
              <a:rPr lang="ru-RU" dirty="0"/>
              <a:t>Л8</a:t>
            </a:r>
            <a:r>
              <a:rPr lang="en-US" dirty="0"/>
              <a:t>]</a:t>
            </a:r>
            <a:endParaRPr lang="ru-RU" dirty="0"/>
          </a:p>
          <a:p>
            <a:r>
              <a:rPr lang="ru-RU" dirty="0"/>
              <a:t>22. Получите выражение для удельной мощности тока для однородного участка цепи. </a:t>
            </a:r>
            <a:r>
              <a:rPr lang="en-US" dirty="0"/>
              <a:t>[</a:t>
            </a:r>
            <a:r>
              <a:rPr lang="ru-RU" dirty="0"/>
              <a:t>Л8</a:t>
            </a:r>
            <a:r>
              <a:rPr lang="en-US" dirty="0"/>
              <a:t>]</a:t>
            </a:r>
            <a:endParaRPr lang="ru-RU" dirty="0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F257F6CE-985B-77F4-771C-BD7BABF73B37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Электростатика</a:t>
            </a:r>
          </a:p>
        </p:txBody>
      </p:sp>
    </p:spTree>
    <p:extLst>
      <p:ext uri="{BB962C8B-B14F-4D97-AF65-F5344CB8AC3E}">
        <p14:creationId xmlns:p14="http://schemas.microsoft.com/office/powerpoint/2010/main" val="202569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3F34-DBF7-AD7F-500B-3FB8AA88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C94FA5-1C7F-2E1F-71C4-C9A72FB68FF6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Электростатика </a:t>
            </a:r>
            <a:r>
              <a:rPr lang="en-US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2</a:t>
            </a:r>
            <a:r>
              <a:rPr lang="ru-RU" sz="2400" b="1" dirty="0">
                <a:solidFill>
                  <a:srgbClr val="FF0000"/>
                </a:solidFill>
                <a:latin typeface="Montserrat" panose="00000500000000000000" pitchFamily="2" charset="-52"/>
              </a:rPr>
              <a:t>/3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E469C7-84B9-6A15-DBFC-3F9F0924CB15}"/>
                  </a:ext>
                </a:extLst>
              </p:cNvPr>
              <p:cNvSpPr txBox="1"/>
              <p:nvPr/>
            </p:nvSpPr>
            <p:spPr>
              <a:xfrm>
                <a:off x="637590" y="1174398"/>
                <a:ext cx="10916817" cy="23419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23. Запишите систему уравнений Максвелла в интегральной форме. Как выглядит эта система уравнений в стационарном случае?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13]</a:t>
                </a:r>
                <a:endParaRPr lang="ru-RU" dirty="0"/>
              </a:p>
              <a:p>
                <a:r>
                  <a:rPr lang="ru-RU" dirty="0"/>
                  <a:t>24. Запишите систему уравнений Максвелла в дифференциальной форме. Что можно сказать об источниках и стоках линий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dirty="0"/>
                  <a:t>?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13]</a:t>
                </a:r>
                <a:endParaRPr lang="ru-RU" dirty="0"/>
              </a:p>
              <a:p>
                <a:r>
                  <a:rPr lang="ru-RU" dirty="0"/>
                  <a:t>25. Покажите с помощью системы уравнений Максвелла, как изменяющееся во времени электрическое поле порождает магнитное.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13]</a:t>
                </a:r>
                <a:endParaRPr lang="ru-RU" dirty="0"/>
              </a:p>
              <a:p>
                <a:r>
                  <a:rPr lang="ru-RU" dirty="0"/>
                  <a:t>26. Покажите с помощью системы уравнений Максвелла, как изменяющееся во времени магнитное поле порождает электрическое.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13]</a:t>
                </a:r>
                <a:endParaRPr lang="ru-RU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2E469C7-84B9-6A15-DBFC-3F9F0924C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90" y="1174398"/>
                <a:ext cx="10916817" cy="2341923"/>
              </a:xfrm>
              <a:prstGeom prst="rect">
                <a:avLst/>
              </a:prstGeom>
              <a:blipFill>
                <a:blip r:embed="rId2"/>
                <a:stretch>
                  <a:fillRect l="-503" t="-1563" r="-782" b="-33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7574039A-0262-E499-A027-D8A53597B371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FF0000"/>
                </a:solidFill>
                <a:latin typeface="Montserrat" panose="00000500000000000000" pitchFamily="2" charset="-52"/>
              </a:rPr>
              <a:t>Электромагнетизм!</a:t>
            </a:r>
          </a:p>
        </p:txBody>
      </p:sp>
    </p:spTree>
    <p:extLst>
      <p:ext uri="{BB962C8B-B14F-4D97-AF65-F5344CB8AC3E}">
        <p14:creationId xmlns:p14="http://schemas.microsoft.com/office/powerpoint/2010/main" val="58958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DD23444-E770-72B1-1130-08981E8B749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1. Дайте определение потока векторного поля через площадку. Докажите теорему Остроградского-Гаусса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в вакууме.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DD23444-E770-72B1-1130-08981E8B7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791BF26-F1D8-42D9-934B-9F1B7C03E93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Поток вектора </a:t>
                </a:r>
                <a:r>
                  <a:rPr lang="ru-RU" dirty="0"/>
                  <a:t>напряжённости поля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 через поверхность </a:t>
                </a:r>
                <a:r>
                  <a:rPr lang="en-US" dirty="0"/>
                  <a:t>S</a:t>
                </a:r>
              </a:p>
              <a:p>
                <a:endParaRPr lang="ru-RU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ru-R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В⋅м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endParaRPr lang="ru-RU" b="1" dirty="0"/>
              </a:p>
              <a:p>
                <a:r>
                  <a:rPr lang="ru-RU" b="1" dirty="0"/>
                  <a:t>Телесный угол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ср=стерадиан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ср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791BF26-F1D8-42D9-934B-9F1B7C03E9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522" t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8DDC58-CAC2-0670-F0D5-7B6D4307F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576113"/>
            <a:ext cx="2452396" cy="20166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7DF191-30B7-CC88-08C0-4EB9E6394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920409"/>
            <a:ext cx="2041849" cy="222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58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DB23-AC53-A6D3-9E9C-C888D091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4A98A4AC-DF9A-1B4F-AD15-7C00FDC3C48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1. Дайте определение потока векторного поля через площадку. Докажите теорему Остроградского-Гаусса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в вакууме.</a:t>
                </a:r>
                <a:br>
                  <a:rPr lang="ru-RU" dirty="0"/>
                </a:b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4A98A4AC-DF9A-1B4F-AD15-7C00FDC3C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B2A7C30-7500-A89A-6F7C-DB40061B13B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Теорема Остроградского-Гаусса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или</m:t>
                    </m:r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supHide m:val="on"/>
                            <m:ctrlPr>
                              <a:rPr lang="ru-RU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𝑑𝑉</m:t>
                            </m:r>
                          </m:e>
                        </m:nary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−объёмная плотнос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ть заряда</m:t>
                    </m:r>
                  </m:oMath>
                </a14:m>
                <a:endParaRPr lang="ru-RU" dirty="0"/>
              </a:p>
              <a:p>
                <a:r>
                  <a:rPr lang="ru-RU" b="1" i="1" dirty="0"/>
                  <a:t>Доказательство</a:t>
                </a:r>
                <a:endParaRPr lang="en-US" b="1" i="1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ru-RU" dirty="0"/>
              </a:p>
              <a:p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nary>
                      <m:naryPr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Для зарядов, которые не охвачены поверхностью </a:t>
                </a:r>
                <a:r>
                  <a:rPr lang="en-US" dirty="0"/>
                  <a:t>S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B2A7C30-7500-A89A-6F7C-DB40061B13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522" t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3D6CEB-9A95-410C-D36C-04CEBF52E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142" y="2131566"/>
            <a:ext cx="4119477" cy="38342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3BD948-B56D-519D-8E35-1FC5D9CB6E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457563"/>
            <a:ext cx="5741802" cy="173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7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545502-0942-EF39-5354-9DEC81C08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2. Докажите, что стационарное центральное поле является консервативным.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1A574D4-EE5D-BB12-AC5A-D61FE9FCA02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Представим центральную силу как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=±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пробн</m:t>
                            </m:r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пробн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ru-RU" dirty="0"/>
                  <a:t>Работа</a:t>
                </a:r>
                <a:r>
                  <a:rPr lang="en-US" dirty="0"/>
                  <a:t> </a:t>
                </a:r>
                <a:r>
                  <a:rPr lang="ru-RU" dirty="0"/>
                  <a:t>зависит только от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⟹ </a:t>
                </a:r>
                <a:r>
                  <a:rPr lang="ru-RU" dirty="0"/>
                  <a:t>поле консервативное.</a:t>
                </a:r>
              </a:p>
              <a:p>
                <a:endParaRPr lang="ru-RU" dirty="0"/>
              </a:p>
              <a:p>
                <a:r>
                  <a:rPr lang="ru-RU" dirty="0"/>
                  <a:t>Так как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, то верно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∀ </a:t>
                </a:r>
                <a:r>
                  <a:rPr lang="ru-RU" dirty="0"/>
                  <a:t>поля.</a:t>
                </a:r>
              </a:p>
              <a:p>
                <a:endParaRPr lang="ru-RU" dirty="0"/>
              </a:p>
              <a:p>
                <a:r>
                  <a:rPr lang="ru-RU" i="1" dirty="0"/>
                  <a:t>Доп.</a:t>
                </a:r>
                <a:r>
                  <a:rPr lang="en-US" i="1" dirty="0"/>
                  <a:t> </a:t>
                </a:r>
                <a:r>
                  <a:rPr lang="ru-RU" i="1" dirty="0"/>
                  <a:t>док-во: в центральном поле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i="1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1A574D4-EE5D-BB12-AC5A-D61FE9FCA0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3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C3FCA-D074-E07B-CACF-133A9D9F7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007" y="1248505"/>
            <a:ext cx="3452794" cy="349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80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C7830-880A-3E51-758F-C0AC6D0E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Покажите, как связаны потенциальная энергия и сила, напряжённость и потенциал.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DE30370-4E8B-9826-498C-1E34A828D8A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0" dirty="0"/>
                  <a:t>Возьмём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𝑑𝑊</m:t>
                    </m:r>
                  </m:oMath>
                </a14:m>
                <a:r>
                  <a:rPr lang="en-US" b="0" dirty="0"/>
                  <a:t>, </a:t>
                </a:r>
                <a:r>
                  <a:rPr lang="ru-RU" dirty="0"/>
                  <a:t>значит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𝑑𝑊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𝑑𝑟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r>
                  <a:rPr lang="ru-RU" dirty="0"/>
                  <a:t>Аналогично, в декартовых</a:t>
                </a:r>
                <a:r>
                  <a:rPr lang="en-US" dirty="0"/>
                  <a:t>,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lang="ru-RU" dirty="0"/>
                  <a:t>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𝑑𝑊</m:t>
                    </m:r>
                  </m:oMath>
                </a14:m>
                <a:r>
                  <a:rPr lang="ru-RU" b="0" dirty="0"/>
                  <a:t>, значит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𝑑𝑊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𝑑𝑊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𝑑𝑊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𝑔𝑟𝑎𝑑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b="0" dirty="0"/>
                  <a:t>.</a:t>
                </a:r>
                <a:endParaRPr lang="ru-RU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e>
                      </m:acc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𝒈𝒓𝒂𝒅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r>
                  <a:rPr lang="ru-RU" dirty="0"/>
                  <a:t>По опр.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пробн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:r>
                  <a:rPr lang="ru-RU" dirty="0"/>
                  <a:t>значит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пробн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.</a:t>
                </a:r>
                <a:endParaRPr lang="ru-RU" dirty="0">
                  <a:latin typeface="Cambria Math" panose="02040503050406030204" pitchFamily="18" charset="0"/>
                </a:endParaRP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𝒈𝒓𝒂𝒅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</m:oMath>
                  </m:oMathPara>
                </a14:m>
                <a:endParaRPr lang="ru-RU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𝝋</m:t>
                      </m:r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=−∫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𝒅𝒓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  <a:p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DE30370-4E8B-9826-498C-1E34A828D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574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C17CCA-E48B-AAB3-BFE5-8DEB518C8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Опишите механизмы поляризации диэлектриков. Дайте определение вектора поляризации,</a:t>
            </a:r>
            <a:r>
              <a:rPr lang="en-US" dirty="0"/>
              <a:t> </a:t>
            </a:r>
            <a:r>
              <a:rPr lang="ru-RU" dirty="0"/>
              <a:t>поляризуемости, диэлектрической восприимчивости, диэлектрической проницаемости. Запишите</a:t>
            </a:r>
            <a:r>
              <a:rPr lang="en-US" dirty="0"/>
              <a:t> </a:t>
            </a:r>
            <a:r>
              <a:rPr lang="ru-RU" dirty="0"/>
              <a:t>уравнения, связывающие эти величины.</a:t>
            </a:r>
            <a:br>
              <a:rPr lang="en-US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0AB9C9-17C4-8F76-8DCB-386E4CF5A5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dirty="0"/>
              <a:t>Электрическая поляризация</a:t>
            </a:r>
            <a:r>
              <a:rPr lang="ru-RU" dirty="0"/>
              <a:t> – смещение в противоположные стороны + и – зарядов диэлектрика (</a:t>
            </a:r>
            <a:r>
              <a:rPr lang="ru-RU" i="1" dirty="0"/>
              <a:t>вещества, практически не проводящего ток</a:t>
            </a:r>
            <a:r>
              <a:rPr lang="ru-RU" dirty="0"/>
              <a:t>) под действием внешнего электрического поля.</a:t>
            </a:r>
            <a:endParaRPr lang="en-US" dirty="0"/>
          </a:p>
          <a:p>
            <a:endParaRPr lang="ru-RU" dirty="0"/>
          </a:p>
          <a:p>
            <a:r>
              <a:rPr lang="ru-RU" b="1" i="1" dirty="0"/>
              <a:t>Поляризация неполярных диэлектриков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2D6B90-A406-AFFC-7979-7FB09CD70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10" y="2429078"/>
            <a:ext cx="5033490" cy="37607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88AD3C-1489-6CB0-9F9C-01F9A2D1A206}"/>
              </a:ext>
            </a:extLst>
          </p:cNvPr>
          <p:cNvSpPr txBox="1"/>
          <p:nvPr/>
        </p:nvSpPr>
        <p:spPr>
          <a:xfrm>
            <a:off x="838200" y="2904940"/>
            <a:ext cx="5257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Montserrat" panose="00000500000000000000" pitchFamily="2" charset="-52"/>
              </a:rPr>
              <a:t>Под действием внешнего поля электронное облако смещается относительно ядра атома. </a:t>
            </a:r>
            <a:endParaRPr lang="en-US" dirty="0">
              <a:latin typeface="Montserrat" panose="00000500000000000000" pitchFamily="2" charset="-52"/>
            </a:endParaRPr>
          </a:p>
          <a:p>
            <a:r>
              <a:rPr lang="ru-RU" dirty="0">
                <a:latin typeface="Montserrat" panose="00000500000000000000" pitchFamily="2" charset="-52"/>
              </a:rPr>
              <a:t>Центры положительных и отрицательных зарядов перестают совпадать, и у атома/молекулы появляется индуцированный дипольный момент.</a:t>
            </a:r>
          </a:p>
        </p:txBody>
      </p:sp>
    </p:spTree>
    <p:extLst>
      <p:ext uri="{BB962C8B-B14F-4D97-AF65-F5344CB8AC3E}">
        <p14:creationId xmlns:p14="http://schemas.microsoft.com/office/powerpoint/2010/main" val="362858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9122-AB9A-D6CB-128C-95367956A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7C90D-CB97-56F7-A0EE-72FB9CEC7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Опишите механизмы поляризации диэлектриков. Дайте определение вектора поляризации,</a:t>
            </a:r>
            <a:r>
              <a:rPr lang="en-US" dirty="0"/>
              <a:t> </a:t>
            </a:r>
            <a:r>
              <a:rPr lang="ru-RU" dirty="0"/>
              <a:t>поляризуемости, диэлектрической восприимчивости, диэлектрической проницаемости. Запишите</a:t>
            </a:r>
            <a:r>
              <a:rPr lang="en-US" dirty="0"/>
              <a:t> </a:t>
            </a:r>
            <a:r>
              <a:rPr lang="ru-RU" dirty="0"/>
              <a:t>уравнения, связывающие эти величины.</a:t>
            </a:r>
            <a:br>
              <a:rPr lang="en-US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1803AC-8686-F733-23CF-B75F3FEA6A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b="1" i="1" dirty="0"/>
              <a:t>Поляризация полярных диэлектриков</a:t>
            </a:r>
          </a:p>
          <a:p>
            <a:r>
              <a:rPr lang="ru-RU" dirty="0"/>
              <a:t>В отсутствие поля молекулы ориентированы хаотично из-за теплового движения. При наложении поля они стремятся выстроиться вдоль силовых линий. Чем выше температура, тем слабее эта поляризация из-за мешающих тепловых колебаний.</a:t>
            </a:r>
          </a:p>
          <a:p>
            <a:endParaRPr lang="ru-RU" b="1" i="1" dirty="0"/>
          </a:p>
          <a:p>
            <a:endParaRPr lang="ru-RU" b="1" i="1" dirty="0"/>
          </a:p>
          <a:p>
            <a:endParaRPr lang="ru-RU" b="1" i="1" dirty="0"/>
          </a:p>
          <a:p>
            <a:endParaRPr lang="ru-RU" b="1" i="1" dirty="0"/>
          </a:p>
          <a:p>
            <a:r>
              <a:rPr lang="ru-RU" b="1" i="1" dirty="0"/>
              <a:t>Поляризация ионных кристаллов</a:t>
            </a:r>
            <a:endParaRPr lang="en-US" b="1" i="1" dirty="0"/>
          </a:p>
          <a:p>
            <a:r>
              <a:rPr lang="ru-RU" dirty="0"/>
              <a:t>Происходит относительное смещение подрешеток положительных и отрицательных ионов в противоположных направлениях.</a:t>
            </a:r>
            <a:endParaRPr lang="ru-RU" b="1" i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87AC4D5-BF9F-9DB2-18CD-624DFA3B1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520" y="2442852"/>
            <a:ext cx="6706960" cy="165649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C42578-703A-3479-22FF-757224F21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141" y="5038200"/>
            <a:ext cx="8301717" cy="114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64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8D34C-7453-1BE7-AB27-84A1CBC2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34182E-4794-A1D5-80D4-21C2E57F2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4. Опишите механизмы поляризации диэлектриков. Дайте определение вектора поляризации,</a:t>
            </a:r>
            <a:r>
              <a:rPr lang="en-US" dirty="0"/>
              <a:t> </a:t>
            </a:r>
            <a:r>
              <a:rPr lang="ru-RU" dirty="0"/>
              <a:t>поляризуемости, диэлектрической восприимчивости, диэлектрической проницаемости. Запишите</a:t>
            </a:r>
            <a:r>
              <a:rPr lang="en-US" dirty="0"/>
              <a:t> </a:t>
            </a:r>
            <a:r>
              <a:rPr lang="ru-RU" dirty="0"/>
              <a:t>уравнения, связывающие эти величины.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90E4413-46CE-7A30-96F7-D06C7BD7847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Дипольный момент одной молекулы в поле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Кл⋅м</m:t>
                          </m:r>
                        </m:e>
                      </m:d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Ф</m:t>
                          </m:r>
                        </m:num>
                        <m:den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den>
                      </m:f>
                      <m:r>
                        <a:rPr lang="ru-RU" i="1" dirty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ru-RU" i="1" dirty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В</m:t>
                          </m:r>
                        </m:num>
                        <m:den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м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b="1" dirty="0"/>
                  <a:t>Поляризуемость </a:t>
                </a:r>
                <a:r>
                  <a:rPr lang="ru-RU" dirty="0"/>
                  <a:t>молекулы</a:t>
                </a:r>
                <a:r>
                  <a:rPr lang="ru-RU" b="1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коэффициент пропорциональности между дипольным моментом частицы и напряженностью поля.</a:t>
                </a:r>
                <a:endParaRPr lang="en-US" dirty="0"/>
              </a:p>
              <a:p>
                <a:r>
                  <a:rPr lang="ru-RU" b="1" dirty="0"/>
                  <a:t>Вектор поляризации (поляризованность)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макроскопическая характеристика степени поляризации диэлектрика</a:t>
                </a:r>
                <a:r>
                  <a:rPr lang="en-US" dirty="0"/>
                  <a:t>.</a:t>
                </a:r>
                <a:endParaRPr lang="ru-RU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nary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æ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⟨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[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Кл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b="1" dirty="0"/>
                  <a:t>Диэлектрическая восприимчивость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æ</m:t>
                    </m:r>
                  </m:oMath>
                </a14:m>
                <a:r>
                  <a:rPr lang="ru-RU" dirty="0"/>
                  <a:t> (безразмерная величина)</a:t>
                </a:r>
                <a:r>
                  <a:rPr lang="en-US" dirty="0"/>
                  <a:t> – </a:t>
                </a:r>
                <a:r>
                  <a:rPr lang="ru-RU" dirty="0"/>
                  <a:t>способность данного диэлектрика поляризоваться под действием электрического поля</a:t>
                </a:r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b="1" dirty="0"/>
                  <a:t>Диэлектрическая проницаемость </a:t>
                </a:r>
                <a14:m>
                  <m:oMath xmlns:m="http://schemas.openxmlformats.org/officeDocument/2006/math"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æ</m:t>
                    </m:r>
                  </m:oMath>
                </a14:m>
                <a:r>
                  <a:rPr lang="ru-RU" dirty="0"/>
                  <a:t> (безразмерная величина)</a:t>
                </a:r>
                <a:r>
                  <a:rPr lang="en-US" dirty="0"/>
                  <a:t> – </a:t>
                </a:r>
                <a:r>
                  <a:rPr lang="ru-RU" dirty="0"/>
                  <a:t>способность данного диэлектрика поляризоваться под действием электрического поля</a:t>
                </a:r>
                <a:r>
                  <a:rPr lang="en-US" dirty="0"/>
                  <a:t>.</a:t>
                </a:r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90E4413-46CE-7A30-96F7-D06C7BD78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7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6F83D5B-FBC5-FAA8-AFD8-42900A530F8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5. Дайте определение вектора электрической индукции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. Пластина из однородного, изотропного диэлектрика размещена перпендикулярно линиям напряжённости однородного электрического поля, напряжённостью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acc>
                  </m:oMath>
                </a14:m>
                <a:r>
                  <a:rPr lang="ru-RU" dirty="0"/>
                  <a:t>. Получите выражения для векторов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в диэлектрике.</a:t>
                </a:r>
                <a:endParaRPr lang="en-US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6F83D5B-FBC5-FAA8-AFD8-42900A530F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2158" r="-696" b="-33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710AF9B-27EF-52CC-FF9F-BAC5B0AAD3B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446244"/>
                <a:ext cx="10515600" cy="4743539"/>
              </a:xfrm>
            </p:spPr>
            <p:txBody>
              <a:bodyPr/>
              <a:lstStyle/>
              <a:p>
                <a:r>
                  <a:rPr lang="ru-RU" b="1" dirty="0"/>
                  <a:t>Вектор электрической индукции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описывает электрическое поле, создаваемое только </a:t>
                </a:r>
                <a:r>
                  <a:rPr lang="ru-RU" i="1" dirty="0"/>
                  <a:t>свободными (сторонними) </a:t>
                </a:r>
                <a:r>
                  <a:rPr lang="ru-RU" dirty="0"/>
                  <a:t>зарядами.</a:t>
                </a:r>
              </a:p>
              <a:p>
                <a:r>
                  <a:rPr lang="ru-RU" dirty="0"/>
                  <a:t>Знаем, что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æ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dirty="0"/>
                  <a:t>Для бесконечной пластины в изотропной среде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ослабляется в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раз (</a:t>
                </a:r>
                <a:r>
                  <a:rPr lang="ru-RU" b="1" dirty="0">
                    <a:solidFill>
                      <a:srgbClr val="FF0000"/>
                    </a:solidFill>
                  </a:rPr>
                  <a:t>билет 9</a:t>
                </a:r>
                <a:r>
                  <a:rPr lang="ru-RU" dirty="0"/>
                  <a:t>):</a:t>
                </a: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По граничному условию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По рисунку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ru-RU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æ</m:t>
                        </m:r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ru-RU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æ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Суммарное поле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æ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Отсюда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æ</m:t>
                        </m:r>
                      </m:den>
                    </m:f>
                    <m:r>
                      <a:rPr lang="ru-RU" b="0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b="0" i="1" dirty="0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ru-RU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æ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ru-RU" dirty="0"/>
                            <m:t> </m:t>
                          </m:r>
                        </m:num>
                        <m:den>
                          <m:r>
                            <a:rPr lang="ru-RU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r>
                        <a:rPr lang="ru-RU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710AF9B-27EF-52CC-FF9F-BAC5B0AAD3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446244"/>
                <a:ext cx="10515600" cy="4743539"/>
              </a:xfrm>
              <a:blipFill>
                <a:blip r:embed="rId3"/>
                <a:stretch>
                  <a:fillRect l="-522" t="-514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C7629FA-1D68-9B46-D82E-35608BD09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298" y="3032796"/>
            <a:ext cx="3525053" cy="23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18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B912E9A1-59BA-A4C2-EA6F-46261E6C6BF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6. Сформулируйте теорему 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. Шар радиусом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 из диэлектрика с</a:t>
                </a:r>
                <a:r>
                  <a:rPr lang="en-US" dirty="0"/>
                  <a:t> </a:t>
                </a:r>
                <a:r>
                  <a:rPr lang="ru-RU" dirty="0"/>
                  <a:t>проницаемостью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заряжен равномерно с объёмной плотностью заряда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Вычислите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B912E9A1-59BA-A4C2-EA6F-46261E6C6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2158" b="-7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3CD42FB-34A8-62D3-4608-8BC9E4A8A09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Теорема </a:t>
                </a:r>
                <a:r>
                  <a:rPr lang="ru-RU" dirty="0"/>
                  <a:t>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своб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i="1" dirty="0"/>
              </a:p>
              <a:p>
                <a:r>
                  <a:rPr lang="ru-RU" b="1" i="1" dirty="0"/>
                  <a:t>Доказательство</a:t>
                </a:r>
                <a:r>
                  <a:rPr lang="en-US" b="1" i="1" dirty="0"/>
                  <a:t>. </a:t>
                </a:r>
                <a:r>
                  <a:rPr lang="ru-RU" dirty="0"/>
                  <a:t>Возьмём теоремы Гаусса для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i="1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</m:oMath>
                </a14:m>
                <a:endParaRPr lang="en-US" i="1" dirty="0"/>
              </a:p>
              <a:p>
                <a:endParaRPr lang="en-US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chr m:val="∮"/>
                                  <m:limLoc m:val="undOv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связ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  <m:t>своб</m:t>
                                  </m:r>
                                </m:sub>
                              </m:sSub>
                            </m:e>
                            <m:e>
                              <m:nary>
                                <m:naryPr>
                                  <m:chr m:val="∮"/>
                                  <m:limLoc m:val="undOvr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/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</m:acc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связ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eqAr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своб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своб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3CD42FB-34A8-62D3-4608-8BC9E4A8A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522" t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63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69EF3-07B9-9FCA-1A75-DEC3BA961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45EB0B3-061D-D896-D6A4-7741598751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/>
                  <a:t>6. Сформулируйте теорему Гаусса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. Шар радиусом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ru-RU" dirty="0"/>
                  <a:t> из диэлектрика с</a:t>
                </a:r>
                <a:r>
                  <a:rPr lang="en-US" dirty="0"/>
                  <a:t> </a:t>
                </a:r>
                <a:r>
                  <a:rPr lang="ru-RU" dirty="0"/>
                  <a:t>проницаемостью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заряжен равномерно с объёмной плотностью заряда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Вычислите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45EB0B3-061D-D896-D6A4-774159875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2158" b="-7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F90D5B9-E931-979B-0A1A-D0D55BC0BCD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1)</a:t>
                </a: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rgbClr val="FF0000"/>
                    </a:solidFill>
                  </a:rPr>
                  <a:t>внутри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ru-RU" dirty="0"/>
                  <a:t>По т. Гаусса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⋅4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box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r>
                  <a:rPr lang="ru-RU" dirty="0"/>
                  <a:t>Отсюда,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dirty="0"/>
                  <a:t>2) </a:t>
                </a:r>
                <a:r>
                  <a:rPr lang="ru-RU" dirty="0">
                    <a:solidFill>
                      <a:srgbClr val="0070C0"/>
                    </a:solidFill>
                  </a:rPr>
                  <a:t>снаружи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: 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𝑑𝑆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ru-RU" dirty="0"/>
                  <a:t>По т. Гаусса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box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Отсюда,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Найдём потенциал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+0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, т.к. </a:t>
                </a:r>
                <a14:m>
                  <m:oMath xmlns:m="http://schemas.openxmlformats.org/officeDocument/2006/math"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=∞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𝑑𝑟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т.к.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F90D5B9-E931-979B-0A1A-D0D55BC0BC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l="-522" t="-109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F8B83B-4011-2BE5-C0FB-E93EAA24B3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880" y="1248506"/>
            <a:ext cx="3834920" cy="25142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1E0DA35-663F-08C6-18C9-C9A4C9808D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3572" y="4170784"/>
            <a:ext cx="3680228" cy="168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45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01A39986-C83E-27B1-F4C4-F611B402A82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7.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01A39986-C83E-27B1-F4C4-F611B402A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094416-152A-ACD9-0A54-B6541F68B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0" r="4429"/>
          <a:stretch>
            <a:fillRect/>
          </a:stretch>
        </p:blipFill>
        <p:spPr>
          <a:xfrm>
            <a:off x="1720331" y="1130154"/>
            <a:ext cx="8751337" cy="5328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14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0990-A623-B23D-23C8-74FEACB2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56200322-D0C1-EDA8-87E3-AA4CD60A3ED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7.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56200322-D0C1-EDA8-87E3-AA4CD60A3E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DE144F-132C-5C42-7527-1B2D13401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6"/>
          <a:stretch>
            <a:fillRect/>
          </a:stretch>
        </p:blipFill>
        <p:spPr>
          <a:xfrm>
            <a:off x="838200" y="1248508"/>
            <a:ext cx="8247373" cy="49714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1E2027-37C1-FECC-117D-6E6A8BC18795}"/>
                  </a:ext>
                </a:extLst>
              </p:cNvPr>
              <p:cNvSpPr txBox="1"/>
              <p:nvPr/>
            </p:nvSpPr>
            <p:spPr>
              <a:xfrm>
                <a:off x="8619487" y="5019673"/>
                <a:ext cx="32003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1E2027-37C1-FECC-117D-6E6A8BC187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9487" y="5019673"/>
                <a:ext cx="3200399" cy="1200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371636-D10E-14C2-46F5-71A479BA5978}"/>
              </a:ext>
            </a:extLst>
          </p:cNvPr>
          <p:cNvSpPr/>
          <p:nvPr/>
        </p:nvSpPr>
        <p:spPr>
          <a:xfrm>
            <a:off x="8724122" y="5619837"/>
            <a:ext cx="3013788" cy="6689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15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7466-00D9-853F-D89B-4F1A772B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007ED3B-CF9C-34F9-3597-C3217D0773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7.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007ED3B-CF9C-34F9-3597-C3217D0773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68F0FB-2D18-517C-BDFB-34C4495B6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977" y="4087608"/>
            <a:ext cx="4684990" cy="169162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CB92B7-4785-5C12-A1A0-BF010CE17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026" y="1378685"/>
            <a:ext cx="4048125" cy="44005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0031BBB-90E3-BCDD-925A-ED1E2424B6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2617"/>
          <a:stretch>
            <a:fillRect/>
          </a:stretch>
        </p:blipFill>
        <p:spPr>
          <a:xfrm>
            <a:off x="6165977" y="1574087"/>
            <a:ext cx="3705225" cy="185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31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E05E-6559-25F5-A0CD-DB8B70AD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50EC633-CA49-6EF6-5372-A1517A6F7B5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8.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50EC633-CA49-6EF6-5372-A1517A6F7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6EFD7FC-D65B-E125-4FEE-09FDEA60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00" r="4429"/>
          <a:stretch>
            <a:fillRect/>
          </a:stretch>
        </p:blipFill>
        <p:spPr>
          <a:xfrm>
            <a:off x="360784" y="1130154"/>
            <a:ext cx="8751337" cy="53281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F6DE49-52FC-3155-45BB-6FB111B8457A}"/>
                  </a:ext>
                </a:extLst>
              </p:cNvPr>
              <p:cNvSpPr txBox="1"/>
              <p:nvPr/>
            </p:nvSpPr>
            <p:spPr>
              <a:xfrm>
                <a:off x="8630817" y="4632822"/>
                <a:ext cx="3200399" cy="18255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sz="3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36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F6DE49-52FC-3155-45BB-6FB111B84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817" y="4632822"/>
                <a:ext cx="3200399" cy="1825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7E61FF8-0068-8508-8D58-8ADCECACC220}"/>
              </a:ext>
            </a:extLst>
          </p:cNvPr>
          <p:cNvSpPr/>
          <p:nvPr/>
        </p:nvSpPr>
        <p:spPr>
          <a:xfrm>
            <a:off x="9112121" y="5243804"/>
            <a:ext cx="2241679" cy="12145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2957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B737-7452-71A3-356D-E18D7FAED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1C56F5F-B48D-8A04-0C68-B1B4FCDDFA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8.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21C56F5F-B48D-8A04-0C68-B1B4FCDDFA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6DF2796-41DB-0520-A2B0-5203A5107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6"/>
          <a:stretch>
            <a:fillRect/>
          </a:stretch>
        </p:blipFill>
        <p:spPr>
          <a:xfrm>
            <a:off x="1972313" y="1248508"/>
            <a:ext cx="8247373" cy="49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612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BD47F92-F0B7-28D7-C39E-AC6B181D30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8. Выведите правила преломления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en-US" i="1" dirty="0"/>
                  <a:t> </a:t>
                </a:r>
                <a:r>
                  <a:rPr lang="ru-RU" dirty="0"/>
                  <a:t>на границе диэлектрик-диэлектрик.</a:t>
                </a:r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8BD47F92-F0B7-28D7-C39E-AC6B181D3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B4A8F2-5CAD-0875-3EF3-AA6BE8D2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94" y="1248508"/>
            <a:ext cx="4633493" cy="489420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9575C2-B0B3-E6D3-914A-4E2293D6C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28610"/>
            <a:ext cx="5419501" cy="177365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1C2BE32-02ED-6C99-DA61-9380AA747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281" y="1890599"/>
            <a:ext cx="2649083" cy="107597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AA24052-4F64-8740-C602-309E1B3441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1322" y="1659724"/>
            <a:ext cx="2334179" cy="170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93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3C143-043F-2678-000E-E10D925D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9. Пластина из однородного, изотропного диэлектрика размещена перпендикулярно линиям напряжённости однородного электрического поля. Докажите, что диэлектрическая проницаемость показывает во сколько раз ослабевает однородное электрическое поле, попадая в диэлектрик.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492073A-474F-2648-0F4E-82AA0BF6B27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399592"/>
                <a:ext cx="10515600" cy="4790192"/>
              </a:xfrm>
            </p:spPr>
            <p:txBody>
              <a:bodyPr/>
              <a:lstStyle/>
              <a:p>
                <a:r>
                  <a:rPr lang="ru-RU" dirty="0"/>
                  <a:t>Для бесконечной пластины в изотропной среде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ослабляется в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раз:</a:t>
                </a:r>
              </a:p>
              <a:p>
                <a:r>
                  <a:rPr lang="ru-RU" dirty="0"/>
                  <a:t>По граничному условию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Знаем, что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æ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По рисунку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num>
                      <m:den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æ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Суммарное поле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ru-RU" dirty="0"/>
                  <a:t>Отсюда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æ</m:t>
                        </m:r>
                      </m:den>
                    </m:f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492073A-474F-2648-0F4E-82AA0BF6B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399592"/>
                <a:ext cx="10515600" cy="4790192"/>
              </a:xfrm>
              <a:blipFill>
                <a:blip r:embed="rId2"/>
                <a:stretch>
                  <a:fillRect l="-522" t="-6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E19F78-5459-C929-F987-B3AD1DBD9C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747" y="1774783"/>
            <a:ext cx="3525053" cy="230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58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433373-5E0C-DA03-85D1-E75A6E6FB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10. В чём заключается метод электрических изображений при определении напряжённости</a:t>
            </a:r>
            <a:r>
              <a:rPr lang="en-US" dirty="0"/>
              <a:t> </a:t>
            </a:r>
            <a:r>
              <a:rPr lang="ru-RU" dirty="0"/>
              <a:t>электрического поля вблизи поверхности проводника.</a:t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FEEC1E-ADAB-608F-9F23-3C046DF44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Если сложно вычислить поле и потенциал реального распределения зарядов, можно придумать другую конфигурацию зарядов, которая даст такое же распределение потенциала по поверхности проводников. В тех точках пространства, где есть поле, его напряжённость и потенциал можно будет вычислять как напряжённость и потенциал от новой конфигурации зарядов.</a:t>
            </a:r>
          </a:p>
          <a:p>
            <a:r>
              <a:rPr lang="ru-RU" b="1" i="1" dirty="0"/>
              <a:t>Пример</a:t>
            </a:r>
            <a:r>
              <a:rPr lang="ru-RU" dirty="0"/>
              <a:t>. Точечный заряд и бесконечная проводящая плоскость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5A4E9D-B502-6489-EDCB-523E30A7F3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88"/>
          <a:stretch>
            <a:fillRect/>
          </a:stretch>
        </p:blipFill>
        <p:spPr>
          <a:xfrm>
            <a:off x="7449780" y="3037846"/>
            <a:ext cx="3904020" cy="31519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62EFA1-A5A8-6DF1-1051-8165D03720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516" r="1557" b="3786"/>
          <a:stretch>
            <a:fillRect/>
          </a:stretch>
        </p:blipFill>
        <p:spPr>
          <a:xfrm>
            <a:off x="903515" y="3192726"/>
            <a:ext cx="2849881" cy="11741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A9BEA7A-884D-4B13-1958-162B9E93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481"/>
          <a:stretch>
            <a:fillRect/>
          </a:stretch>
        </p:blipFill>
        <p:spPr>
          <a:xfrm>
            <a:off x="3877916" y="3255245"/>
            <a:ext cx="3146689" cy="111163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9E05A9A-2EF5-37A0-6C17-AD6F9D64B9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514" y="4366876"/>
            <a:ext cx="4287761" cy="158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112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F88D-1D93-E787-4722-475C2DF07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8C194-6470-7BF9-4981-C324AB9AE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10. В чём заключается метод электрических изображений при определении напряжённости</a:t>
            </a:r>
            <a:r>
              <a:rPr lang="en-US" dirty="0"/>
              <a:t> </a:t>
            </a:r>
            <a:r>
              <a:rPr lang="ru-RU" dirty="0"/>
              <a:t>электрического поля вблизи поверхности проводника.</a:t>
            </a:r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8F453E-B725-3608-4781-85C9DAF9B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39" y="1608524"/>
            <a:ext cx="5175569" cy="38924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25452F3-A1E7-9595-5E0B-806EDC8F0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581" y="1608524"/>
            <a:ext cx="5197840" cy="389248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A66DDE-0BD2-7DCA-B9A2-36DE6123F79A}"/>
              </a:ext>
            </a:extLst>
          </p:cNvPr>
          <p:cNvSpPr txBox="1"/>
          <p:nvPr/>
        </p:nvSpPr>
        <p:spPr>
          <a:xfrm>
            <a:off x="1079726" y="1199019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Montserrat" panose="00000500000000000000" pitchFamily="2" charset="-52"/>
              </a:rPr>
              <a:t>Две перпендикулярных плоскости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C69144-78EC-AAB0-514B-B751A0BC5765}"/>
              </a:ext>
            </a:extLst>
          </p:cNvPr>
          <p:cNvSpPr txBox="1"/>
          <p:nvPr/>
        </p:nvSpPr>
        <p:spPr>
          <a:xfrm>
            <a:off x="7624233" y="1182673"/>
            <a:ext cx="259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Montserrat" panose="00000500000000000000" pitchFamily="2" charset="-52"/>
              </a:rPr>
              <a:t>Заземлённая сфера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3D6D93-E02D-A7C4-1609-E5A7A234FD9B}"/>
              </a:ext>
            </a:extLst>
          </p:cNvPr>
          <p:cNvSpPr txBox="1"/>
          <p:nvPr/>
        </p:nvSpPr>
        <p:spPr>
          <a:xfrm>
            <a:off x="7045965" y="5487634"/>
            <a:ext cx="4045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" panose="00000500000000000000" pitchFamily="2" charset="-52"/>
              </a:rPr>
              <a:t>Для незаземлённой сферы нужно добавить заряд в центре</a:t>
            </a:r>
          </a:p>
        </p:txBody>
      </p:sp>
    </p:spTree>
    <p:extLst>
      <p:ext uri="{BB962C8B-B14F-4D97-AF65-F5344CB8AC3E}">
        <p14:creationId xmlns:p14="http://schemas.microsoft.com/office/powerpoint/2010/main" val="725713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E646-1333-0472-ECE9-F0DC8081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6DB0D-156E-0858-9384-0A6F922E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11. Дайте определение электрической ёмкости уединённого проводника и конденсатора. Выведите формулу для ёмкости плоского и сферического конденсаторов.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8BEF1A1-9D09-D4EE-46AD-F3F9EBD6251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1" y="1248508"/>
                <a:ext cx="5189376" cy="1696414"/>
              </a:xfrm>
            </p:spPr>
            <p:txBody>
              <a:bodyPr/>
              <a:lstStyle/>
              <a:p>
                <a:r>
                  <a:rPr lang="ru-RU" b="1" dirty="0"/>
                  <a:t>Электрическая ёмкость уединённого проводника </a:t>
                </a:r>
                <a:endParaRPr lang="en-US" b="1" dirty="0"/>
              </a:p>
              <a:p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Фарад</m:t>
                    </m:r>
                  </m:oMath>
                </a14:m>
                <a:endParaRPr lang="ru-RU" dirty="0"/>
              </a:p>
              <a:p>
                <a:endParaRPr lang="ru-RU" b="1" dirty="0"/>
              </a:p>
              <a:p>
                <a:endParaRPr lang="en-US" b="1" dirty="0"/>
              </a:p>
              <a:p>
                <a:endParaRPr lang="ru-RU" b="1" dirty="0"/>
              </a:p>
              <a:p>
                <a:endParaRPr lang="ru-RU" b="1" dirty="0"/>
              </a:p>
              <a:p>
                <a:endParaRPr lang="ru-RU" b="1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8BEF1A1-9D09-D4EE-46AD-F3F9EBD62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1" y="1248508"/>
                <a:ext cx="5189376" cy="1696414"/>
              </a:xfrm>
              <a:blipFill>
                <a:blip r:embed="rId2"/>
                <a:stretch>
                  <a:fillRect l="-1058" t="-3597" r="-9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45A1DC-E0C6-FE19-8A08-CD82B9C1E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828" y="1248508"/>
            <a:ext cx="4985657" cy="16240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CB9856-C50C-D11E-7651-39BB6042E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273" y="3009170"/>
            <a:ext cx="4225212" cy="34491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F2960E-C9E6-2C6C-1304-CF7322CD1B8C}"/>
                  </a:ext>
                </a:extLst>
              </p:cNvPr>
              <p:cNvSpPr txBox="1"/>
              <p:nvPr/>
            </p:nvSpPr>
            <p:spPr>
              <a:xfrm>
                <a:off x="838200" y="3197862"/>
                <a:ext cx="6225073" cy="13978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dirty="0">
                    <a:latin typeface="Montserrat" panose="00000500000000000000" pitchFamily="2" charset="-52"/>
                  </a:rPr>
                  <a:t>Электрическая ёмкость конденсатора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С=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</a:rPr>
                        <m:t>,  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Фарад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– </a:t>
                </a:r>
                <a:r>
                  <a:rPr lang="ru-RU" dirty="0">
                    <a:latin typeface="Montserrat" panose="00000500000000000000" pitchFamily="2" charset="-52"/>
                  </a:rPr>
                  <a:t>разность потенциалов между обкладками конденсатора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6F2960E-C9E6-2C6C-1304-CF7322CD1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97862"/>
                <a:ext cx="6225073" cy="1397819"/>
              </a:xfrm>
              <a:prstGeom prst="rect">
                <a:avLst/>
              </a:prstGeom>
              <a:blipFill>
                <a:blip r:embed="rId5"/>
                <a:stretch>
                  <a:fillRect l="-881" t="-2183" b="-65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881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D282C3-640A-FFAA-941C-BDCED6BE1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11. Дайте определение электрической ёмкости уединённого проводника и конденсатора. Выведите формулу для ёмкости плоского и сферического конденсаторов.</a:t>
            </a:r>
            <a:br>
              <a:rPr lang="en-US" dirty="0"/>
            </a:b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543EE9C-88C1-67A2-C4DC-AF186B5E556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199" y="1248508"/>
                <a:ext cx="7468688" cy="1951848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Ёмкость плоского конденсатора</a:t>
                </a:r>
              </a:p>
              <a:p>
                <a:r>
                  <a:rPr lang="ru-RU" dirty="0"/>
                  <a:t>По т. Гаусса для одной обкладки</a:t>
                </a:r>
                <a:r>
                  <a:rPr lang="en-US" dirty="0"/>
                  <a:t> (</a:t>
                </a:r>
                <a:r>
                  <a:rPr lang="ru-RU" dirty="0"/>
                  <a:t>с диэлектриком</a:t>
                </a:r>
                <a:r>
                  <a:rPr lang="en-US" dirty="0"/>
                  <a:t>)</a:t>
                </a:r>
                <a:r>
                  <a:rPr lang="ru-RU" dirty="0"/>
                  <a:t>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Напряженность поля внутри конденсатора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:r>
                  <a:rPr lang="en-US" dirty="0"/>
                  <a:t>.</a:t>
                </a:r>
              </a:p>
              <a:p>
                <a:r>
                  <a:rPr lang="ru-RU" dirty="0"/>
                  <a:t>Разность потенциалов: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dirty="0"/>
                  <a:t>. </a:t>
                </a:r>
                <a:r>
                  <a:rPr lang="ru-RU" dirty="0"/>
                  <a:t>Ёмкость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С=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543EE9C-88C1-67A2-C4DC-AF186B5E5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199" y="1248508"/>
                <a:ext cx="7468688" cy="1951848"/>
              </a:xfrm>
              <a:blipFill>
                <a:blip r:embed="rId2"/>
                <a:stretch>
                  <a:fillRect l="-653" t="-31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90A7871-979B-45F6-6521-79086B4F2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887" y="993075"/>
            <a:ext cx="3046913" cy="22072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Текст 2">
                <a:extLst>
                  <a:ext uri="{FF2B5EF4-FFF2-40B4-BE49-F238E27FC236}">
                    <a16:creationId xmlns:a16="http://schemas.microsoft.com/office/drawing/2014/main" id="{11DE3EBA-1A87-869C-5869-9EAB31DD92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200356"/>
                <a:ext cx="7468688" cy="325796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kern="1200">
                    <a:solidFill>
                      <a:schemeClr val="tx1"/>
                    </a:solidFill>
                    <a:latin typeface="Montserrat" panose="00000500000000000000" pitchFamily="2" charset="-52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Ёмкость сферического конденсатора</a:t>
                </a:r>
              </a:p>
              <a:p>
                <a:r>
                  <a:rPr lang="ru-RU" dirty="0"/>
                  <a:t>Поле внутри конденсатора создаёт только внутренняя обкладка.</a:t>
                </a:r>
              </a:p>
              <a:p>
                <a:r>
                  <a:rPr lang="ru-RU" dirty="0"/>
                  <a:t>По т. Гаусса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subHide m:val="on"/>
                        <m:supHide m:val="on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𝐸𝑑𝑟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𝑈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2" name="Текст 2">
                <a:extLst>
                  <a:ext uri="{FF2B5EF4-FFF2-40B4-BE49-F238E27FC236}">
                    <a16:creationId xmlns:a16="http://schemas.microsoft.com/office/drawing/2014/main" id="{11DE3EBA-1A87-869C-5869-9EAB31DD9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200356"/>
                <a:ext cx="7468688" cy="3257966"/>
              </a:xfrm>
              <a:prstGeom prst="rect">
                <a:avLst/>
              </a:prstGeom>
              <a:blipFill>
                <a:blip r:embed="rId4"/>
                <a:stretch>
                  <a:fillRect l="-653" t="-1873" r="-6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B45AE45-DE43-DB9E-3F0C-A54991F06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87" y="3428999"/>
            <a:ext cx="3046913" cy="267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508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43CDF-7FCA-D7B4-962D-D4692535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12.</a:t>
            </a:r>
            <a:r>
              <a:rPr lang="en-US" dirty="0"/>
              <a:t> </a:t>
            </a:r>
            <a:r>
              <a:rPr lang="ru-RU" dirty="0"/>
              <a:t>Получите уравнение непрерывности. Какой закон сохранения оно выражает?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456FE67-818B-C636-F8EE-C97219D57D6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Заряд, переносимый через площадку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за интервал времени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𝑒𝑛𝑣𝑆𝑑𝑡</m:t>
                    </m:r>
                  </m:oMath>
                </a14:m>
                <a:endParaRPr lang="en-US" i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/>
                  <a:t>Плотность тока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𝑒𝑛𝑣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А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Заряд: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𝑑𝑉</m:t>
                        </m:r>
                      </m:e>
                    </m:nary>
                  </m:oMath>
                </a14:m>
                <a:endParaRPr lang="ru-RU" dirty="0"/>
              </a:p>
              <a:p>
                <a:r>
                  <a:rPr lang="ru-RU" dirty="0"/>
                  <a:t>Сила тока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endParaRPr lang="en-US" dirty="0"/>
              </a:p>
              <a:p>
                <a:endParaRPr lang="ru-RU" dirty="0"/>
              </a:p>
              <a:p>
                <a:r>
                  <a:rPr lang="ru-RU" b="1" dirty="0"/>
                  <a:t>Уравнение непрерывности </a:t>
                </a:r>
                <a:r>
                  <a:rPr lang="ru-RU" dirty="0"/>
                  <a:t>– мат. выражение закона сохранения заряда.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𝑑𝑉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ru-RU" dirty="0"/>
                  <a:t>Если</a:t>
                </a:r>
                <a:r>
                  <a:rPr lang="en-US" dirty="0"/>
                  <a:t> </a:t>
                </a:r>
                <a:r>
                  <a:rPr lang="ru-RU" dirty="0"/>
                  <a:t>токи не зависят от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то заряд не накапливается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456FE67-818B-C636-F8EE-C97219D57D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8E35F3-F298-4683-8DED-6BC35328E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313" y="1640391"/>
            <a:ext cx="2593487" cy="127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684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5C2ED0-5B1E-FC67-E586-348CB7AD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13. Получите уравнения Кирхгофа.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638CA3E-B078-3130-F4B4-D6CF6C9E6E9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8"/>
                <a:ext cx="10515600" cy="5450872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Ветвь</a:t>
                </a:r>
                <a:r>
                  <a:rPr lang="ru-RU" dirty="0"/>
                  <a:t> –  участок цепи, содержащий резистор, конденсатор или источник.</a:t>
                </a:r>
              </a:p>
              <a:p>
                <a:r>
                  <a:rPr lang="ru-RU" b="1" dirty="0"/>
                  <a:t>Узел</a:t>
                </a:r>
                <a:r>
                  <a:rPr lang="ru-RU" dirty="0"/>
                  <a:t> – точка, где сходятся три и более ветвей.</a:t>
                </a:r>
              </a:p>
              <a:p>
                <a:r>
                  <a:rPr lang="ru-RU" b="1" dirty="0"/>
                  <a:t>Контуры</a:t>
                </a:r>
                <a:r>
                  <a:rPr lang="ru-RU" dirty="0"/>
                  <a:t> считаются </a:t>
                </a:r>
                <a:r>
                  <a:rPr lang="ru-RU" b="1" dirty="0"/>
                  <a:t>независимыми</a:t>
                </a:r>
                <a:r>
                  <a:rPr lang="ru-RU" dirty="0"/>
                  <a:t>, если они не могут получены друг из друга путём сложения.</a:t>
                </a:r>
              </a:p>
              <a:p>
                <a:r>
                  <a:rPr lang="ru-RU" dirty="0"/>
                  <a:t>Для проверки кол-во уравнений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ветвей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узлов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−1+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контуров</m:t>
                        </m:r>
                      </m:sub>
                    </m:sSub>
                  </m:oMath>
                </a14:m>
                <a:endParaRPr lang="ru-RU" b="1" dirty="0"/>
              </a:p>
              <a:p>
                <a:r>
                  <a:rPr lang="ru-RU" b="1" dirty="0"/>
                  <a:t>1. Первое уравнение Кирхгофа </a:t>
                </a:r>
                <a:r>
                  <a:rPr lang="ru-RU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узлов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 уравнений)</a:t>
                </a:r>
              </a:p>
              <a:p>
                <a:r>
                  <a:rPr lang="ru-RU" dirty="0"/>
                  <a:t>Алгебраическая сумма токов, сходящихся в узле, равна нулю.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Следствие из уравнения непрерывности для постоянного тока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r>
                      <a:rPr lang="ru-RU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dirty="0"/>
                  <a:t> (</a:t>
                </a:r>
                <a:r>
                  <a:rPr lang="ru-RU" b="1" dirty="0">
                    <a:solidFill>
                      <a:srgbClr val="FF0000"/>
                    </a:solidFill>
                  </a:rPr>
                  <a:t>билет 12</a:t>
                </a:r>
                <a:r>
                  <a:rPr lang="ru-RU" dirty="0"/>
                  <a:t>).</a:t>
                </a:r>
              </a:p>
              <a:p>
                <a:r>
                  <a:rPr lang="ru-RU" b="1" dirty="0"/>
                  <a:t>2. Второе уравнение Кирхгофа </a:t>
                </a:r>
                <a:r>
                  <a:rPr lang="ru-RU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контуров</m:t>
                        </m:r>
                      </m:sub>
                    </m:sSub>
                  </m:oMath>
                </a14:m>
                <a:r>
                  <a:rPr lang="ru-RU" dirty="0"/>
                  <a:t> уравнений)</a:t>
                </a:r>
                <a:endParaRPr lang="ru-RU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Следует из закона Ома для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ого участка: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) 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/>
                  <a:t> (</a:t>
                </a:r>
                <a:r>
                  <a:rPr lang="ru-RU" b="1" dirty="0">
                    <a:solidFill>
                      <a:srgbClr val="FF0000"/>
                    </a:solidFill>
                  </a:rPr>
                  <a:t>билет 18</a:t>
                </a:r>
                <a:r>
                  <a:rPr lang="ru-RU" dirty="0"/>
                  <a:t>).</a:t>
                </a:r>
              </a:p>
              <a:p>
                <a:r>
                  <a:rPr lang="ru-RU" dirty="0"/>
                  <a:t>	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638CA3E-B078-3130-F4B4-D6CF6C9E6E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8"/>
                <a:ext cx="10515600" cy="5450872"/>
              </a:xfrm>
              <a:blipFill>
                <a:blip r:embed="rId2"/>
                <a:stretch>
                  <a:fillRect l="-522" t="-1119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5114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19484-6CBD-DC2C-665D-D303D2150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14. Выведите формулу для энергии системы точечных зарядов.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C1116A1-177F-A684-2CFA-2F5AE6DC6FB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Вычислим работу, которую должны совершить внешние силы, чтобы разнести их на бесконечно большое расстояние.</a:t>
                </a:r>
              </a:p>
              <a:p>
                <a:r>
                  <a:rPr lang="ru-RU" dirty="0"/>
                  <a:t>Для одного заряда: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ru-RU" dirty="0"/>
                  <a:t>.</a:t>
                </a:r>
              </a:p>
              <a:p>
                <a:endParaRPr lang="ru-RU" b="0" i="1" dirty="0">
                  <a:latin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:endParaRPr lang="ru-RU" b="0" i="1" dirty="0">
                  <a:latin typeface="Cambria Math" panose="02040503050406030204" pitchFamily="18" charset="0"/>
                </a:endParaRPr>
              </a:p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:endParaRPr lang="ru-RU" b="0" i="1" dirty="0">
                  <a:latin typeface="Cambria Math" panose="02040503050406030204" pitchFamily="18" charset="0"/>
                </a:endParaRPr>
              </a:p>
              <a:p>
                <a:r>
                  <a:rPr lang="ru-RU" i="1" dirty="0"/>
                  <a:t>А в общем виде,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потенциал, который создают в точке, где находится заряд с номером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все остальные заряды, кроме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-ого.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7C1116A1-177F-A684-2CFA-2F5AE6DC6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 b="-46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3E858B-5720-F6B7-E800-B6F91D29A6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30397"/>
            <a:ext cx="4752758" cy="178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83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00200B-446E-0891-5ED3-8B58A592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15. Выведите формулу для энергии конденсатора.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A3768F4-A0C2-FC1E-9DB4-0F0A3459B7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Для конденсатора справедливо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С=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Полная энергия взаимодействия зарядов на обкладках между собой и между обкладками: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b="0" dirty="0"/>
                  <a:t>Работа по перенесению зарядов с одной обкладки на другую: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𝑈𝑑𝑞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𝑑𝑞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отсюда полная работа: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𝑑𝐴</m:t>
                        </m:r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f>
                          <m:fPr>
                            <m:ctrlPr>
                              <a:rPr lang="ru-RU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𝑑𝑞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r>
                  <a:rPr lang="ru-RU" i="1" dirty="0"/>
                  <a:t>Энергия электрического поля конденсатора</a:t>
                </a:r>
                <a:endParaRPr lang="en-US" i="1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С=</m:t>
                              </m:r>
                              <m:f>
                                <m:fPr>
                                  <m:ctrlPr>
                                    <a:rPr lang="ru-RU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eqAr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𝜀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𝑑𝑉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A3768F4-A0C2-FC1E-9DB4-0F0A3459B7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494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229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5C819C-BEBE-CDA7-0938-A783CD7E2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16. Выведите правило преобразования «треугольник-звезда»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2388C1E-114D-789A-5F9D-A12E3B4F45A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ru-R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ru-RU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ru-RU" b="0" i="1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d>
                      <m:dPr>
                        <m:begChr m:val="{"/>
                        <m:endChr m:val=""/>
                        <m:ctrlP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u-RU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den>
                            </m:f>
                          </m:e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ru-R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endParaRPr lang="ru-RU" dirty="0"/>
              </a:p>
              <a:p>
                <a:r>
                  <a:rPr lang="ru-RU" dirty="0"/>
                  <a:t>Промежуточные вычисления.</a:t>
                </a:r>
              </a:p>
              <a:p>
                <a:r>
                  <a:rPr lang="ru-RU" dirty="0"/>
                  <a:t>Сложим: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Разделим на 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r>
                  <a:rPr lang="en-US" dirty="0"/>
                  <a:t>1. </a:t>
                </a:r>
                <a:r>
                  <a:rPr lang="ru-RU" dirty="0"/>
                  <a:t>Вычтем 2 уравнение: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получим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2.</a:t>
                </a:r>
                <a:r>
                  <a:rPr lang="ru-RU" dirty="0"/>
                  <a:t> Вычтем </a:t>
                </a:r>
                <a:r>
                  <a:rPr lang="en-US" dirty="0"/>
                  <a:t>3</a:t>
                </a:r>
                <a:r>
                  <a:rPr lang="ru-RU" dirty="0"/>
                  <a:t> уравнение: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ru-RU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получим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3.</a:t>
                </a:r>
                <a:r>
                  <a:rPr lang="ru-RU" dirty="0"/>
                  <a:t> Вычтем </a:t>
                </a:r>
                <a:r>
                  <a:rPr lang="en-US" dirty="0"/>
                  <a:t>1</a:t>
                </a:r>
                <a:r>
                  <a:rPr lang="ru-RU" dirty="0"/>
                  <a:t> уравнение: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ru-RU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, получим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  <a:p>
                <a:pPr marL="342900" indent="-342900">
                  <a:buAutoNum type="arabicParenR"/>
                </a:pPr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2388C1E-114D-789A-5F9D-A12E3B4F45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E179658-33BA-FD4B-9FE0-6F200E900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68216"/>
            <a:ext cx="5257800" cy="239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14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1F7A7-5A5C-C2D4-C5B8-2ACF0D8E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17. Выведите формулы для эквивалентной ЭДС и внутреннего сопротивления источника при соединении нескольких одинаковых источников в батарею.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E176A8B-C31C-C133-6E12-8261C1F51C4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5937822" cy="4941277"/>
              </a:xfrm>
            </p:spPr>
            <p:txBody>
              <a:bodyPr/>
              <a:lstStyle/>
              <a:p>
                <a:r>
                  <a:rPr lang="ru-RU" b="1" dirty="0"/>
                  <a:t>Последовательное соединение</a:t>
                </a:r>
              </a:p>
              <a:p>
                <a:r>
                  <a:rPr lang="ru-RU" dirty="0"/>
                  <a:t>ЭДС.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экв</m:t>
                        </m:r>
                      </m:sub>
                    </m:sSub>
                    <m:r>
                      <a:rPr lang="ru-RU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перемещает заряд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,получаем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ℇ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экв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Внутреннее сопротивление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экв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экв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𝑛𝑟</m:t>
                      </m:r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r>
                  <a:rPr lang="ru-RU" dirty="0"/>
                  <a:t>Сила тока по закону Ома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r>
                  <a:rPr lang="ru-RU" dirty="0"/>
                  <a:t>Этот способ выгоден, когда внешнее сопротивление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≫ 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E176A8B-C31C-C133-6E12-8261C1F51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5937822" cy="4941277"/>
              </a:xfrm>
              <a:blipFill>
                <a:blip r:embed="rId2"/>
                <a:stretch>
                  <a:fillRect l="-924" t="-1235" r="-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946BAE-3D12-7BCD-F941-6A11766F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6022" y="1248507"/>
            <a:ext cx="4464196" cy="455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708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3385-F08D-DF5E-F76B-A5BABC18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A99E4-8A08-8D9F-2915-F39E3DFB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17. Выведите формулы для эквивалентной ЭДС и внутреннего сопротивления источника при соединении нескольких одинаковых источников в батарею.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8427B9C-6A4C-F2D1-4555-B756F5BBAB2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199" y="1248507"/>
                <a:ext cx="7045281" cy="4941277"/>
              </a:xfrm>
            </p:spPr>
            <p:txBody>
              <a:bodyPr/>
              <a:lstStyle/>
              <a:p>
                <a:r>
                  <a:rPr lang="ru-RU" b="1" dirty="0"/>
                  <a:t>Параллельное соединение</a:t>
                </a:r>
                <a:endParaRPr lang="en-US" b="1" dirty="0"/>
              </a:p>
              <a:p>
                <a:r>
                  <a:rPr lang="ru-RU" dirty="0"/>
                  <a:t>Разность потенциалов, создаваемая любым из источников при отсутствии тока 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экв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b="0" dirty="0"/>
                  <a:t>Внутреннее сопротивление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экв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экв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Сила тока по закону Ома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=ℇ 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такое соединение приводит к увеличению силы тока в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раз: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8427B9C-6A4C-F2D1-4555-B756F5BBAB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199" y="1248507"/>
                <a:ext cx="7045281" cy="4941277"/>
              </a:xfrm>
              <a:blipFill>
                <a:blip r:embed="rId2"/>
                <a:stretch>
                  <a:fillRect l="-692" t="-1235" r="-7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C3C9D4C-7F81-B62E-1ED1-DC1F7D786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481" y="1248507"/>
            <a:ext cx="3470319" cy="4941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1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FDE3D1-816A-92C2-81C4-DBA68FFA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18. Получите закон Ома для неоднородного участка цепи в интегральной и дифференциальной формах.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5DB044-924E-2CC7-E86E-35FDF9930CD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998376"/>
                <a:ext cx="10515600" cy="5607697"/>
              </a:xfrm>
            </p:spPr>
            <p:txBody>
              <a:bodyPr/>
              <a:lstStyle/>
              <a:p>
                <a:r>
                  <a:rPr lang="ru-RU" dirty="0"/>
                  <a:t>Участок цепи, содержащий источник тока – </a:t>
                </a:r>
                <a:r>
                  <a:rPr lang="ru-RU" b="1" dirty="0"/>
                  <a:t>неоднородный</a:t>
                </a:r>
                <a:r>
                  <a:rPr lang="ru-RU" dirty="0"/>
                  <a:t>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«Сторонние силы» осуществляют пространственное разделение зарядов и поддерживают электрическое поле в цепи. Эти не электростатические силы переносят заряд в сторону возрастания потенциала.</a:t>
                </a:r>
              </a:p>
              <a:p>
                <a:r>
                  <a:rPr lang="ru-RU" dirty="0"/>
                  <a:t>Аналогичными (</a:t>
                </a:r>
                <a:r>
                  <a:rPr lang="ru-RU" dirty="0">
                    <a:solidFill>
                      <a:srgbClr val="FF0000"/>
                    </a:solidFill>
                  </a:rPr>
                  <a:t>билету 19</a:t>
                </a:r>
                <a:r>
                  <a:rPr lang="ru-RU" dirty="0"/>
                  <a:t>) рассуждениями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𝑒𝑛𝑣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f>
                      <m:fPr>
                        <m:ctrlPr>
                          <a:rPr lang="el-GR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l-GR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стор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стор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Электродвижущая сила источника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стор сил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ru-RU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𝐸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стор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</m:nary>
                            </m:e>
                            <m:e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acc>
                                        <m:accPr>
                                          <m:chr m:val="⃗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nary>
                                <m:naryPr>
                                  <m:limLoc m:val="undOv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den>
                                  </m:f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𝐼𝑅</m:t>
                              </m:r>
                            </m:e>
                          </m:eqAr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r>
                  <a:rPr lang="ru-RU" i="1" dirty="0"/>
                  <a:t>Напряжение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всех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сил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sSubPr>
                            <m:ctrlP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ru-RU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стор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ℇ</m:t>
                    </m:r>
                  </m:oMath>
                </a14:m>
                <a:endParaRPr lang="ru-RU" i="1" dirty="0"/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5DB044-924E-2CC7-E86E-35FDF9930C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998376"/>
                <a:ext cx="10515600" cy="5607697"/>
              </a:xfrm>
              <a:blipFill>
                <a:blip r:embed="rId2"/>
                <a:stretch>
                  <a:fillRect l="-522" t="-1087" r="-464" b="-9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188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20453-0362-8340-AAD4-78926AEA8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19. Получите закон Ома для однородного участка цепи в интегральной и дифференциальной формах.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F9F9F34-E109-BF69-0936-849DE89CB97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Участок цепи, который </a:t>
                </a:r>
                <a:r>
                  <a:rPr lang="ru-RU" b="1" dirty="0"/>
                  <a:t>не</a:t>
                </a:r>
                <a:r>
                  <a:rPr lang="ru-RU" dirty="0"/>
                  <a:t> содержит источник тока – </a:t>
                </a:r>
                <a:r>
                  <a:rPr lang="ru-RU" b="1" dirty="0"/>
                  <a:t>однородный</a:t>
                </a:r>
                <a:r>
                  <a:rPr lang="ru-RU" dirty="0"/>
                  <a:t>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ru-RU" i="1" dirty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Будем считать, что под действием электрического поля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 течение времени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электрон движется равноускорено. Средняя скорость: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𝑒𝑛𝑣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f>
                        <m:fPr>
                          <m:ctrlPr>
                            <a:rPr lang="el-GR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el-GR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Здесь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удельная проводимость,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Сименс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м</m:t>
                            </m:r>
                          </m:den>
                        </m:f>
                      </m:e>
                    </m:d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r>
                  <a:rPr lang="ru-RU" dirty="0"/>
                  <a:t>Разность потенциалов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𝐸𝑙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т.к. поле направлено вдоль проводника</a:t>
                </a:r>
                <a:r>
                  <a:rPr lang="en-US" dirty="0"/>
                  <a:t>)</a:t>
                </a:r>
                <a:r>
                  <a:rPr lang="ru-RU" dirty="0"/>
                  <a:t>, отсюда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dirty="0"/>
                  <a:t>Удельное сопротивление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=[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Ом⋅м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/>
                  <a:t>, сопротивление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Сила тока в проводнике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𝑆𝐸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𝑆𝑈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F9F9F34-E109-BF69-0936-849DE89CB9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218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BD434-7F6E-CCEA-07FD-B9DE2152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20. Получите закон Джоуля-Ленца для неоднородного участка цепи в интегральной и дифференциальной формах.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BEE17C6-BEE2-424B-639B-4203E2C911B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5394889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Закон Джоуля-Ленца (интегральная форма)</a:t>
                </a:r>
                <a:endParaRPr lang="en-US" b="1" dirty="0"/>
              </a:p>
              <a:p>
                <a:r>
                  <a:rPr lang="ru-RU" dirty="0"/>
                  <a:t>Рассмотрим проводник с током</a:t>
                </a:r>
                <a:r>
                  <a:rPr lang="en-US" dirty="0"/>
                  <a:t>: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кул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endParaRPr lang="ru-RU" dirty="0"/>
              </a:p>
              <a:p>
                <a:r>
                  <a:rPr lang="ru-RU" dirty="0"/>
                  <a:t>Работа сил на неоднородном участке за время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ru-RU" dirty="0"/>
                  <a:t> складывается из работы сил поля и работы сторонних сил: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кул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стор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𝐼𝑑𝑡</m:t>
                    </m:r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Если проводник неподвижен</a:t>
                </a:r>
                <a:r>
                  <a:rPr lang="en-US" dirty="0"/>
                  <a:t> </a:t>
                </a:r>
                <a:r>
                  <a:rPr lang="ru-RU" dirty="0"/>
                  <a:t>и без химических реакций, вся эта работа переходит в тепло: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𝑑𝑄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𝑑𝐴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r>
                  <a:rPr lang="ru-RU" dirty="0"/>
                  <a:t>Зная,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𝑑𝑄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ru-RU" dirty="0"/>
                  <a:t>поделим на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ru-RU" dirty="0"/>
                  <a:t>, применим закон Ома к последнему равенству: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r>
                  <a:rPr lang="ru-RU" b="1" dirty="0"/>
                  <a:t>Закон Джоуля-Ленца (дифференциальная форма)</a:t>
                </a:r>
              </a:p>
              <a:p>
                <a:r>
                  <a:rPr lang="ru-RU" dirty="0"/>
                  <a:t>По закону Ома: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acc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стор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dirty="0"/>
                  <a:t>, по определению: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Доказательство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 в </a:t>
                </a:r>
                <a:r>
                  <a:rPr lang="ru-RU" dirty="0">
                    <a:solidFill>
                      <a:srgbClr val="FF0000"/>
                    </a:solidFill>
                  </a:rPr>
                  <a:t>билете 21/22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3BEE17C6-BEE2-424B-639B-4203E2C911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5394889"/>
              </a:xfrm>
              <a:blipFill>
                <a:blip r:embed="rId2"/>
                <a:stretch>
                  <a:fillRect l="-522" t="-1130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EFDE12-C319-2116-7C4C-FCAAA6446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9780" y="824093"/>
            <a:ext cx="1454020" cy="101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168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D180E-EFDD-9F78-644A-B7234C11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21. Получите выражение для удельной мощности тока для неоднородного участка цепи.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DB3613E-1699-9766-5486-E9D50A3A425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Удельная тепловая мощность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— это количество теплоты, выделяющееся в единице объема проводника за единицу времени:</a:t>
                </a:r>
                <a:endParaRPr lang="en-US" dirty="0"/>
              </a:p>
              <a:p>
                <a:r>
                  <a:rPr lang="ru-RU" dirty="0"/>
                  <a:t>Распишем правую часть закона Джоуля Ленца</a:t>
                </a:r>
                <a:r>
                  <a:rPr lang="en-US" dirty="0"/>
                  <a:t> </a:t>
                </a:r>
                <a:r>
                  <a:rPr lang="ru-RU" dirty="0"/>
                  <a:t>в интегральной форме </a:t>
                </a:r>
                <a:endParaRPr lang="ru-RU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𝑗𝑑𝑆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𝑑𝑉𝑑𝑡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Поделим на единицу объёма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ru-RU" dirty="0"/>
                  <a:t> и единицу времени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ru-RU" dirty="0"/>
                  <a:t>: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𝑑𝑉𝑑𝑡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Вт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По закону Ома: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e>
                      <m:sub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стор</m:t>
                        </m:r>
                      </m:sub>
                    </m:sSub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откуда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𝑗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DB3613E-1699-9766-5486-E9D50A3A4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8598A9-0684-E614-003E-F630725C8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533" y="4867287"/>
            <a:ext cx="299126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81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8C13-1105-0BFA-C260-7EEBAA780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670E4-3617-9CA5-4988-37912A50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22. </a:t>
            </a:r>
            <a:r>
              <a:rPr lang="ru-RU" dirty="0"/>
              <a:t>Получите выражение для удельной мощности тока для однородного участка цепи.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A9BF6E5-27E1-818C-792F-D02B1F97435D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Удельная тепловая мощность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— это количество теплоты, выделяющееся в единице объема проводника за единицу времени:</a:t>
                </a:r>
                <a:endParaRPr lang="en-US" dirty="0"/>
              </a:p>
              <a:p>
                <a:r>
                  <a:rPr lang="ru-RU" dirty="0"/>
                  <a:t>Распишем правую часть закона Джоуля Ленца</a:t>
                </a:r>
                <a:r>
                  <a:rPr lang="en-US" dirty="0"/>
                  <a:t> </a:t>
                </a:r>
                <a:r>
                  <a:rPr lang="ru-RU" dirty="0"/>
                  <a:t>в интегральной форме </a:t>
                </a:r>
                <a:endParaRPr lang="ru-RU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𝑗𝑑𝑆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𝑑𝑉𝑑𝑡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Поделим на единицу объёма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𝑑𝑉</m:t>
                    </m:r>
                  </m:oMath>
                </a14:m>
                <a:r>
                  <a:rPr lang="ru-RU" dirty="0"/>
                  <a:t> и единицу времени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ru-RU" dirty="0"/>
                  <a:t>: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𝑑𝑉𝑑𝑡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Вт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b="0" i="1" smtClean="0">
                                    <a:latin typeface="Cambria Math" panose="02040503050406030204" pitchFamily="18" charset="0"/>
                                  </a:rPr>
                                  <m:t>м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ru-RU" dirty="0"/>
                  <a:t>По закону Ома: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𝜎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dirty="0"/>
                  <a:t>, </a:t>
                </a:r>
                <a:r>
                  <a:rPr lang="ru-RU" dirty="0"/>
                  <a:t>откуда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𝑗𝐸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A9BF6E5-27E1-818C-792F-D02B1F9743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E07674-3BCB-7AFF-5648-1A5FEA6A4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533" y="4867287"/>
            <a:ext cx="299126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56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3D8B0-6C0A-8FB7-EAF0-99E5858DD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23. Запишите систему уравнений Максвелла в интегральной форме. Как выглядит эта система уравнений в стационарном случае?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A79DAD4-3099-F589-0CA6-8B06449240F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45029"/>
                <a:ext cx="10515600" cy="5607697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Закон электромагнитной индукции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док-во: </a:t>
                </a:r>
                <a:r>
                  <a:rPr lang="ru-RU" dirty="0">
                    <a:solidFill>
                      <a:srgbClr val="0070C0"/>
                    </a:solidFill>
                  </a:rPr>
                  <a:t>билет 11 части 2</a:t>
                </a:r>
                <a:r>
                  <a:rPr lang="ru-RU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или лекция 12, постулат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  <a:endPara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Теорема о циркуляции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dirty="0"/>
                  <a:t> 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(док-во: лекция 13)</a:t>
                </a:r>
                <a:endParaRPr lang="en-U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ru-RU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b>
                                      <m:r>
                                        <a:rPr lang="ru-RU" b="0" i="1" smtClean="0">
                                          <a:latin typeface="Cambria Math" panose="02040503050406030204" pitchFamily="18" charset="0"/>
                                        </a:rPr>
                                        <m:t>пров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acc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Теорема Гаусса для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</m:oMath>
                </a14:m>
                <a:r>
                  <a:rPr lang="ru-RU" dirty="0"/>
                  <a:t>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док-во: </a:t>
                </a:r>
                <a:r>
                  <a:rPr lang="ru-RU" dirty="0">
                    <a:solidFill>
                      <a:srgbClr val="FF0000"/>
                    </a:solidFill>
                  </a:rPr>
                  <a:t>билет 6 части 1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или лекция 4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Теорема Гаусса для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 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(док-во: лекция 11, постулат)</a:t>
                </a:r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Нельзя рассматривать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как независимые. Под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стоит сумма электростатического (его циркуляция 0) и вихревого электрического полей.</a:t>
                </a:r>
              </a:p>
              <a:p>
                <a:pPr marL="285750" indent="-285750">
                  <a:buFontTx/>
                  <a:buChar char="-"/>
                </a:pPr>
                <a:r>
                  <a:rPr lang="ru-RU" dirty="0"/>
                  <a:t>Уравнения Максвелла линейны, отсюда принцип суперпозиции: если два каких-нибудь поля удовлетворяют уравнениям Максвелла, то это справедливо и для их суммы.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A79DAD4-3099-F589-0CA6-8B06449240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45029"/>
                <a:ext cx="10515600" cy="5607697"/>
              </a:xfrm>
              <a:blipFill>
                <a:blip r:embed="rId2"/>
                <a:stretch>
                  <a:fillRect l="-522" t="-978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98120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650D-7769-7365-4B6E-2E882B0B5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6A7E8D-1696-5275-2573-120B14BF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23. Запишите систему уравнений Максвелла в интегральной форме. Как выглядит эта система уравнений в стационарном случае?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F42029-3E9D-346B-6BE0-CCDCD474FD6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45029"/>
                <a:ext cx="10515600" cy="5607697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В стационарном случае </a:t>
                </a:r>
                <a:r>
                  <a:rPr lang="ru-RU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не изменяются во времени)</a:t>
                </a:r>
                <a:r>
                  <a:rPr lang="en-US" dirty="0"/>
                  <a:t>.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0,  </m:t>
                      </m:r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∮"/>
                          <m:supHide m:val="on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Электрическое и магнитное поле не зависят друг от друга.</a:t>
                </a:r>
              </a:p>
              <a:p>
                <a:endParaRPr lang="ru-RU" dirty="0"/>
              </a:p>
              <a:p>
                <a:r>
                  <a:rPr lang="ru-RU" dirty="0">
                    <a:solidFill>
                      <a:schemeClr val="bg2">
                        <a:lumMod val="50000"/>
                      </a:schemeClr>
                    </a:solidFill>
                  </a:rPr>
                  <a:t>Нужно </a:t>
                </a:r>
                <a:r>
                  <a:rPr lang="ru-RU" b="1" dirty="0">
                    <a:solidFill>
                      <a:schemeClr val="bg2">
                        <a:lumMod val="50000"/>
                      </a:schemeClr>
                    </a:solidFill>
                  </a:rPr>
                  <a:t>дополнить систему </a:t>
                </a:r>
                <a:r>
                  <a:rPr lang="ru-RU" dirty="0">
                    <a:solidFill>
                      <a:schemeClr val="bg2">
                        <a:lumMod val="50000"/>
                      </a:schemeClr>
                    </a:solidFill>
                  </a:rPr>
                  <a:t>материальными уравнениями для каждого вещества: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ru-RU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FF42029-3E9D-346B-6BE0-CCDCD474FD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45029"/>
                <a:ext cx="10515600" cy="5607697"/>
              </a:xfrm>
              <a:blipFill>
                <a:blip r:embed="rId2"/>
                <a:stretch>
                  <a:fillRect l="-522" t="-168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538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E00D627-83F9-802F-C8FC-60A15D20FB2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/>
                  <a:t>24. Запишите систему уравнений Максвелла в дифференциальной форме. Что можно сказать об источниках и стоках линий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b="0" i="1" dirty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dirty="0"/>
                  <a:t>?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E00D627-83F9-802F-C8FC-60A15D20FB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71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9AE74FF-E2AB-A535-34B9-D951A7FFFFD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07705"/>
                <a:ext cx="10515600" cy="552372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Система уравнений Максвелла в дифференциальной форме</a:t>
                </a:r>
                <a:endParaRPr lang="ru-RU" b="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стор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связ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пров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𝑑𝑖𝑣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Линии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начинаются на положительных</a:t>
                </a:r>
                <a:r>
                  <a:rPr lang="en-US" dirty="0"/>
                  <a:t> </a:t>
                </a:r>
                <a:r>
                  <a:rPr lang="ru-RU" dirty="0"/>
                  <a:t>(исток) и заканчиваются на отрицательных (сток) </a:t>
                </a:r>
                <a:r>
                  <a:rPr lang="ru-RU" i="1" dirty="0"/>
                  <a:t>свободных</a:t>
                </a:r>
                <a:r>
                  <a:rPr lang="ru-RU" dirty="0"/>
                  <a:t> зарядах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стор</m:t>
                        </m:r>
                      </m:sub>
                    </m:sSub>
                  </m:oMath>
                </a14:m>
                <a:r>
                  <a:rPr lang="ru-RU" dirty="0"/>
                  <a:t>).</a:t>
                </a:r>
              </a:p>
              <a:p>
                <a:r>
                  <a:rPr lang="ru-RU" dirty="0"/>
                  <a:t>Линии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 начинаются</a:t>
                </a:r>
                <a:r>
                  <a:rPr lang="en-US" dirty="0"/>
                  <a:t> </a:t>
                </a:r>
                <a:r>
                  <a:rPr lang="ru-RU" dirty="0"/>
                  <a:t>на положительных (исток) и заканчиваются на отрицательных (сток) </a:t>
                </a:r>
                <a:r>
                  <a:rPr lang="ru-RU" i="1" dirty="0"/>
                  <a:t>свободных и связанных </a:t>
                </a:r>
                <a:r>
                  <a:rPr lang="ru-RU" dirty="0"/>
                  <a:t>зарядах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acc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стор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связ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ru-RU" dirty="0"/>
                  <a:t>).</a:t>
                </a:r>
              </a:p>
              <a:p>
                <a:r>
                  <a:rPr lang="ru-RU" dirty="0"/>
                  <a:t>Линии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 всегда замкнуты (вихревое поле). У них нет ни источников, ни стоков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).</a:t>
                </a:r>
                <a:endParaRPr lang="en-US" dirty="0"/>
              </a:p>
              <a:p>
                <a:r>
                  <a:rPr lang="ru-RU" dirty="0"/>
                  <a:t>Линии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начинаются на северном полюсе магнетика и заканчиваются на южном (на границе раздела сред), внутри магнетика направлены против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ru-RU" dirty="0"/>
                  <a:t>).</a:t>
                </a:r>
              </a:p>
              <a:p>
                <a:r>
                  <a:rPr lang="ru-RU" dirty="0">
                    <a:solidFill>
                      <a:schemeClr val="bg2">
                        <a:lumMod val="50000"/>
                      </a:schemeClr>
                    </a:solidFill>
                  </a:rPr>
                  <a:t>Нужно </a:t>
                </a:r>
                <a:r>
                  <a:rPr lang="ru-RU" b="1" dirty="0">
                    <a:solidFill>
                      <a:schemeClr val="bg2">
                        <a:lumMod val="50000"/>
                      </a:schemeClr>
                    </a:solidFill>
                  </a:rPr>
                  <a:t>дополнить систему </a:t>
                </a:r>
                <a:r>
                  <a:rPr lang="ru-RU" dirty="0">
                    <a:solidFill>
                      <a:schemeClr val="bg2">
                        <a:lumMod val="50000"/>
                      </a:schemeClr>
                    </a:solidFill>
                  </a:rPr>
                  <a:t>граничными условиями: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⟸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ru-RU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своб гран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b="0" dirty="0">
                  <a:solidFill>
                    <a:schemeClr val="bg2">
                      <a:lumMod val="50000"/>
                    </a:schemeClr>
                  </a:solidFill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⟸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ru-RU" b="0" i="1" smtClean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пров гран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9AE74FF-E2AB-A535-34B9-D951A7FFF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07705"/>
                <a:ext cx="10515600" cy="5523723"/>
              </a:xfrm>
              <a:blipFill>
                <a:blip r:embed="rId3"/>
                <a:stretch>
                  <a:fillRect l="-522" t="-993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93209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00822-A1B6-9B1E-7F2C-264A7672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25. Покажите с помощью системы уравнений Максвелла, как изменяющееся во времени электрическое поле порождает магнитное.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B15D15F-F898-F85D-B9C7-92BEF352EC5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Получим выражение для ротора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пров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acc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  <m:sub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намагн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Отсюда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пров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acc>
                        </m:e>
                        <m:sub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намагн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B15D15F-F898-F85D-B9C7-92BEF352E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6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AD5367-80CC-2B41-C1FB-D043DFE5F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715" y="3172408"/>
            <a:ext cx="7702569" cy="328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968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B2728-87E1-2A16-C1DD-C3AF68556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26. Покажите с помощью системы уравнений Максвелла, как изменяющееся во времени магнитное поле порождает электрическое.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1B60C36-832D-5E4F-9EF6-25A03E79B06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Электромагнитная индукция, закон Фарадея, первое уравнение Максвелла.</a:t>
                </a:r>
              </a:p>
              <a:p>
                <a:r>
                  <a:rPr lang="ru-RU" dirty="0"/>
                  <a:t>Символ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ru-RU" dirty="0"/>
                  <a:t> означает изменение магнитной индукции во времени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 говорит о том, что электрическое поле имеет вихревой характер (его линии замкнуты)</a:t>
                </a:r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1B60C36-832D-5E4F-9EF6-25A03E79B0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C33F1FE-2B3A-84A5-8641-2B6D8EABA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28" y="2488532"/>
            <a:ext cx="7220743" cy="396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11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E36F-992D-00E4-D71C-2A9E4B3EF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077F26-F6DC-2CCA-FC24-7E336C875BC7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Montserrat" panose="00000500000000000000" pitchFamily="2" charset="-52"/>
              </a:rPr>
              <a:t>Магнетизм и колебания 1/3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877644D-5E74-EF92-A07A-ED47FF0BCB72}"/>
                  </a:ext>
                </a:extLst>
              </p:cNvPr>
              <p:cNvSpPr txBox="1"/>
              <p:nvPr/>
            </p:nvSpPr>
            <p:spPr>
              <a:xfrm>
                <a:off x="559837" y="1165067"/>
                <a:ext cx="11224726" cy="5111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1. Сформулируйте закон Био-Савара-Лапласа. Получите с его помощью выражение для индукции поля прямого тока и индукции в центре кругового витка. </a:t>
                </a:r>
                <a:r>
                  <a:rPr lang="en-US" dirty="0"/>
                  <a:t>[</a:t>
                </a:r>
                <a:r>
                  <a:rPr lang="ru-RU" dirty="0"/>
                  <a:t>Л9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2. Докажите теорему о циркуляции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 в отсутствие магнетика. Вычислите с её помощью индукцию магнитного поля прямого тока, индукцию поля внутри длинного соленоида. </a:t>
                </a:r>
                <a:r>
                  <a:rPr lang="en-US" dirty="0"/>
                  <a:t>[</a:t>
                </a:r>
                <a:r>
                  <a:rPr lang="ru-RU" dirty="0"/>
                  <a:t>Л9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3.</a:t>
                </a:r>
                <a:r>
                  <a:rPr lang="en-US" dirty="0"/>
                  <a:t> </a:t>
                </a:r>
                <a:r>
                  <a:rPr lang="ru-RU" dirty="0"/>
                  <a:t>Дайте определение силы Лоренца, действующей на частицу в электромагнитном поле. Частица движется в однородном магнитном поле по винтовой линии. Получите формулу для радиуса и шага винтовой линии. </a:t>
                </a:r>
                <a:r>
                  <a:rPr lang="en-US" dirty="0"/>
                  <a:t>[</a:t>
                </a:r>
                <a:r>
                  <a:rPr lang="ru-RU" dirty="0"/>
                  <a:t>Л10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4. Выведите формулу для работы сил магнитного поля при движении контура с током в магнитном поле.</a:t>
                </a:r>
                <a:r>
                  <a:rPr lang="en-US" dirty="0"/>
                  <a:t> [</a:t>
                </a:r>
                <a:r>
                  <a:rPr lang="ru-RU" dirty="0"/>
                  <a:t>Л10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5. Что называют индуктивностью контура? Получите формулу для индуктивности на единицу длины для длинного соленоида. </a:t>
                </a:r>
                <a:r>
                  <a:rPr lang="en-US" dirty="0"/>
                  <a:t>[</a:t>
                </a:r>
                <a:r>
                  <a:rPr lang="ru-RU" dirty="0"/>
                  <a:t>Л12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6. В чём заключается явление взаимной индукции. Получите формулы для вычисления индуктивности связанных контуров.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12]</a:t>
                </a:r>
                <a:endParaRPr lang="ru-RU" dirty="0"/>
              </a:p>
              <a:p>
                <a:r>
                  <a:rPr lang="ru-RU" dirty="0"/>
                  <a:t>7. В чём заключается явление взаимной индукции. Получите формулы для вычисления энергии магнитного поля связанных контуров.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12]</a:t>
                </a:r>
                <a:endParaRPr lang="ru-RU" dirty="0"/>
              </a:p>
              <a:p>
                <a:r>
                  <a:rPr lang="ru-RU" dirty="0"/>
                  <a:t>8. Получите выражение для ЭДС индукции, возникающей при движении проводника в магнитном поле. </a:t>
                </a:r>
                <a:r>
                  <a:rPr lang="en-US" dirty="0"/>
                  <a:t>[</a:t>
                </a:r>
                <a:r>
                  <a:rPr lang="ru-RU" dirty="0"/>
                  <a:t>Л12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9. Получите выражение для разности потенциалов, возникающей между концами проводника при движении в магнитном поле. </a:t>
                </a:r>
                <a:r>
                  <a:rPr lang="en-US" dirty="0"/>
                  <a:t>[</a:t>
                </a:r>
                <a:r>
                  <a:rPr lang="ru-RU" dirty="0"/>
                  <a:t>Л12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10. Получите выражение для ЭДС индукции, возникающей в неподвижном контуре при изменении магнитного потока через него. </a:t>
                </a:r>
                <a:r>
                  <a:rPr lang="en-US" dirty="0"/>
                  <a:t>[</a:t>
                </a:r>
                <a:r>
                  <a:rPr lang="ru-RU" dirty="0"/>
                  <a:t>Л12</a:t>
                </a:r>
                <a:r>
                  <a:rPr lang="en-US" dirty="0"/>
                  <a:t>]</a:t>
                </a:r>
                <a:endParaRPr lang="ru-RU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877644D-5E74-EF92-A07A-ED47FF0BC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7" y="1165067"/>
                <a:ext cx="11224726" cy="5111912"/>
              </a:xfrm>
              <a:prstGeom prst="rect">
                <a:avLst/>
              </a:prstGeom>
              <a:blipFill>
                <a:blip r:embed="rId2"/>
                <a:stretch>
                  <a:fillRect l="-489" t="-596" b="-9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44DEF20-CA6E-A7C9-90F9-D238B2D7D79A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70C0"/>
                </a:solidFill>
                <a:latin typeface="Montserrat" panose="00000500000000000000" pitchFamily="2" charset="-52"/>
              </a:rPr>
              <a:t>Магнетизм</a:t>
            </a:r>
          </a:p>
        </p:txBody>
      </p:sp>
    </p:spTree>
    <p:extLst>
      <p:ext uri="{BB962C8B-B14F-4D97-AF65-F5344CB8AC3E}">
        <p14:creationId xmlns:p14="http://schemas.microsoft.com/office/powerpoint/2010/main" val="19068666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6420-46EF-0B78-B4AE-542812089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86311B9-5C1C-8CCF-EBBD-05748C6598A6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Montserrat" panose="00000500000000000000" pitchFamily="2" charset="-52"/>
              </a:rPr>
              <a:t>Магнетизм и колебания 2/3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E151AE-ADAB-D3B8-8037-1502BFBF4E71}"/>
                  </a:ext>
                </a:extLst>
              </p:cNvPr>
              <p:cNvSpPr txBox="1"/>
              <p:nvPr/>
            </p:nvSpPr>
            <p:spPr>
              <a:xfrm>
                <a:off x="522515" y="1174930"/>
                <a:ext cx="11336694" cy="50029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11. Приведите примеры - когда наблюдается действие вихревого электрического поля, а когда потенциального. Запишите теорему о циркуляции электрического поля для обоих случаев. </a:t>
                </a:r>
                <a:r>
                  <a:rPr lang="en-US" dirty="0"/>
                  <a:t>[</a:t>
                </a:r>
                <a:r>
                  <a:rPr lang="ru-RU" dirty="0"/>
                  <a:t>Л12</a:t>
                </a:r>
                <a:r>
                  <a:rPr lang="en-US" dirty="0"/>
                  <a:t>]</a:t>
                </a:r>
                <a:endParaRPr lang="ru-RU" dirty="0"/>
              </a:p>
              <a:p>
                <a:r>
                  <a:rPr lang="ru-RU" dirty="0"/>
                  <a:t>12. Дайте определение токов намагничивания. Что называют намагниченностью среды? Как в случае однородного изотропного магнетика связаны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/>
                  <a:t>13. Докажите теорему о циркуляции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dirty="0"/>
                  <a:t>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/>
                  <a:t>14. Что называют магнитной проницаемостью среды. Расскажите о свойствах </a:t>
                </a:r>
                <a:r>
                  <a:rPr lang="ru-RU" dirty="0" err="1"/>
                  <a:t>диа</a:t>
                </a:r>
                <a:r>
                  <a:rPr lang="ru-RU" dirty="0"/>
                  <a:t>- и парамагнетиков.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/>
                  <a:t>15. Расскажите о свойствах ферромагнетиков. За счёт чего возникает гистерезис. Что называется температурой Кюри?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/>
                  <a:t>16.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на границе двух магнетиков.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/>
                  <a:t>17.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i="1" dirty="0"/>
                  <a:t> </a:t>
                </a:r>
                <a:r>
                  <a:rPr lang="ru-RU" dirty="0"/>
                  <a:t>на границе двух магнетиков. </a:t>
                </a:r>
                <a:r>
                  <a:rPr lang="en-US" dirty="0"/>
                  <a:t>[</a:t>
                </a:r>
                <a:r>
                  <a:rPr lang="ru-RU" dirty="0"/>
                  <a:t>Л</a:t>
                </a:r>
                <a:r>
                  <a:rPr lang="en-US" dirty="0"/>
                  <a:t>11]</a:t>
                </a:r>
                <a:endParaRPr lang="ru-RU" dirty="0"/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18. Получите волновое уравнение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16]</a:t>
                </a:r>
                <a:endPara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19. Получите волновое уравнение для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.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16]</a:t>
                </a:r>
                <a:endPara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20. Докажите, что плоская электромагнитная волна является поперечной.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16]</a:t>
                </a:r>
                <a:endPara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21. Установите связь между амплитудами напряжённости электрического поля и напряжённости</a:t>
                </a: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магнитного поля в плоской электромагнитной волне.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16]</a:t>
                </a:r>
                <a:endParaRPr lang="ru-RU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22. Комплексное представление электромагнитной волны. Запись уравнений Максвелла для такой волны.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16]</a:t>
                </a:r>
              </a:p>
              <a:p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22. Вектор Умова-Пойнтинга.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[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Л16+Л13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]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(да, 2 билета №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22</a:t>
                </a:r>
                <a:r>
                  <a:rPr lang="ru-R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E151AE-ADAB-D3B8-8037-1502BFBF4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515" y="1174930"/>
                <a:ext cx="11336694" cy="5002908"/>
              </a:xfrm>
              <a:prstGeom prst="rect">
                <a:avLst/>
              </a:prstGeom>
              <a:blipFill>
                <a:blip r:embed="rId2"/>
                <a:stretch>
                  <a:fillRect l="-484" t="-732" b="-109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8FDD488-410A-5464-CB95-59D1C1F307AC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70C0"/>
                </a:solidFill>
                <a:latin typeface="Montserrat" panose="00000500000000000000" pitchFamily="2" charset="-52"/>
              </a:rPr>
              <a:t>Магнетизм + волны</a:t>
            </a:r>
          </a:p>
        </p:txBody>
      </p:sp>
    </p:spTree>
    <p:extLst>
      <p:ext uri="{BB962C8B-B14F-4D97-AF65-F5344CB8AC3E}">
        <p14:creationId xmlns:p14="http://schemas.microsoft.com/office/powerpoint/2010/main" val="36826310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9599E-7FE4-AD06-0DF7-E9373E63E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577F539-C97E-3454-28E6-D2FB07F14F9B}"/>
              </a:ext>
            </a:extLst>
          </p:cNvPr>
          <p:cNvSpPr txBox="1"/>
          <p:nvPr/>
        </p:nvSpPr>
        <p:spPr>
          <a:xfrm>
            <a:off x="3049386" y="139530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  <a:latin typeface="Montserrat" panose="00000500000000000000" pitchFamily="2" charset="-52"/>
              </a:rPr>
              <a:t>Магнетизм и колебания </a:t>
            </a:r>
            <a:r>
              <a:rPr lang="en-US" sz="2400" b="1" dirty="0">
                <a:solidFill>
                  <a:srgbClr val="0070C0"/>
                </a:solidFill>
                <a:latin typeface="Montserrat" panose="00000500000000000000" pitchFamily="2" charset="-52"/>
              </a:rPr>
              <a:t>3</a:t>
            </a:r>
            <a:r>
              <a:rPr lang="ru-RU" sz="2400" b="1" dirty="0">
                <a:solidFill>
                  <a:srgbClr val="0070C0"/>
                </a:solidFill>
                <a:latin typeface="Montserrat" panose="00000500000000000000" pitchFamily="2" charset="-52"/>
              </a:rPr>
              <a:t>/3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7D439B-63E9-E057-7B7D-9E61FE64C1F5}"/>
              </a:ext>
            </a:extLst>
          </p:cNvPr>
          <p:cNvSpPr txBox="1"/>
          <p:nvPr/>
        </p:nvSpPr>
        <p:spPr>
          <a:xfrm>
            <a:off x="637590" y="1151701"/>
            <a:ext cx="109168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23. Интерференция двух плоских монохроматических волн одинаковой частоты.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16]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24. Интерференция волн от двух когерентных точечных источников.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16]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25. Разложение периодической функции в ряд Фурье. Фазовая модуляция радиосигнала.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26. Разложение непериодической функции по интегралам Фурье.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27. Представление одиночного прямоугольного импульса в виде интеграла Фурье.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28. Представление конечного участка синусоидального сигнала в виде интеграла Фурье.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29. Дифракция Френеля на круглом отверстии. Вычисление интенсивности в центре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дифракционной картины с помощью векторных диаграмм.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Л17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30. Групповая скорость волнового пакета. Расползание волнового пакета при наличии дисперсии.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Л18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31. Уравнение эйконала и лучевое уравнение. Градиентные световоды.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Л18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]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32. Вывод законов отражения и преломления света для плоской электромагнитной волны.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33. Вывод формул Френеля. Угол Брюстера.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34. Полное внутреннее отражение света. Проникновение волны в оптически менее плотную среду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при полном внутреннем отражении.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35. Сдвиг фаз при полном внутреннем отражении. Приведите пример, как это учитывается при</a:t>
            </a:r>
          </a:p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вычислении порядка моды в волноводе.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[</a:t>
            </a:r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Л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19]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AAC6834-7722-7CF0-522D-CD11C60C4307}"/>
              </a:ext>
            </a:extLst>
          </p:cNvPr>
          <p:cNvSpPr/>
          <p:nvPr/>
        </p:nvSpPr>
        <p:spPr>
          <a:xfrm>
            <a:off x="637591" y="601195"/>
            <a:ext cx="10916817" cy="550506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70C0"/>
                </a:solidFill>
                <a:latin typeface="Montserrat" panose="00000500000000000000" pitchFamily="2" charset="-52"/>
              </a:rPr>
              <a:t>Волны + сигналы + оптика</a:t>
            </a:r>
          </a:p>
        </p:txBody>
      </p:sp>
    </p:spTree>
    <p:extLst>
      <p:ext uri="{BB962C8B-B14F-4D97-AF65-F5344CB8AC3E}">
        <p14:creationId xmlns:p14="http://schemas.microsoft.com/office/powerpoint/2010/main" val="38207257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31E94-C397-9C50-8843-96F84C68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678"/>
            <a:ext cx="10515600" cy="84883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1. Сформулируйте закон Био-Савара-Лапласа. Получите с его помощью выражение для индукции поля прямого тока и индукции в центре кругового витка.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E5A633C-E848-6AEE-E2C5-5162338D380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221824" cy="4941277"/>
              </a:xfrm>
            </p:spPr>
            <p:txBody>
              <a:bodyPr/>
              <a:lstStyle/>
              <a:p>
                <a:r>
                  <a:rPr lang="ru-RU" b="1" dirty="0"/>
                  <a:t>Закон Био-Савара-Лапласа</a:t>
                </a:r>
                <a:endParaRPr lang="ru-RU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Элемент длины контура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направлен по касательной к контуру в сторону протекания тока.</a:t>
                </a:r>
              </a:p>
              <a:p>
                <a:endParaRPr lang="ru-RU" dirty="0"/>
              </a:p>
              <a:p>
                <a:r>
                  <a:rPr lang="ru-RU" b="1" dirty="0"/>
                  <a:t>Индукция магнитного поля прямого тока</a:t>
                </a:r>
              </a:p>
              <a:p>
                <a:r>
                  <a:rPr lang="ru-RU" dirty="0"/>
                  <a:t>Расстояние до точки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func>
                          <m:funcPr>
                            <m:ctrlP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</m:oMath>
                </a14:m>
                <a:endParaRPr lang="en-US" dirty="0"/>
              </a:p>
              <a:p>
                <a:r>
                  <a:rPr lang="ru-RU" b="0" dirty="0"/>
                  <a:t>Элемент длины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Векторное произведение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f>
                            <m:fPr>
                              <m:ctrlPr>
                                <a:rPr lang="en-US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i="1" dirty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den>
                          </m:f>
                          <m:f>
                            <m:fPr>
                              <m:ctrlPr>
                                <a:rPr lang="en-US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US" i="1" dirty="0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num>
                            <m:den>
                              <m:sSup>
                                <m:sSupPr>
                                  <m:ctrlP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i="1" dirty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6E5A633C-E848-6AEE-E2C5-5162338D38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221824" cy="4941277"/>
              </a:xfrm>
              <a:blipFill>
                <a:blip r:embed="rId2"/>
                <a:stretch>
                  <a:fillRect l="-668" t="-1235" r="-5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6AB0F4-AAA2-7765-7CAD-305DA7B72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810" y="1066765"/>
            <a:ext cx="1879990" cy="20776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763A6B-0AE2-59B1-AE39-6424B088814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6"/>
          <a:stretch>
            <a:fillRect/>
          </a:stretch>
        </p:blipFill>
        <p:spPr>
          <a:xfrm>
            <a:off x="9144001" y="3213477"/>
            <a:ext cx="2209800" cy="29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79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8A8E-8803-5E53-FD85-6457E5648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42C9E9-5457-B44C-ACA9-AF0B98D51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9678"/>
            <a:ext cx="10515600" cy="84883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1. Сформулируйте закон Био-Савара-Лапласа. Получите с его помощью выражение для индукции поля прямого тока и индукции в центре кругового витка.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DADCE49-869B-0350-DA78-BB24C2DD79C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199" y="1248507"/>
                <a:ext cx="7410061" cy="4941277"/>
              </a:xfrm>
            </p:spPr>
            <p:txBody>
              <a:bodyPr/>
              <a:lstStyle/>
              <a:p>
                <a:r>
                  <a:rPr lang="ru-RU" b="1" dirty="0"/>
                  <a:t>Индукция магнитного поля в центре кругового витка</a:t>
                </a:r>
              </a:p>
              <a:p>
                <a:r>
                  <a:rPr lang="ru-RU" dirty="0"/>
                  <a:t>Расстояние от проводника до точки всегда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Общая длина всех элементов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ru-RU" dirty="0"/>
                  <a:t> проводника равна </a:t>
                </a:r>
                <a14:m>
                  <m:oMath xmlns:m="http://schemas.openxmlformats.org/officeDocument/2006/math">
                    <m:r>
                      <a:rPr lang="ru-R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ru-RU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ru-RU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ru-RU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DADCE49-869B-0350-DA78-BB24C2DD79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199" y="1248507"/>
                <a:ext cx="7410061" cy="4941277"/>
              </a:xfrm>
              <a:blipFill>
                <a:blip r:embed="rId2"/>
                <a:stretch>
                  <a:fillRect l="-658" t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837FAF5-F846-9584-563B-A81A41B71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261" y="1248507"/>
            <a:ext cx="3105539" cy="317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76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ED7AE57-5191-3BA9-01FF-96C4F21FEB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2. Докажите теорему о циркуляции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 в отсутствие магнетика. Вычислите с её помощью индукцию магнитного поля прямого тока, индукцию поля внутри длинного соленоида.</a:t>
                </a:r>
                <a:br>
                  <a:rPr lang="ru-RU" dirty="0">
                    <a:solidFill>
                      <a:srgbClr val="0070C0"/>
                    </a:solidFill>
                  </a:rPr>
                </a:br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1ED7AE57-5191-3BA9-01FF-96C4F21FEB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2158" b="-7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A66E321-445D-E375-86A0-80FED208606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474465" cy="5432211"/>
              </a:xfrm>
            </p:spPr>
            <p:txBody>
              <a:bodyPr/>
              <a:lstStyle/>
              <a:p>
                <a:r>
                  <a:rPr lang="ru-RU" b="1" dirty="0"/>
                  <a:t>Циркуляция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 </a:t>
                </a:r>
                <a:r>
                  <a:rPr lang="ru-RU" dirty="0"/>
                  <a:t>равна алгебраической сумме токов, охваченных контуром, умноженной на магнитную постоянную.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Для непрерывно распределённых токов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nary>
                      <m:r>
                        <a:rPr lang="en-US" i="1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∮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∮"/>
                          <m:limLoc m:val="undOvr"/>
                          <m:ctrl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bg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ru-RU" b="1" dirty="0"/>
                  <a:t>Доказательство</a:t>
                </a:r>
              </a:p>
              <a:p>
                <a:r>
                  <a:rPr lang="ru-RU" dirty="0"/>
                  <a:t>Представим контур в виде суммы произвольных дуг и окружностей.</a:t>
                </a:r>
              </a:p>
              <a:p>
                <a:r>
                  <a:rPr lang="ru-RU" dirty="0"/>
                  <a:t>На радиусах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ru-RU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ru-RU" dirty="0"/>
                  <a:t> циркуляция равна нулю.</a:t>
                </a:r>
                <a:endParaRPr lang="en-US" dirty="0"/>
              </a:p>
              <a:p>
                <a:r>
                  <a:rPr lang="ru-RU" dirty="0"/>
                  <a:t>На дугах: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Все дуги охватывают угол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Сложим результаты для каждого тока </a:t>
                </a:r>
                <a:r>
                  <a:rPr lang="ru-RU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∎</a:t>
                </a:r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DA66E321-445D-E375-86A0-80FED20860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474465" cy="5432211"/>
              </a:xfrm>
              <a:blipFill>
                <a:blip r:embed="rId3"/>
                <a:stretch>
                  <a:fillRect l="-647" t="-561" r="-57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935601-5793-3869-673B-5967C89A8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2665" y="987250"/>
            <a:ext cx="2041135" cy="29782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0E2A37-3C5E-A864-28DF-FC0AE7679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0850" y="4132097"/>
            <a:ext cx="215295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513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9E45-A99B-468F-34E5-E650B025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6657A5C2-E2D8-8654-E2C1-32A7AA2C12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2. Докажите теорему о циркуляции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 в отсутствие магнетика. Вычислите с её помощью индукцию магнитного поля прямого тока, индукцию поля внутри длинного соленоида.</a:t>
                </a:r>
                <a:br>
                  <a:rPr lang="ru-RU" dirty="0">
                    <a:solidFill>
                      <a:srgbClr val="0070C0"/>
                    </a:solidFill>
                  </a:rPr>
                </a:br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6657A5C2-E2D8-8654-E2C1-32A7AA2C1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2158" b="-7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F194CEA-B3F1-2C98-9F17-8DFC546E150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7422849" cy="5432211"/>
              </a:xfrm>
            </p:spPr>
            <p:txBody>
              <a:bodyPr/>
              <a:lstStyle/>
              <a:p>
                <a:r>
                  <a:rPr lang="ru-RU" b="1" dirty="0"/>
                  <a:t>Индукция магнитного поля прямого тока</a:t>
                </a:r>
              </a:p>
              <a:p>
                <a:r>
                  <a:rPr lang="ru-RU" dirty="0"/>
                  <a:t>Возьмём в качестве контура окружность радиусом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ru-RU" dirty="0"/>
              </a:p>
              <a:p>
                <a:r>
                  <a:rPr lang="ru-RU" b="1" dirty="0"/>
                  <a:t>Индукция магнитного поля внутри длинного соленоида</a:t>
                </a:r>
              </a:p>
              <a:p>
                <a:r>
                  <a:rPr lang="ru-RU" dirty="0"/>
                  <a:t>Вычислим индукцию на оси, число витков на единицу длины равно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  <a:endParaRPr lang="ru-RU" dirty="0"/>
              </a:p>
              <a:p>
                <a:r>
                  <a:rPr lang="ru-RU" dirty="0"/>
                  <a:t>Представим бесконечный соленоид свёрнутый в кольцо большого радиуса.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F194CEA-B3F1-2C98-9F17-8DFC546E15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7422849" cy="5432211"/>
              </a:xfrm>
              <a:blipFill>
                <a:blip r:embed="rId3"/>
                <a:stretch>
                  <a:fillRect l="-740" t="-1122" r="-7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8BB71A-9051-D512-BE60-9EDB818D8D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0065" y="1023602"/>
            <a:ext cx="2427515" cy="27181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E97E7E8-71B8-E1D8-46B8-D086BDE188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3"/>
          <a:stretch>
            <a:fillRect/>
          </a:stretch>
        </p:blipFill>
        <p:spPr>
          <a:xfrm>
            <a:off x="8261049" y="3741772"/>
            <a:ext cx="3086531" cy="271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82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FD0A0E-1A4E-3EE1-4BBC-01489A33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rgbClr val="0070C0"/>
                </a:solidFill>
              </a:rPr>
              <a:t>3.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rgbClr val="0070C0"/>
                </a:solidFill>
              </a:rPr>
              <a:t>Дайте определение силы Лоренца, действующей на частицу в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rgbClr val="0070C0"/>
                </a:solidFill>
              </a:rPr>
              <a:t>электромагнитном поле. Частица движется в однородном магнитном поле по винтовой линии. Получите формулу для радиуса и шага винтовой линии.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56A19E7-96D5-7763-53E5-D079920337D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7130143" cy="4941277"/>
              </a:xfrm>
            </p:spPr>
            <p:txBody>
              <a:bodyPr/>
              <a:lstStyle/>
              <a:p>
                <a:r>
                  <a:rPr lang="ru-RU" b="1" dirty="0"/>
                  <a:t>Сила Лоренца </a:t>
                </a:r>
                <a:r>
                  <a:rPr lang="ru-RU" dirty="0"/>
                  <a:t>– сила, действующая на движущуюся частицу в эм поле.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Магнитная составляющая силы Лоренца направлена перпендикулярно скорости, поэтому не совершает работы, не может изменить модуля скорости.</a:t>
                </a:r>
              </a:p>
              <a:p>
                <a:r>
                  <a:rPr lang="ru-RU" b="1" dirty="0"/>
                  <a:t>Движение частицы по винтовой линии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∥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цс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лор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⊥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Радиус спирали: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𝑚𝑣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𝑞𝐵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Период обращения частицы: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𝑞𝐵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ru-RU" dirty="0"/>
                  <a:t>Шаг винтовой линии: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𝑞𝐵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func>
                  </m:oMath>
                </a14:m>
                <a:endParaRPr lang="ru-RU" dirty="0"/>
              </a:p>
              <a:p>
                <a:endParaRPr lang="en-US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56A19E7-96D5-7763-53E5-D07992033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7130143" cy="4941277"/>
              </a:xfrm>
              <a:blipFill>
                <a:blip r:embed="rId2"/>
                <a:stretch>
                  <a:fillRect l="-770" t="-1235" r="-7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BFB90F-9FCD-361D-F07D-9607F0950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342" y="1248506"/>
            <a:ext cx="3385457" cy="18963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35C031-EC9F-600F-6876-63C335C0E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341" y="3301752"/>
            <a:ext cx="3385457" cy="28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2588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9B0628-FC3C-78C8-FD1C-DC68A267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4. Выведите формулу для работы сил магнитного поля при движении контура с током в магнитном поле.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9C42790-1066-989B-E596-D4485BAB618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Поток вектора магнитной индукции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𝐵𝑑𝑆</m:t>
                    </m:r>
                    <m:func>
                      <m:funcPr>
                        <m:ctrlP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Вб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Сила Ампера на элемент проводника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</m:d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Элементарная работа по перемещению элемента проводника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acc>
                  </m:oMath>
                </a14:m>
                <a:r>
                  <a:rPr lang="ru-RU" dirty="0"/>
                  <a:t> на расстояние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: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acc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𝑑𝑆</m:t>
                          </m:r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𝐼𝑑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Полная работа по перемещению проводника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A9C42790-1066-989B-E596-D4485BAB61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23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85658D-3BA7-90AE-8EE7-474A1D0B80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4" r="-1"/>
          <a:stretch>
            <a:fillRect/>
          </a:stretch>
        </p:blipFill>
        <p:spPr>
          <a:xfrm>
            <a:off x="7277878" y="4056903"/>
            <a:ext cx="4075922" cy="213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588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C351A-CDAB-08D9-A2AF-37A6B60B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5. Что называют индуктивностью контура? Получите формулу для индуктивности на единицу длины для длинного соленоида.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8F94DF5-40A0-9ED6-5CD2-E92C1C5DECA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315131" cy="4941277"/>
              </a:xfrm>
            </p:spPr>
            <p:txBody>
              <a:bodyPr/>
              <a:lstStyle/>
              <a:p>
                <a:r>
                  <a:rPr lang="ru-RU" b="1" dirty="0"/>
                  <a:t>Индуктивность</a:t>
                </a:r>
                <a:r>
                  <a:rPr lang="ru-RU" dirty="0"/>
                  <a:t> – коэффициент пропорциональности между током в контуре и создаваемым им полным магнитным потоком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ru-RU" b="0" i="0" smtClean="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=[Гн]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b="1" dirty="0"/>
                  <a:t>Индуктивность бесконечно длинного соленоида.</a:t>
                </a:r>
                <a:endParaRPr lang="en-US" b="1" dirty="0"/>
              </a:p>
              <a:p>
                <a:r>
                  <a:rPr lang="ru-RU" dirty="0"/>
                  <a:t>Число витков на единицу длины равно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длина соленоида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площадь сечения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, ток течёт силой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r>
                  <a:rPr lang="ru-RU" dirty="0"/>
                  <a:t>Вычислим индукцию на оси</a:t>
                </a:r>
                <a:r>
                  <a:rPr lang="en-US" dirty="0"/>
                  <a:t>. </a:t>
                </a:r>
                <a:r>
                  <a:rPr lang="ru-RU" dirty="0"/>
                  <a:t>Представим бесконечный соленоид свёрнутый в кольцо большого радиуса.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24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⟹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𝐼𝑛</m:t>
                      </m:r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Магнитный поток через один виток.</a:t>
                </a:r>
                <a:r>
                  <a:rPr lang="en-US" dirty="0"/>
                  <a:t> </a:t>
                </a:r>
                <a:r>
                  <a:rPr lang="ru-RU" dirty="0"/>
                  <a:t>Так как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𝑛𝐼𝑆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Полный магнитный поток: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𝑛𝑙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𝑙𝑆𝐼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𝐿𝐼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8F94DF5-40A0-9ED6-5CD2-E92C1C5DEC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8315131" cy="4941277"/>
              </a:xfrm>
              <a:blipFill>
                <a:blip r:embed="rId2"/>
                <a:stretch>
                  <a:fillRect l="-660" t="-1235" r="-5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8A162AE-6A87-833B-061D-4DCA84CA7C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3"/>
          <a:stretch>
            <a:fillRect/>
          </a:stretch>
        </p:blipFill>
        <p:spPr>
          <a:xfrm>
            <a:off x="9065753" y="4172833"/>
            <a:ext cx="2291650" cy="201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269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A3CE3-7FA5-9138-1F1D-9C01E4C94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6. В чём заключается явление взаимной индукции. Получите формулы для вычисления индуктивности связанных контуров.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309D8DD-3D67-A0D8-08E3-25DCC32383F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Взаимная индукция</a:t>
                </a:r>
                <a:r>
                  <a:rPr lang="ru-RU" dirty="0"/>
                  <a:t> — это возникновение ЭДС индукции в одном контуре при изменении силы тока в другом контуре.</a:t>
                </a:r>
                <a:endParaRPr lang="en-US" dirty="0"/>
              </a:p>
              <a:p>
                <a:r>
                  <a:rPr lang="ru-RU" dirty="0"/>
                  <a:t>Магнитный поток через второй контур пропорционален току в первом</a:t>
                </a:r>
                <a:r>
                  <a:rPr lang="en-US" dirty="0"/>
                  <a:t> </a:t>
                </a:r>
                <a:r>
                  <a:rPr lang="ru-RU" dirty="0"/>
                  <a:t>и наоборот</a:t>
                </a:r>
                <a:r>
                  <a:rPr lang="en-US" dirty="0"/>
                  <a:t>.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r>
                  <a:rPr lang="ru-RU" dirty="0"/>
                  <a:t>ЭДС вызываемый во втором контуре током первого и наоборот</a:t>
                </a:r>
                <a:r>
                  <a:rPr lang="en-US" dirty="0"/>
                  <a:t>.</a:t>
                </a:r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ru-RU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  <m:sub>
                              <m:r>
                                <a:rPr lang="ru-RU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ru-RU" b="1" dirty="0"/>
                  <a:t>Теорема о взаимности</a:t>
                </a:r>
                <a:r>
                  <a:rPr lang="ru-RU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ru-RU" dirty="0"/>
                  <a:t>Если две катушки намотаны на один общий сердечник (длиной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ru-RU" dirty="0"/>
                  <a:t> и сечением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).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𝜇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одного витка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одного витка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309D8DD-3D67-A0D8-08E3-25DCC32383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3707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DA1D6-FBB5-73BA-4561-4B83DDE5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CEBCF-BF9F-8DFB-9D9A-E8FBA442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6. В чём заключается явление взаимной индукции. Получите формулы для вычисления индуктивности связанных контуров.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43B2F5-BAEF-9DB6-3E08-5564EA6D417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Поток через 1-ю катушку: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b="0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 dirty="0" err="1" smtClean="0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Поток через 2-ю катушку: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dirty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Суммарный поток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n-NO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nn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n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n-NO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nn-NO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n-NO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n-NO" i="1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nn-NO" i="1">
                            <a:latin typeface="Cambria Math" panose="02040503050406030204" pitchFamily="18" charset="0"/>
                          </a:rPr>
                          <m:t> +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ru-RU" i="1" dirty="0" err="1">
                                <a:latin typeface="Cambria Math" panose="02040503050406030204" pitchFamily="18" charset="0"/>
                              </a:rPr>
                              <m:t>вз</m:t>
                            </m:r>
                          </m:sub>
                        </m:sSub>
                        <m:r>
                          <a:rPr lang="nn-NO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nn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nn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n-NO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nn-NO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) = (</m:t>
                    </m:r>
                    <m:sSub>
                      <m:sSubPr>
                        <m:ctrlPr>
                          <a:rPr lang="nn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nn-NO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n-NO" i="1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nn-NO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n-NO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nn-NO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±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 2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 dirty="0" err="1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  <m:r>
                      <a:rPr lang="nn-NO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nn-NO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dirty="0"/>
              </a:p>
              <a:p>
                <a:r>
                  <a:rPr lang="ru-RU" dirty="0"/>
                  <a:t>Индуктивность системы катушек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±2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вз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BE43B2F5-BAEF-9DB6-3E08-5564EA6D41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4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CBE445-70B6-F2E9-F19A-CCD8EF44A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81197"/>
            <a:ext cx="5257800" cy="21106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EA639E-C71A-9073-6574-FB9141176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075" y="2977647"/>
            <a:ext cx="4160049" cy="5776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BF15BD-17B1-3D15-2610-279AADDAD5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8"/>
          <a:stretch>
            <a:fillRect/>
          </a:stretch>
        </p:blipFill>
        <p:spPr>
          <a:xfrm>
            <a:off x="6170499" y="3495090"/>
            <a:ext cx="5135102" cy="202863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62DEBD6-63C6-4C9B-BA35-CC3373445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875" y="2977647"/>
            <a:ext cx="4160049" cy="5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015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16711-E4C3-262D-573E-BC2B80ED3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7. В чём заключается явление взаимной индукции. Получите формулы для вычисления энергии магнитного поля связанных контуров.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8EA93C-9826-424D-C263-DD19505B50C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Взаимная индукция</a:t>
                </a:r>
                <a:r>
                  <a:rPr lang="ru-RU" dirty="0"/>
                  <a:t> — это возникновение ЭДС индукции в одном контуре при изменении силы тока в другом контуре.</a:t>
                </a:r>
                <a:endParaRPr lang="en-US" dirty="0"/>
              </a:p>
              <a:p>
                <a:r>
                  <a:rPr lang="ru-RU" dirty="0"/>
                  <a:t>(</a:t>
                </a:r>
                <a:r>
                  <a:rPr lang="ru-RU" b="1" dirty="0">
                    <a:solidFill>
                      <a:srgbClr val="0070C0"/>
                    </a:solidFill>
                  </a:rPr>
                  <a:t>билет 6</a:t>
                </a:r>
                <a:r>
                  <a:rPr lang="ru-RU" dirty="0"/>
                  <a:t>)</a:t>
                </a:r>
              </a:p>
              <a:p>
                <a:r>
                  <a:rPr lang="ru-RU" dirty="0"/>
                  <a:t>Энергия магнитного поля связанных контуров</a:t>
                </a:r>
              </a:p>
              <a:p>
                <a:r>
                  <a:rPr lang="ru-RU" dirty="0"/>
                  <a:t>Элементарная работа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𝑑𝐴</m:t>
                    </m:r>
                  </m:oMath>
                </a14:m>
                <a:r>
                  <a:rPr lang="ru-RU" dirty="0"/>
                  <a:t>, совершаемая источниками за время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ru-RU" dirty="0"/>
                  <a:t>, равна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ℇ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вз1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ℇ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ℇ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вз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𝑑𝑊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 dirty="0"/>
                  <a:t>ЭДС самоиндукции в первом контуре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ℇ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вз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ru-R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ru-RU" dirty="0"/>
                  <a:t> – ЭДС взаимной индукции в первом контуре (от второго контура)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Интегрируем по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вз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28EA93C-9826-424D-C263-DD19505B5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10415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FCAE1-AA74-970E-812A-721BF2DE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8. Получите выражение для ЭДС индукции, возникающей при движении проводника в магнитном поле.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92370D6-B441-7BE4-8F07-A9D9D2CFF82C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6618184" cy="4941277"/>
              </a:xfrm>
            </p:spPr>
            <p:txBody>
              <a:bodyPr/>
              <a:lstStyle/>
              <a:p>
                <a:r>
                  <a:rPr lang="ru-RU" dirty="0"/>
                  <a:t>При движении проводника вместе с ним движутся и свободные электроны. В магнитном поле на каждый заряд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 действует магнитная составляющая силы Лоренца: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acc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лор</m:t>
                        </m:r>
                      </m:sub>
                    </m:sSub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ru-RU" dirty="0"/>
                  <a:t>Создать индукционный ток может только </a:t>
                </a:r>
                <a:endParaRPr lang="ru-R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стор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𝑞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Работа этой силы при перемещении заряда вдоль проводника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стор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𝑙𝑞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Площадь, зачерчиваемая проводником за время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ЭДС индукции в проводнике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ℇ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стор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92370D6-B441-7BE4-8F07-A9D9D2CFF8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6618184" cy="4941277"/>
              </a:xfrm>
              <a:blipFill>
                <a:blip r:embed="rId2"/>
                <a:stretch>
                  <a:fillRect l="-829" t="-1235" r="-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8AC70C-061A-7E9A-F152-28334CA5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56384" y="1234618"/>
            <a:ext cx="3897416" cy="291294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BC69B0-F474-FF3D-C444-629E7822D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796" y="4151880"/>
            <a:ext cx="3796004" cy="203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0843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5AF9F-12D3-FE7E-E57A-B6B06192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9. Получите выражение для разности потенциалов, возникающей между концами проводника при движении в магнитном поле.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05ED76D-AB15-90D5-9DE4-51F306E853B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Ситуация как с </a:t>
                </a:r>
                <a:r>
                  <a:rPr lang="ru-RU" dirty="0">
                    <a:solidFill>
                      <a:srgbClr val="0070C0"/>
                    </a:solidFill>
                  </a:rPr>
                  <a:t>билетом 8</a:t>
                </a:r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Под действием силы Лоренца электроны смещаются к одному концу проводника, создавая там избыточный минус, а на другом — плюс. Это порождает внутри проводника электростатическое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. Перераспределение зарядов прекратится, когда электрическая сила уравновесит магнитную: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𝐸𝑑𝑙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105ED76D-AB15-90D5-9DE4-51F306E853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4718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C674CF-4CE3-0B5A-25E2-D8B3DB96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10. Получите выражение для ЭДС индукции, возникающей в неподвижном контуре при изменении магнитного потока через него.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80C0661-649F-A36B-CECC-534F7C7EF19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dirty="0"/>
                  <a:t>Контур стоит на месте, меняется только</a:t>
                </a:r>
                <a:r>
                  <a:rPr lang="en-US" dirty="0"/>
                  <a:t> </a:t>
                </a:r>
                <a:r>
                  <a:rPr lang="ru-RU" dirty="0"/>
                  <a:t>магнитное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  <a:r>
                  <a:rPr lang="ru-RU" dirty="0"/>
                  <a:t> Переменное магнитное поле создает </a:t>
                </a:r>
                <a:r>
                  <a:rPr lang="ru-RU" b="1" dirty="0"/>
                  <a:t>вихревое электрическое поле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</m:oMath>
                </a14:m>
                <a:r>
                  <a:rPr lang="ru-RU" dirty="0"/>
                  <a:t>.</a:t>
                </a:r>
              </a:p>
              <a:p>
                <a:r>
                  <a:rPr lang="ru-RU" dirty="0"/>
                  <a:t>Определение ЭДС: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𝑑𝑞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/>
                  <a:t> (</a:t>
                </a:r>
                <a:r>
                  <a:rPr lang="ru-RU" dirty="0"/>
                  <a:t>работа по переносу заряда = циркуляция</a:t>
                </a:r>
                <a:r>
                  <a:rPr lang="en-US" dirty="0"/>
                  <a:t>). </a:t>
                </a:r>
                <a:endParaRPr lang="ru-RU" dirty="0"/>
              </a:p>
              <a:p>
                <a:r>
                  <a:rPr lang="ru-RU" dirty="0"/>
                  <a:t>Магнитный поток через поверхность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ru-RU" dirty="0"/>
                  <a:t>, ограниченную контуром, равен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dirty="0">
                        <a:latin typeface="Cambria Math" panose="02040503050406030204" pitchFamily="18" charset="0"/>
                      </a:rPr>
                      <m:t>Φ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Закон Фарадея</a:t>
                </a:r>
                <a:r>
                  <a:rPr lang="en-US" dirty="0"/>
                  <a:t> </a:t>
                </a:r>
                <a:r>
                  <a:rPr lang="ru-RU" dirty="0"/>
                  <a:t>преобразуется как: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ℰ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∮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f>
                          <m:fPr>
                            <m:ctrlPr>
                              <a:rPr lang="ru-RU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acc>
                              <m:accPr>
                                <m:chr m:val="⃗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  <a:p>
                <a:r>
                  <a:rPr lang="ru-RU" dirty="0"/>
                  <a:t>Получается теорема о циркуляции вихревого электрического поля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ℰ</m:t>
                      </m:r>
                      <m:r>
                        <a:rPr 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ru-RU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 dirty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∮"/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80C0661-649F-A36B-CECC-534F7C7EF1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617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74450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4750F-248A-1E80-5225-8FFBBB24E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11. Приведите примеры - когда наблюдается действие вихревого электрического поля, а когда потенциального. Запишите теорему о циркуляции электрического поля для обоих случаев.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DBD0D2C-37C3-9D7A-2564-ECE12C3A09A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5357566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Потенциальное электрическое поле (электростатическое) </a:t>
                </a:r>
                <a:endParaRPr lang="en-US" b="1" dirty="0"/>
              </a:p>
              <a:p>
                <a:r>
                  <a:rPr lang="ru-RU" dirty="0"/>
                  <a:t>Это поле, создаваемое неподвижными зарядами.</a:t>
                </a:r>
              </a:p>
              <a:p>
                <a:r>
                  <a:rPr lang="ru-RU" b="1" dirty="0"/>
                  <a:t>Примеры:</a:t>
                </a:r>
                <a:r>
                  <a:rPr lang="ru-RU" dirty="0"/>
                  <a:t> поле вокруг заряженного металлического шара, поле внутри заряженного конденсатора, поле точечного заряда (электрона или протона).</a:t>
                </a:r>
              </a:p>
              <a:p>
                <a:r>
                  <a:rPr lang="ru-RU" b="1" dirty="0"/>
                  <a:t>Теорема о циркуляции</a:t>
                </a:r>
                <a:r>
                  <a:rPr lang="ru-RU" dirty="0"/>
                  <a:t>: циркуляция по любому замкнутому контуру равна 0.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  <a:p>
                <a:r>
                  <a:rPr lang="ru-RU" b="1" dirty="0"/>
                  <a:t>Вихревое электрическое поле (индуцированное)</a:t>
                </a:r>
              </a:p>
              <a:p>
                <a:r>
                  <a:rPr lang="ru-RU" dirty="0"/>
                  <a:t>Это поле порождается изменяющимся во времени магнитным полем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/>
                  <a:t>. Оно не связано напрямую с зарядами, его линии всегда замкнуты</a:t>
                </a:r>
                <a:r>
                  <a:rPr lang="en-US" dirty="0"/>
                  <a:t>.</a:t>
                </a:r>
              </a:p>
              <a:p>
                <a:r>
                  <a:rPr lang="ru-RU" b="1" dirty="0"/>
                  <a:t>Примеры:</a:t>
                </a:r>
                <a:r>
                  <a:rPr lang="ru-RU" dirty="0"/>
                  <a:t> ЭДС в обмотке трансформатора при работе, индукционный ток в кольце, над которым движется магнит, вихревые токи (токи Фуко) в массивных кусках металла.</a:t>
                </a:r>
                <a:endParaRPr lang="en-US" dirty="0"/>
              </a:p>
              <a:p>
                <a:r>
                  <a:rPr lang="ru-RU" b="1" dirty="0"/>
                  <a:t>Теорема о циркуляции</a:t>
                </a:r>
                <a:r>
                  <a:rPr lang="ru-RU" dirty="0"/>
                  <a:t>:</a:t>
                </a:r>
                <a:r>
                  <a:rPr lang="en-US" dirty="0"/>
                  <a:t> </a:t>
                </a:r>
                <a:r>
                  <a:rPr lang="ru-RU" dirty="0"/>
                  <a:t>циркуляция определяется законом Фарадея.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ru-RU" i="1" dirty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∮"/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ru-RU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u-RU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ru-RU" b="0" i="1" dirty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ru-RU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DBD0D2C-37C3-9D7A-2564-ECE12C3A0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5357566"/>
              </a:xfrm>
              <a:blipFill>
                <a:blip r:embed="rId2"/>
                <a:stretch>
                  <a:fillRect l="-522" t="-1138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037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320029B-F518-996B-8050-8E80ADB422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12. Дайте определение токов намагничивания. Что называют намагниченностью среды? Как в случае однородного изотропного магнетика связаны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320029B-F518-996B-8050-8E80ADB422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EE9A00-8E84-98C1-43CB-DD4BE7F31CEF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4941277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Токи намагничивания</a:t>
                </a:r>
                <a:r>
                  <a:rPr lang="ru-RU" dirty="0"/>
                  <a:t> — это макроскопические токи, которые непрерывно изменяются в пространстве и создают макроскопическое магнитное поле в веществе (магнетике).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  <a:p>
                <a:r>
                  <a:rPr lang="ru-RU" b="1" dirty="0"/>
                  <a:t>Намагниченность</a:t>
                </a:r>
                <a:r>
                  <a:rPr lang="ru-RU" dirty="0"/>
                  <a:t> (вектор намагничивания) – магнитный момент единицы объёма.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А</m:t>
                              </m:r>
                            </m:num>
                            <m:den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𝑚𝑖</m:t>
                        </m:r>
                      </m:sub>
                    </m:sSub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магнитный момент молекулы,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– концентрация молекул,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ru-RU" dirty="0"/>
                  <a:t> – средний мм.</a:t>
                </a:r>
              </a:p>
              <a:p>
                <a:r>
                  <a:rPr lang="ru-RU" b="1" i="1" dirty="0"/>
                  <a:t>Магнитная индукция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А</m:t>
                            </m:r>
                          </m:num>
                          <m:den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м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(</a:t>
                </a:r>
                <a:r>
                  <a:rPr lang="ru-RU" dirty="0"/>
                  <a:t>зависит от токов проводимости и намагничивания</a:t>
                </a:r>
                <a:r>
                  <a:rPr lang="en-US" dirty="0"/>
                  <a:t>) </a:t>
                </a:r>
                <a:endParaRPr lang="ru-RU" dirty="0"/>
              </a:p>
              <a:p>
                <a:r>
                  <a:rPr lang="ru-RU" b="1" i="1" dirty="0"/>
                  <a:t>Напряженность магнитного поля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skw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А</m:t>
                            </m:r>
                          </m:num>
                          <m:den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м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(зависит только от токов проводимости)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9EE9A00-8E84-98C1-43CB-DD4BE7F31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4941277"/>
              </a:xfrm>
              <a:blipFill>
                <a:blip r:embed="rId3"/>
                <a:stretch>
                  <a:fillRect l="-522" t="-1235" r="-464" b="-11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C920F4-B77C-9848-BDAB-92EAAE67B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087" y="2662256"/>
            <a:ext cx="1683612" cy="11690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0C85C5-02CD-6B6D-0CE4-75D15BE22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151" y="2662256"/>
            <a:ext cx="1683612" cy="11603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F2D0729-646F-86AA-BA04-2E7EC0221A95}"/>
              </a:ext>
            </a:extLst>
          </p:cNvPr>
          <p:cNvSpPr txBox="1"/>
          <p:nvPr/>
        </p:nvSpPr>
        <p:spPr>
          <a:xfrm>
            <a:off x="838200" y="2075691"/>
            <a:ext cx="4515386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 однородном веществе </a:t>
            </a:r>
            <a:r>
              <a:rPr kumimoji="0" lang="ru-RU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микроскопические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токи компенсируются и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макроскопические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токи текут по поверхности.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DDB7EB-1293-6116-EED5-5B9BE4031B3A}"/>
              </a:ext>
            </a:extLst>
          </p:cNvPr>
          <p:cNvSpPr txBox="1"/>
          <p:nvPr/>
        </p:nvSpPr>
        <p:spPr>
          <a:xfrm>
            <a:off x="6466114" y="2075691"/>
            <a:ext cx="488768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 неоднородном веществе 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макроскопические</a:t>
            </a: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 токи текут по поверхности и в объёме.</a:t>
            </a:r>
          </a:p>
        </p:txBody>
      </p:sp>
    </p:spTree>
    <p:extLst>
      <p:ext uri="{BB962C8B-B14F-4D97-AF65-F5344CB8AC3E}">
        <p14:creationId xmlns:p14="http://schemas.microsoft.com/office/powerpoint/2010/main" val="40185455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28A8-6798-1CFA-9C22-12069A0A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697851A-1ECE-6FA8-8780-A0A21D3C30A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12. Дайте определение токов намагничивания. Что называют намагниченностью среды? Как в случае однородного изотропного магнетика связаны векторы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697851A-1ECE-6FA8-8780-A0A21D3C30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48" t="-50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8C9D524-FF59-C530-08A9-9DA5DC3252D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4941277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Циркуляции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ru-RU" b="1" dirty="0"/>
                  <a:t>Связи</a:t>
                </a:r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acc>
                          <m:r>
                            <a:rPr lang="ru-RU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𝜒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endParaRPr lang="ru-R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</m:d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магнитная восприимчивость среды (безразмерная величина)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магнитная проницаемость среды (безразмерная величина)</a:t>
                </a:r>
              </a:p>
              <a:p>
                <a:endParaRPr lang="ru-RU" dirty="0"/>
              </a:p>
              <a:p>
                <a:endParaRPr lang="ru-RU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08C9D524-FF59-C530-08A9-9DA5DC3252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248507"/>
                <a:ext cx="10515600" cy="4941277"/>
              </a:xfrm>
              <a:blipFill>
                <a:blip r:embed="rId3"/>
                <a:stretch>
                  <a:fillRect l="-522" t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80944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4449F6E-AD8D-4613-64BE-485036476FA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13. Докажите теорему о циркуляции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ru-RU" dirty="0">
                    <a:solidFill>
                      <a:srgbClr val="0070C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4449F6E-AD8D-4613-64BE-485036476F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143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2E89646-420F-5B45-1B2D-9B06EFA7E94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199" y="819298"/>
                <a:ext cx="10515600" cy="4941277"/>
              </a:xfrm>
            </p:spPr>
            <p:txBody>
              <a:bodyPr/>
              <a:lstStyle/>
              <a:p>
                <a:r>
                  <a:rPr lang="ru-RU" b="1" dirty="0"/>
                  <a:t>Теорема о циркуляции </a:t>
                </a:r>
                <a:r>
                  <a:rPr lang="ru-RU" dirty="0"/>
                  <a:t>(для дискретных токов, для непрерывных токов, в дифференциальной форме)</a:t>
                </a:r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Σ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e>
                          </m:acc>
                          <m:r>
                            <m:rPr>
                              <m:brk m:alnAt="16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brk m:alnAt="16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acc>
                    </m:oMath>
                  </m:oMathPara>
                </a14:m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любая поверхность, натянутая на контур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 </m:t>
                    </m:r>
                  </m:oMath>
                </a14:m>
                <a:r>
                  <a:rPr lang="ru-RU" dirty="0"/>
                  <a:t>– сумма токов намагничивания,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’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– плотность токов намагничивания.</a:t>
                </a:r>
                <a:endParaRPr lang="en-US" dirty="0"/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22E89646-420F-5B45-1B2D-9B06EFA7E9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199" y="819298"/>
                <a:ext cx="10515600" cy="4941277"/>
              </a:xfrm>
              <a:blipFill>
                <a:blip r:embed="rId3"/>
                <a:stretch>
                  <a:fillRect l="-464" t="-1110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60AEFA-1F53-68E4-7775-D83757158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724" y="2892490"/>
            <a:ext cx="1924424" cy="166755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FEEB08-6A38-ACE1-915E-11EEDE2E8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2073" y="4560042"/>
            <a:ext cx="2461726" cy="14786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D4AE03-B167-AACA-E132-AE00C81A81AD}"/>
                  </a:ext>
                </a:extLst>
              </p:cNvPr>
              <p:cNvSpPr txBox="1"/>
              <p:nvPr/>
            </p:nvSpPr>
            <p:spPr>
              <a:xfrm>
                <a:off x="838199" y="2999791"/>
                <a:ext cx="8053874" cy="3583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b="1" i="1" dirty="0">
                    <a:latin typeface="Montserrat" panose="00000500000000000000" pitchFamily="2" charset="-52"/>
                  </a:rPr>
                  <a:t>Доказательство</a:t>
                </a:r>
              </a:p>
              <a:p>
                <a:r>
                  <a:rPr lang="ru-RU" dirty="0">
                    <a:latin typeface="Montserrat" panose="00000500000000000000" pitchFamily="2" charset="-52"/>
                  </a:rPr>
                  <a:t>Вклад в циркуляцию внесут только токи, охватывающие контур.</a:t>
                </a:r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Элемент контура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:r>
                  <a:rPr lang="ru-RU" dirty="0">
                    <a:latin typeface="Montserrat" panose="00000500000000000000" pitchFamily="2" charset="-52"/>
                  </a:rPr>
                  <a:t>охватит только молекулярные токи, центры которого попадают внутрь косого цилиндра объёмом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𝑑𝑙</m:t>
                      </m:r>
                    </m:oMath>
                  </m:oMathPara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Магнитный момент молекулы</a:t>
                </a:r>
                <a:r>
                  <a:rPr lang="en-US" dirty="0">
                    <a:latin typeface="Montserrat" panose="00000500000000000000" pitchFamily="2" charset="-52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⟨</m:t>
                    </m:r>
                    <m:acc>
                      <m:accPr>
                        <m:chr m:val="⃗"/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acc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На элемент длины контура приходится ток намагничивания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𝑛𝑑𝑉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</m:oMath>
                  </m:oMathPara>
                </a14:m>
                <a:endParaRPr lang="ru-RU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Интегрируя по всему контуру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ru-RU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nary>
                    <m:r>
                      <a:rPr lang="ru-RU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Используем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интегрируем</a:t>
                </a:r>
                <a:r>
                  <a:rPr lang="en-US" dirty="0">
                    <a:latin typeface="Montserrat" panose="00000500000000000000" pitchFamily="2" charset="-5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ru-RU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nary>
                    <m:r>
                      <a:rPr lang="ru-RU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</m:oMath>
                </a14:m>
                <a:endParaRPr lang="en-US" dirty="0">
                  <a:latin typeface="Montserrat" panose="00000500000000000000" pitchFamily="2" charset="-52"/>
                </a:endParaRPr>
              </a:p>
              <a:p>
                <a:r>
                  <a:rPr lang="ru-RU" dirty="0">
                    <a:latin typeface="Montserrat" panose="00000500000000000000" pitchFamily="2" charset="-52"/>
                  </a:rPr>
                  <a:t>По определению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𝑟𝑜𝑡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∮"/>
                        <m:limLoc m:val="undOvr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</m:oMath>
                </a14:m>
                <a:r>
                  <a:rPr lang="en-US" dirty="0">
                    <a:latin typeface="Montserrat" panose="00000500000000000000" pitchFamily="2" charset="-52"/>
                  </a:rPr>
                  <a:t>, </a:t>
                </a:r>
                <a:r>
                  <a:rPr lang="ru-RU" dirty="0">
                    <a:latin typeface="Montserrat" panose="00000500000000000000" pitchFamily="2" charset="-52"/>
                  </a:rPr>
                  <a:t>отсюда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𝑟𝑜𝑡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acc>
                  </m:oMath>
                </a14:m>
                <a:endParaRPr lang="ru-RU" dirty="0">
                  <a:latin typeface="Montserrat" panose="00000500000000000000" pitchFamily="2" charset="-52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D4AE03-B167-AACA-E132-AE00C81A8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999791"/>
                <a:ext cx="8053874" cy="3583417"/>
              </a:xfrm>
              <a:prstGeom prst="rect">
                <a:avLst/>
              </a:prstGeom>
              <a:blipFill>
                <a:blip r:embed="rId6"/>
                <a:stretch>
                  <a:fillRect l="-605" t="-680" b="-214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0465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B8DA8-AEBB-57E6-B8EA-67727CEC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14. Что называют магнитной проницаемостью среды. Расскажите о свойствах </a:t>
            </a:r>
            <a:r>
              <a:rPr lang="ru-RU" dirty="0" err="1">
                <a:solidFill>
                  <a:srgbClr val="0070C0"/>
                </a:solidFill>
              </a:rPr>
              <a:t>диа</a:t>
            </a:r>
            <a:r>
              <a:rPr lang="ru-RU" dirty="0">
                <a:solidFill>
                  <a:srgbClr val="0070C0"/>
                </a:solidFill>
              </a:rPr>
              <a:t>- и парамагнетиков.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7A6AAF1-6C66-23A3-A91A-5AD6F94ED075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Магнитная проницаемость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ru-RU" dirty="0"/>
                  <a:t> — это безразмерная физическая величина, которая показывает, во сколько раз индукция магнитного поля в веществе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:r>
                  <a:rPr lang="ru-RU" dirty="0"/>
                  <a:t> отличается от индукции магнитного поля в вакууме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u-RU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dirty="0"/>
                  <a:t>)</a:t>
                </a:r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Для однородного вещества: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</m:d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𝜇</m:t>
                    </m:r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dirty="0"/>
                  <a:t>, вещество усиливает внешнее магнитное поле.</a:t>
                </a:r>
                <a:r>
                  <a:rPr lang="en-US" dirty="0"/>
                  <a:t>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ослабляет.</a:t>
                </a:r>
                <a:endParaRPr lang="en-US" dirty="0"/>
              </a:p>
              <a:p>
                <a:r>
                  <a:rPr lang="en-US" dirty="0"/>
                  <a:t> </a:t>
                </a:r>
              </a:p>
              <a:p>
                <a:r>
                  <a:rPr lang="ru-RU" b="1" dirty="0"/>
                  <a:t>Диамагнетики</a:t>
                </a:r>
                <a:r>
                  <a:rPr lang="ru-RU" dirty="0"/>
                  <a:t> — это вещества, которые намагничиваются </a:t>
                </a:r>
                <a:r>
                  <a:rPr lang="ru-RU" b="1" i="1" dirty="0"/>
                  <a:t>против</a:t>
                </a:r>
                <a:r>
                  <a:rPr lang="ru-RU" i="1" dirty="0"/>
                  <a:t> </a:t>
                </a:r>
                <a:r>
                  <a:rPr lang="ru-RU" b="1" i="1" dirty="0"/>
                  <a:t>направления</a:t>
                </a:r>
                <a:r>
                  <a:rPr lang="ru-RU" i="1" dirty="0"/>
                  <a:t> </a:t>
                </a:r>
                <a:r>
                  <a:rPr lang="ru-RU" dirty="0"/>
                  <a:t>внешнего магнитного поля. </a:t>
                </a:r>
                <a:endParaRPr lang="en-US" dirty="0"/>
              </a:p>
              <a:p>
                <a:r>
                  <a:rPr lang="ru-RU" dirty="0"/>
                  <a:t>При внесении во внешнее поле в атомах индуцируются дополнительные микротоки, магнитный момент которых по правилу Ленца направлен навстречу внешнему полю. </a:t>
                </a:r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&lt;0,  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&lt;1,  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⇅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Диамагнетики выталкиваются из областей сильного магнитного поля в слабые.</a:t>
                </a:r>
                <a:r>
                  <a:rPr lang="en-US" dirty="0"/>
                  <a:t> </a:t>
                </a:r>
              </a:p>
              <a:p>
                <a:r>
                  <a:rPr lang="ru-RU" dirty="0"/>
                  <a:t>Примеры: висмут, медь, вода, инертные газы, золото.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47A6AAF1-6C66-23A3-A91A-5AD6F94ED0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550687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B7FC1-6393-6C00-1BC6-1BE29DB9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DF985-34F7-395E-6CE9-D35CEFE5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14. Что называют магнитной проницаемостью среды. Расскажите о свойствах </a:t>
            </a:r>
            <a:r>
              <a:rPr lang="ru-RU" dirty="0" err="1">
                <a:solidFill>
                  <a:srgbClr val="0070C0"/>
                </a:solidFill>
              </a:rPr>
              <a:t>диа</a:t>
            </a:r>
            <a:r>
              <a:rPr lang="ru-RU" dirty="0">
                <a:solidFill>
                  <a:srgbClr val="0070C0"/>
                </a:solidFill>
              </a:rPr>
              <a:t>- и парамагнетиков.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F3DCA52-3E0D-EF2F-2300-90996C5235FB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ru-RU" b="1" dirty="0"/>
                  <a:t>Парамагнетики</a:t>
                </a:r>
                <a:r>
                  <a:rPr lang="ru-RU" dirty="0"/>
                  <a:t> — это вещества, которые намагничиваются </a:t>
                </a:r>
                <a:r>
                  <a:rPr lang="ru-RU" b="1" i="1" dirty="0"/>
                  <a:t>по направлению</a:t>
                </a:r>
                <a:r>
                  <a:rPr lang="ru-RU" i="1" dirty="0"/>
                  <a:t> </a:t>
                </a:r>
                <a:r>
                  <a:rPr lang="ru-RU" dirty="0"/>
                  <a:t>внешнего магнитного поля.</a:t>
                </a:r>
                <a:r>
                  <a:rPr lang="en-US" dirty="0"/>
                  <a:t> </a:t>
                </a:r>
              </a:p>
              <a:p>
                <a:r>
                  <a:rPr lang="ru-RU" dirty="0"/>
                  <a:t>Атомы парамагнетиков уже имеют собственные магнитные моменты (из-за спинов электронов или орбитального движения). В отсутствие поля они направлены хаотично из-за теплового движения. При включении поля моменты начинают ориентироваться вдоль него.</a:t>
                </a:r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0,  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ru-RU" i="1" dirty="0" smtClean="0">
                          <a:latin typeface="Cambria Math" panose="02040503050406030204" pitchFamily="18" charset="0"/>
                        </a:rPr>
                        <m:t>1,  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i="1" dirty="0">
                          <a:latin typeface="Cambria Math" panose="02040503050406030204" pitchFamily="18" charset="0"/>
                        </a:rPr>
                        <m:t>⇈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acc>
                    </m:oMath>
                  </m:oMathPara>
                </a14:m>
                <a:endParaRPr lang="en-US" dirty="0"/>
              </a:p>
              <a:p>
                <a:r>
                  <a:rPr lang="ru-RU" dirty="0"/>
                  <a:t>Парамагнетики втягиваются в области сильного магнитного поля.</a:t>
                </a:r>
                <a:endParaRPr lang="en-US" dirty="0"/>
              </a:p>
              <a:p>
                <a:r>
                  <a:rPr lang="ru-RU" dirty="0"/>
                  <a:t>Примеры: алюминий, платина, кислород, вольфрам.</a:t>
                </a:r>
                <a:endParaRPr lang="en-US" dirty="0"/>
              </a:p>
              <a:p>
                <a:r>
                  <a:rPr lang="ru-RU" dirty="0"/>
                  <a:t>При нагревании намагниченность падает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9F3DCA52-3E0D-EF2F-2300-90996C5235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522" t="-1235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3968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EDF6DE-40D8-3C60-91BF-0FABA6C18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15. Расскажите о свойствах ферромагнетиков. За счёт чего возникает гистерезис. Что называется температурой Кюри?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FF1A1E-95C6-B458-DFD8-BC2E64CD8184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49886"/>
                <a:ext cx="10515600" cy="2379114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/>
                  <a:t>Ферромагнетики</a:t>
                </a:r>
                <a:r>
                  <a:rPr lang="ru-RU" dirty="0"/>
                  <a:t> — это вещества (железо, никель, кобальт</a:t>
                </a:r>
                <a:r>
                  <a:rPr lang="en-US" dirty="0"/>
                  <a:t> </a:t>
                </a:r>
                <a:r>
                  <a:rPr lang="ru-RU" dirty="0"/>
                  <a:t>и прочие), обладающие спонтанной намагниченностью даже в отсутствие внешнего поля.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b="1" dirty="0"/>
                  <a:t>Магнитная проницаемость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переменна, достигает значений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ферромагнетики усиливают внешнее поле в тысячи и миллионы раз.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dirty="0"/>
                  <a:t>Внутри ферромагнетика есть микроскопические области (</a:t>
                </a:r>
                <a:r>
                  <a:rPr lang="ru-RU" b="1" dirty="0"/>
                  <a:t>домены</a:t>
                </a:r>
                <a:r>
                  <a:rPr lang="ru-RU" dirty="0"/>
                  <a:t>), которые уже намагничены до насыщения, но в обычном куске металла их векторы направлены хаотично.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E0FF1A1E-95C6-B458-DFD8-BC2E64CD8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49886"/>
                <a:ext cx="10515600" cy="2379114"/>
              </a:xfrm>
              <a:blipFill>
                <a:blip r:embed="rId2"/>
                <a:stretch>
                  <a:fillRect l="-522" t="-2302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Текст 2">
                <a:extLst>
                  <a:ext uri="{FF2B5EF4-FFF2-40B4-BE49-F238E27FC236}">
                    <a16:creationId xmlns:a16="http://schemas.microsoft.com/office/drawing/2014/main" id="{D8D69F58-6B77-6744-0D22-8D4E67DCEE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162342"/>
                <a:ext cx="6682273" cy="3146211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0" indent="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b="0" kern="1200">
                    <a:solidFill>
                      <a:schemeClr val="tx1"/>
                    </a:solidFill>
                    <a:latin typeface="Montserrat" panose="00000500000000000000" pitchFamily="2" charset="-52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ru-RU" b="1" dirty="0"/>
                  <a:t>Гистерезис</a:t>
                </a:r>
                <a:r>
                  <a:rPr lang="ru-RU" dirty="0"/>
                  <a:t> (от греч. «запаздывание») — это явление зависимости намагниченности вещества от его «предыстории».</a:t>
                </a:r>
              </a:p>
              <a:p>
                <a:r>
                  <a:rPr lang="ru-RU" dirty="0"/>
                  <a:t>При включении внешнего поля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dirty="0"/>
                  <a:t> домены начинают разворачиваться. После выключения внешнего поля домены не возвращаются в исходной хаотическое состояние полностью, появляется остаточная намагниченность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r>
                  <a:rPr lang="ru-RU" dirty="0"/>
                  <a:t>Чтобы полностью размагнитить образец, нужно приложить поле противоположного направления — коэрцитивную силу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7" name="Текст 2">
                <a:extLst>
                  <a:ext uri="{FF2B5EF4-FFF2-40B4-BE49-F238E27FC236}">
                    <a16:creationId xmlns:a16="http://schemas.microsoft.com/office/drawing/2014/main" id="{D8D69F58-6B77-6744-0D22-8D4E67DCEE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62342"/>
                <a:ext cx="6682273" cy="3146211"/>
              </a:xfrm>
              <a:prstGeom prst="rect">
                <a:avLst/>
              </a:prstGeom>
              <a:blipFill>
                <a:blip r:embed="rId3"/>
                <a:stretch>
                  <a:fillRect l="-821" t="-1938" r="-730" b="-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BA45E27-8133-14E2-76DD-A7A74AEF5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473" y="3545889"/>
            <a:ext cx="4000516" cy="237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2231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77148-442C-DB2E-67A5-B3676AF82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6211D-E89C-8398-CC9C-830259DD9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rgbClr val="0070C0"/>
                </a:solidFill>
              </a:rPr>
              <a:t>15. Расскажите о свойствах ферромагнетиков. За счёт чего возникает гистерезис. Что называется температурой Кюри?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0725EB4-84F9-1466-1B1B-CDE9EB22C317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49886"/>
                <a:ext cx="7279433" cy="2379114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Ферромагнитные свойства зависят от температуры.</a:t>
                </a:r>
              </a:p>
              <a:p>
                <a:r>
                  <a:rPr lang="ru-RU" dirty="0"/>
                  <a:t>При температурах выше </a:t>
                </a:r>
                <a:r>
                  <a:rPr lang="ru-RU" b="1" dirty="0"/>
                  <a:t>температуры Кюри </a:t>
                </a:r>
                <a:r>
                  <a:rPr lang="ru-RU" dirty="0"/>
                  <a:t>домены разрушаются – ферромагнетик становиться парамагнетиком (</a:t>
                </a:r>
                <a14:m>
                  <m:oMath xmlns:m="http://schemas.openxmlformats.org/officeDocument/2006/math">
                    <m:r>
                      <a:rPr lang="ru-RU" i="1" dirty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 тысячи раз меньше). </a:t>
                </a:r>
              </a:p>
              <a:p>
                <a:r>
                  <a:rPr lang="ru-RU" dirty="0"/>
                  <a:t>При охлаждении магнитные свойства восстанавливаются.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F0725EB4-84F9-1466-1B1B-CDE9EB22C3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49886"/>
                <a:ext cx="7279433" cy="2379114"/>
              </a:xfrm>
              <a:blipFill>
                <a:blip r:embed="rId2"/>
                <a:stretch>
                  <a:fillRect l="-754" t="-2302" r="-6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DFD8517-8B91-E0ED-56D5-1DEE8E5E6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633" y="916264"/>
            <a:ext cx="3236167" cy="169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6966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30D4155-35D6-1E4D-82E6-FB22B309984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16.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на границе двух магнетиков.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F30D4155-35D6-1E4D-82E6-FB22B3099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3CC547B-DF7D-86D6-EFB5-4E7166F0D08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33904"/>
                <a:ext cx="10515600" cy="104682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Теорема о циркуляции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acc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Теорема Гаусса для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C3CC547B-DF7D-86D6-EFB5-4E7166F0D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33904"/>
                <a:ext cx="10515600" cy="1046823"/>
              </a:xfrm>
              <a:blipFill>
                <a:blip r:embed="rId3"/>
                <a:stretch>
                  <a:fillRect l="-522" t="-47953" b="-6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383F39-C496-61F0-5C91-881306C7D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94" y="2080727"/>
            <a:ext cx="5720506" cy="39807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9A59DF3-67D5-CDDF-BD5C-D48B57751F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0" b="2678"/>
          <a:stretch>
            <a:fillRect/>
          </a:stretch>
        </p:blipFill>
        <p:spPr>
          <a:xfrm>
            <a:off x="6095999" y="2080727"/>
            <a:ext cx="5860374" cy="41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1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7BE0F-BDE5-C0F3-EB35-242002AF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C7D5F54-13E6-6DDA-912B-F92DF7F270C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16.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на границе двух магнетиков.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3C7D5F54-13E6-6DDA-912B-F92DF7F27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C68238-8044-9B1D-5755-D7555281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812" y="1043234"/>
            <a:ext cx="8140375" cy="541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982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360F70C-7A8B-4D0C-4510-03C8F6863D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17.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на границе двух магнетиков.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C360F70C-7A8B-4D0C-4510-03C8F6863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Текст 2">
                <a:extLst>
                  <a:ext uri="{FF2B5EF4-FFF2-40B4-BE49-F238E27FC236}">
                    <a16:creationId xmlns:a16="http://schemas.microsoft.com/office/drawing/2014/main" id="{D8F21837-033F-B150-8BC9-537FEA16C289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838200" y="1033904"/>
                <a:ext cx="10515600" cy="1046823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Теорема о циркуляции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sub>
                    </m:sSub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r>
                  <a:rPr lang="ru-RU" dirty="0"/>
                  <a:t>Теорема Гаусса для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∮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acc>
                          <m:accPr>
                            <m:chr m:val="⃗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>
          <p:sp>
            <p:nvSpPr>
              <p:cNvPr id="4" name="Текст 2">
                <a:extLst>
                  <a:ext uri="{FF2B5EF4-FFF2-40B4-BE49-F238E27FC236}">
                    <a16:creationId xmlns:a16="http://schemas.microsoft.com/office/drawing/2014/main" id="{D8F21837-033F-B150-8BC9-537FEA16C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838200" y="1033904"/>
                <a:ext cx="10515600" cy="1046823"/>
              </a:xfrm>
              <a:blipFill>
                <a:blip r:embed="rId3"/>
                <a:stretch>
                  <a:fillRect l="-522" t="-47953" b="-6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38073A-B117-C8D8-8976-BDD5DD272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94" y="2080727"/>
            <a:ext cx="5720506" cy="39807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37F05A-926B-B1DA-82D7-DDF213F315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80" b="2678"/>
          <a:stretch>
            <a:fillRect/>
          </a:stretch>
        </p:blipFill>
        <p:spPr>
          <a:xfrm>
            <a:off x="6095999" y="2080727"/>
            <a:ext cx="5860374" cy="419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3739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23EF4-F10C-B9DF-3371-C1365E0F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46259897-1389-9E93-5A1D-F474154C573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ru-RU" dirty="0">
                    <a:solidFill>
                      <a:srgbClr val="0070C0"/>
                    </a:solidFill>
                  </a:rPr>
                  <a:t>17. Получите формулы, описывающие преломление линий вектора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ru-RU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ru-RU" i="1" dirty="0">
                    <a:solidFill>
                      <a:srgbClr val="0070C0"/>
                    </a:solidFill>
                  </a:rPr>
                  <a:t> </a:t>
                </a:r>
                <a:r>
                  <a:rPr lang="ru-RU" dirty="0">
                    <a:solidFill>
                      <a:srgbClr val="0070C0"/>
                    </a:solidFill>
                  </a:rPr>
                  <a:t>на границе двух магнетиков.</a:t>
                </a:r>
              </a:p>
            </p:txBody>
          </p:sp>
        </mc:Choice>
        <mc:Fallback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46259897-1389-9E93-5A1D-F474154C57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522" t="-35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D57FBD9-C3CD-1A66-93A5-E6C24B8F7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757" y="1110667"/>
            <a:ext cx="7654486" cy="534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1143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63D64-F6F0-6818-37F2-19A5C575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3DCECD-1EA2-5A0B-A6A1-9FA73D246F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Автор</a:t>
            </a:r>
            <a:r>
              <a:rPr lang="ru-RU" b="1" dirty="0"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Сакулин Иван Михайлович </a:t>
            </a:r>
            <a:r>
              <a:rPr lang="en-US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ru-RU" sz="1800" b="1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21</a:t>
            </a:r>
          </a:p>
          <a:p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/>
              <a:t>Распространяется по лицензии </a:t>
            </a:r>
            <a:r>
              <a:rPr lang="en-US" b="1" dirty="0">
                <a:hlinkClick r:id="rId2"/>
              </a:rPr>
              <a:t>WTFPL</a:t>
            </a:r>
            <a:endParaRPr lang="en-US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endParaRPr lang="ru-RU" b="1" i="1" dirty="0"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800" b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Отказ от ответственности </a:t>
            </a:r>
          </a:p>
          <a:p>
            <a:r>
              <a:rPr lang="ru-RU" i="1" dirty="0">
                <a:ea typeface="Arial" panose="020B0604020202020204" pitchFamily="34" charset="0"/>
                <a:cs typeface="Arial" panose="020B0604020202020204" pitchFamily="34" charset="0"/>
              </a:rPr>
              <a:t>А</a:t>
            </a:r>
            <a:r>
              <a:rPr lang="ru-RU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втор предоставляет собственные доказательства «как есть», не даёт гарантий их правильности и не несёт ответственности за допущенные ошибки. Мяу =)</a:t>
            </a:r>
            <a:r>
              <a:rPr lang="en-US" sz="1800" i="1" dirty="0">
                <a:effectLst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ru-RU" sz="1800" dirty="0">
              <a:effectLst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398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8657</TotalTime>
  <Words>7054</Words>
  <Application>Microsoft Office PowerPoint</Application>
  <PresentationFormat>Широкоэкранный</PresentationFormat>
  <Paragraphs>595</Paragraphs>
  <Slides>70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70</vt:i4>
      </vt:variant>
    </vt:vector>
  </HeadingPairs>
  <TitlesOfParts>
    <vt:vector size="75" baseType="lpstr">
      <vt:lpstr>Arial</vt:lpstr>
      <vt:lpstr>Calibri</vt:lpstr>
      <vt:lpstr>Cambria Math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1. Дайте определение потока векторного поля через площадку. Докажите теорему Остроградского-Гаусса для вектора E ⃗ в вакууме. </vt:lpstr>
      <vt:lpstr>1. Дайте определение потока векторного поля через площадку. Докажите теорему Остроградского-Гаусса для вектора E ⃗ в вакууме. </vt:lpstr>
      <vt:lpstr>2. Докажите, что стационарное центральное поле является консервативным.</vt:lpstr>
      <vt:lpstr>3. Покажите, как связаны потенциальная энергия и сила, напряжённость и потенциал. </vt:lpstr>
      <vt:lpstr>4. Опишите механизмы поляризации диэлектриков. Дайте определение вектора поляризации, поляризуемости, диэлектрической восприимчивости, диэлектрической проницаемости. Запишите уравнения, связывающие эти величины. </vt:lpstr>
      <vt:lpstr>4. Опишите механизмы поляризации диэлектриков. Дайте определение вектора поляризации, поляризуемости, диэлектрической восприимчивости, диэлектрической проницаемости. Запишите уравнения, связывающие эти величины. </vt:lpstr>
      <vt:lpstr>4. Опишите механизмы поляризации диэлектриков. Дайте определение вектора поляризации, поляризуемости, диэлектрической восприимчивости, диэлектрической проницаемости. Запишите уравнения, связывающие эти величины. </vt:lpstr>
      <vt:lpstr>5. Дайте определение вектора электрической индукции D ⃗. Пластина из однородного, изотропного диэлектрика размещена перпендикулярно линиям напряжённости однородного электрического поля, напряжённостью (E_0 ) ⃗. Получите выражения для векторов E ⃗, D ⃗ и P ⃗ в диэлектрике.</vt:lpstr>
      <vt:lpstr>6. Сформулируйте теорему Гаусса для вектора D ⃗. Шар радиусом R из диэлектрика с проницаемостью ε заряжен равномерно с объёмной плотностью заряда ρ. Вычислите E ⃗(r), D ⃗(r), φ(r). </vt:lpstr>
      <vt:lpstr>6. Сформулируйте теорему Гаусса для вектора D ⃗. Шар радиусом R из диэлектрика с проницаемостью ε заряжен равномерно с объёмной плотностью заряда ρ. Вычислите E ⃗(r), D ⃗(r), φ(r). </vt:lpstr>
      <vt:lpstr>7. Выведите правила преломления линий вектора E ⃗ на границе диэлектрик-диэлектрик.</vt:lpstr>
      <vt:lpstr>7. Выведите правила преломления линий вектора E ⃗ на границе диэлектрик-диэлектрик.</vt:lpstr>
      <vt:lpstr>7. Выведите правила преломления линий вектора E ⃗ на границе диэлектрик-диэлектрик.</vt:lpstr>
      <vt:lpstr>8. Выведите правила преломления линий вектора D ⃗ на границе диэлектрик-диэлектрик.</vt:lpstr>
      <vt:lpstr>8. Выведите правила преломления линий вектора D ⃗ на границе диэлектрик-диэлектрик.</vt:lpstr>
      <vt:lpstr>8. Выведите правила преломления линий вектора D ⃗ на границе диэлектрик-диэлектрик.</vt:lpstr>
      <vt:lpstr>9. Пластина из однородного, изотропного диэлектрика размещена перпендикулярно линиям напряжённости однородного электрического поля. Докажите, что диэлектрическая проницаемость показывает во сколько раз ослабевает однородное электрическое поле, попадая в диэлектрик.</vt:lpstr>
      <vt:lpstr>10. В чём заключается метод электрических изображений при определении напряжённости электрического поля вблизи поверхности проводника. </vt:lpstr>
      <vt:lpstr>10. В чём заключается метод электрических изображений при определении напряжённости электрического поля вблизи поверхности проводника. </vt:lpstr>
      <vt:lpstr>11. Дайте определение электрической ёмкости уединённого проводника и конденсатора. Выведите формулу для ёмкости плоского и сферического конденсаторов. </vt:lpstr>
      <vt:lpstr>11. Дайте определение электрической ёмкости уединённого проводника и конденсатора. Выведите формулу для ёмкости плоского и сферического конденсаторов. </vt:lpstr>
      <vt:lpstr>12. Получите уравнение непрерывности. Какой закон сохранения оно выражает?</vt:lpstr>
      <vt:lpstr>13. Получите уравнения Кирхгофа.</vt:lpstr>
      <vt:lpstr>14. Выведите формулу для энергии системы точечных зарядов.</vt:lpstr>
      <vt:lpstr>15. Выведите формулу для энергии конденсатора.</vt:lpstr>
      <vt:lpstr>16. Выведите правило преобразования «треугольник-звезда»</vt:lpstr>
      <vt:lpstr>17. Выведите формулы для эквивалентной ЭДС и внутреннего сопротивления источника при соединении нескольких одинаковых источников в батарею.</vt:lpstr>
      <vt:lpstr>17. Выведите формулы для эквивалентной ЭДС и внутреннего сопротивления источника при соединении нескольких одинаковых источников в батарею.</vt:lpstr>
      <vt:lpstr>18. Получите закон Ома для неоднородного участка цепи в интегральной и дифференциальной формах.</vt:lpstr>
      <vt:lpstr>19. Получите закон Ома для однородного участка цепи в интегральной и дифференциальной формах.</vt:lpstr>
      <vt:lpstr>20. Получите закон Джоуля-Ленца для неоднородного участка цепи в интегральной и дифференциальной формах.</vt:lpstr>
      <vt:lpstr>21. Получите выражение для удельной мощности тока для неоднородного участка цепи.</vt:lpstr>
      <vt:lpstr>22. Получите выражение для удельной мощности тока для однородного участка цепи.</vt:lpstr>
      <vt:lpstr>23. Запишите систему уравнений Максвелла в интегральной форме. Как выглядит эта система уравнений в стационарном случае?</vt:lpstr>
      <vt:lpstr>23. Запишите систему уравнений Максвелла в интегральной форме. Как выглядит эта система уравнений в стационарном случае?</vt:lpstr>
      <vt:lpstr>24. Запишите систему уравнений Максвелла в дифференциальной форме. Что можно сказать об источниках и стоках линий E ⃗,D ⃗,B ⃗,H ⃗?</vt:lpstr>
      <vt:lpstr>25. Покажите с помощью системы уравнений Максвелла, как изменяющееся во времени электрическое поле порождает магнитное.</vt:lpstr>
      <vt:lpstr>26. Покажите с помощью системы уравнений Максвелла, как изменяющееся во времени магнитное поле порождает электрическое.</vt:lpstr>
      <vt:lpstr>Презентация PowerPoint</vt:lpstr>
      <vt:lpstr>Презентация PowerPoint</vt:lpstr>
      <vt:lpstr>Презентация PowerPoint</vt:lpstr>
      <vt:lpstr>1. Сформулируйте закон Био-Савара-Лапласа. Получите с его помощью выражение для индукции поля прямого тока и индукции в центре кругового витка.</vt:lpstr>
      <vt:lpstr>1. Сформулируйте закон Био-Савара-Лапласа. Получите с его помощью выражение для индукции поля прямого тока и индукции в центре кругового витка.</vt:lpstr>
      <vt:lpstr>2. Докажите теорему о циркуляции вектора B ⃗ в отсутствие магнетика. Вычислите с её помощью индукцию магнитного поля прямого тока, индукцию поля внутри длинного соленоида. </vt:lpstr>
      <vt:lpstr>2. Докажите теорему о циркуляции вектора B ⃗ в отсутствие магнетика. Вычислите с её помощью индукцию магнитного поля прямого тока, индукцию поля внутри длинного соленоида. </vt:lpstr>
      <vt:lpstr>3. Дайте определение силы Лоренца, действующей на частицу в электромагнитном поле. Частица движется в однородном магнитном поле по винтовой линии. Получите формулу для радиуса и шага винтовой линии.</vt:lpstr>
      <vt:lpstr>4. Выведите формулу для работы сил магнитного поля при движении контура с током в магнитном поле.</vt:lpstr>
      <vt:lpstr>5. Что называют индуктивностью контура? Получите формулу для индуктивности на единицу длины для длинного соленоида.</vt:lpstr>
      <vt:lpstr>6. В чём заключается явление взаимной индукции. Получите формулы для вычисления индуктивности связанных контуров.</vt:lpstr>
      <vt:lpstr>6. В чём заключается явление взаимной индукции. Получите формулы для вычисления индуктивности связанных контуров.</vt:lpstr>
      <vt:lpstr>7. В чём заключается явление взаимной индукции. Получите формулы для вычисления энергии магнитного поля связанных контуров.</vt:lpstr>
      <vt:lpstr>8. Получите выражение для ЭДС индукции, возникающей при движении проводника в магнитном поле.</vt:lpstr>
      <vt:lpstr>9. Получите выражение для разности потенциалов, возникающей между концами проводника при движении в магнитном поле.</vt:lpstr>
      <vt:lpstr>10. Получите выражение для ЭДС индукции, возникающей в неподвижном контуре при изменении магнитного потока через него.</vt:lpstr>
      <vt:lpstr>11. Приведите примеры - когда наблюдается действие вихревого электрического поля, а когда потенциального. Запишите теорему о циркуляции электрического поля для обоих случаев.</vt:lpstr>
      <vt:lpstr>12. Дайте определение токов намагничивания. Что называют намагниченностью среды? Как в случае однородного изотропного магнетика связаны векторы J ⃗, H ⃗ и B ⃗.</vt:lpstr>
      <vt:lpstr>12. Дайте определение токов намагничивания. Что называют намагниченностью среды? Как в случае однородного изотропного магнетика связаны векторы J ⃗, H ⃗ и B ⃗.</vt:lpstr>
      <vt:lpstr>13. Докажите теорему о циркуляции вектора J ⃗.</vt:lpstr>
      <vt:lpstr>14. Что называют магнитной проницаемостью среды. Расскажите о свойствах диа- и парамагнетиков.</vt:lpstr>
      <vt:lpstr>14. Что называют магнитной проницаемостью среды. Расскажите о свойствах диа- и парамагнетиков.</vt:lpstr>
      <vt:lpstr>15. Расскажите о свойствах ферромагнетиков. За счёт чего возникает гистерезис. Что называется температурой Кюри?</vt:lpstr>
      <vt:lpstr>15. Расскажите о свойствах ферромагнетиков. За счёт чего возникает гистерезис. Что называется температурой Кюри?</vt:lpstr>
      <vt:lpstr>16. Получите формулы, описывающие преломление линий вектора H ⃗ на границе двух магнетиков.</vt:lpstr>
      <vt:lpstr>16. Получите формулы, описывающие преломление линий вектора H ⃗ на границе двух магнетиков.</vt:lpstr>
      <vt:lpstr>17. Получите формулы, описывающие преломление линий вектора B ⃗ на границе двух магнетиков.</vt:lpstr>
      <vt:lpstr>17. Получите формулы, описывающие преломление линий вектора B ⃗ на границе двух магнетиков.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Электромагнетизм</dc:title>
  <dc:creator>Сакулин Иван Михайлович</dc:creator>
  <cp:lastModifiedBy>Сакулин Иван Михайлович</cp:lastModifiedBy>
  <cp:revision>349</cp:revision>
  <dcterms:created xsi:type="dcterms:W3CDTF">2024-10-17T09:39:49Z</dcterms:created>
  <dcterms:modified xsi:type="dcterms:W3CDTF">2026-01-07T14:44:54Z</dcterms:modified>
</cp:coreProperties>
</file>